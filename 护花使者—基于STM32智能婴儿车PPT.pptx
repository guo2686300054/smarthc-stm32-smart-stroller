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sldIdLst>
    <p:sldId id="256" r:id="rId3"/>
    <p:sldId id="257" r:id="rId4"/>
    <p:sldId id="258" r:id="rId6"/>
    <p:sldId id="259" r:id="rId7"/>
    <p:sldId id="260" r:id="rId8"/>
    <p:sldId id="261" r:id="rId9"/>
    <p:sldId id="263" r:id="rId10"/>
    <p:sldId id="273" r:id="rId11"/>
    <p:sldId id="274" r:id="rId12"/>
    <p:sldId id="278" r:id="rId13"/>
    <p:sldId id="276" r:id="rId14"/>
    <p:sldId id="265" r:id="rId15"/>
    <p:sldId id="266" r:id="rId16"/>
    <p:sldId id="279" r:id="rId17"/>
    <p:sldId id="277" r:id="rId18"/>
    <p:sldId id="268" r:id="rId19"/>
    <p:sldId id="269" r:id="rId20"/>
    <p:sldId id="271"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2" autoAdjust="0"/>
    <p:restoredTop sz="94660"/>
  </p:normalViewPr>
  <p:slideViewPr>
    <p:cSldViewPr snapToGrid="0">
      <p:cViewPr varScale="1">
        <p:scale>
          <a:sx n="60" d="100"/>
          <a:sy n="60" d="100"/>
        </p:scale>
        <p:origin x="96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7" name="图片 6" descr="57626948-f63f-41ba-a512-7538456bb721"/>
          <p:cNvPicPr>
            <a:picLocks noChangeAspect="1"/>
          </p:cNvPicPr>
          <p:nvPr/>
        </p:nvPicPr>
        <p:blipFill>
          <a:blip r:embed="rId2"/>
          <a:srcRect l="160" r="160"/>
          <a:stretch>
            <a:fillRect/>
          </a:stretch>
        </p:blipFill>
        <p:spPr>
          <a:xfrm>
            <a:off x="0" y="0"/>
            <a:ext cx="12192000" cy="6858000"/>
          </a:xfrm>
          <a:prstGeom prst="rect">
            <a:avLst/>
          </a:prstGeom>
        </p:spPr>
      </p:pic>
      <p:sp>
        <p:nvSpPr>
          <p:cNvPr id="2" name="矩形 1" descr="32ab0c47-75e3-4bb9-a33c-dca430671216"/>
          <p:cNvSpPr/>
          <p:nvPr/>
        </p:nvSpPr>
        <p:spPr>
          <a:xfrm>
            <a:off x="6048374" y="5667374"/>
            <a:ext cx="9525" cy="76200"/>
          </a:xfrm>
          <a:prstGeom prst="rect">
            <a:avLst/>
          </a:prstGeom>
          <a:solidFill>
            <a:schemeClr val="tx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标题 2" descr="0502b608-4852-4ff7-9a2b-8b5736d2073a"/>
          <p:cNvSpPr>
            <a:spLocks noGrp="1"/>
          </p:cNvSpPr>
          <p:nvPr>
            <p:ph type="ctrTitle" hasCustomPrompt="1"/>
          </p:nvPr>
        </p:nvSpPr>
        <p:spPr>
          <a:xfrm>
            <a:off x="666750" y="2581275"/>
            <a:ext cx="10763250" cy="857250"/>
          </a:xfrm>
          <a:prstGeom prst="rect">
            <a:avLst/>
          </a:prstGeom>
        </p:spPr>
        <p:txBody>
          <a:bodyPr anchor="b"/>
          <a:lstStyle>
            <a:lvl1pPr algn="ctr">
              <a:defRPr sz="4675" b="1" i="0">
                <a:ln>
                  <a:noFill/>
                </a:ln>
                <a:solidFill>
                  <a:schemeClr val="tx1"/>
                </a:solidFill>
              </a:defRPr>
            </a:lvl1pPr>
          </a:lstStyle>
          <a:p>
            <a:pPr lvl="0"/>
            <a:r>
              <a:rPr lang="en-US"/>
              <a:t>Click to add title</a:t>
            </a:r>
            <a:endParaRPr lang="en-US"/>
          </a:p>
        </p:txBody>
      </p:sp>
      <p:sp>
        <p:nvSpPr>
          <p:cNvPr id="4" name="副标题 3" descr="71d11464-d091-4606-a311-2dc02659261b"/>
          <p:cNvSpPr>
            <a:spLocks noGrp="1"/>
          </p:cNvSpPr>
          <p:nvPr>
            <p:ph type="subTitle" idx="1" hasCustomPrompt="1"/>
          </p:nvPr>
        </p:nvSpPr>
        <p:spPr>
          <a:xfrm>
            <a:off x="666750" y="3800475"/>
            <a:ext cx="10763250" cy="476250"/>
          </a:xfrm>
          <a:prstGeom prst="rect">
            <a:avLst/>
          </a:prstGeom>
        </p:spPr>
        <p:txBody>
          <a:bodyPr anchor="ctr"/>
          <a:lstStyle>
            <a:lvl1pPr marL="0" indent="0" algn="ctr">
              <a:buNone/>
              <a:defRPr sz="2400" b="0" i="0">
                <a:ln>
                  <a:noFill/>
                </a:ln>
                <a:solidFill>
                  <a:schemeClr val="tx1"/>
                </a:solidFill>
              </a:defRPr>
            </a:lvl1pPr>
          </a:lstStyle>
          <a:p>
            <a:pPr lvl="0"/>
            <a:r>
              <a:rPr lang="en-US"/>
              <a:t>Click to add subtitle</a:t>
            </a:r>
            <a:endParaRPr lang="en-US"/>
          </a:p>
        </p:txBody>
      </p:sp>
      <p:sp>
        <p:nvSpPr>
          <p:cNvPr id="5" name="文本占位符 4" descr="795f4502-db05-449c-841a-6a25fa58d81c"/>
          <p:cNvSpPr>
            <a:spLocks noGrp="1"/>
          </p:cNvSpPr>
          <p:nvPr>
            <p:ph type="body" sz="quarter" idx="13" hasCustomPrompt="1"/>
          </p:nvPr>
        </p:nvSpPr>
        <p:spPr>
          <a:xfrm>
            <a:off x="4391025" y="5524500"/>
            <a:ext cx="1514475" cy="361950"/>
          </a:xfrm>
          <a:prstGeom prst="rect">
            <a:avLst/>
          </a:prstGeom>
        </p:spPr>
        <p:txBody>
          <a:bodyPr vert="horz" rtlCol="0" anchor="ctr"/>
          <a:lstStyle>
            <a:lvl1pPr marL="0" indent="0" algn="r">
              <a:lnSpc>
                <a:spcPct val="100000"/>
              </a:lnSpc>
              <a:buNone/>
              <a:defRPr lang="en-US" altLang="zh-CN" sz="1200" b="0" i="0" smtClean="0">
                <a:ln>
                  <a:noFill/>
                </a:ln>
                <a:solidFill>
                  <a:schemeClr val="tx1"/>
                </a:solidFill>
                <a:latin typeface="+mn-lt"/>
                <a:ea typeface="+mn-ea"/>
                <a:cs typeface="+mn-cs"/>
              </a:defRPr>
            </a:lvl1pPr>
          </a:lstStyle>
          <a:p>
            <a:pPr lvl="0"/>
            <a:r>
              <a:rPr lang="en-US"/>
              <a:t>Presenter name</a:t>
            </a:r>
            <a:endParaRPr lang="en-US"/>
          </a:p>
        </p:txBody>
      </p:sp>
      <p:sp>
        <p:nvSpPr>
          <p:cNvPr id="6" name="文本占位符 5" descr="ed0675a8-f4d4-412c-823b-db247deed831"/>
          <p:cNvSpPr>
            <a:spLocks noGrp="1"/>
          </p:cNvSpPr>
          <p:nvPr>
            <p:ph type="body" sz="quarter" idx="14" hasCustomPrompt="1"/>
          </p:nvPr>
        </p:nvSpPr>
        <p:spPr>
          <a:xfrm>
            <a:off x="6191250" y="5524500"/>
            <a:ext cx="1514475" cy="361950"/>
          </a:xfrm>
          <a:prstGeom prst="rect">
            <a:avLst/>
          </a:prstGeom>
        </p:spPr>
        <p:txBody>
          <a:bodyPr vert="horz" rtlCol="0" anchor="ctr"/>
          <a:lstStyle>
            <a:lvl1pPr marL="0" indent="0" algn="l">
              <a:lnSpc>
                <a:spcPct val="100000"/>
              </a:lnSpc>
              <a:buNone/>
              <a:defRPr lang="en-US" altLang="zh-CN" sz="1200" b="0" i="0" smtClean="0">
                <a:ln>
                  <a:noFill/>
                </a:ln>
                <a:solidFill>
                  <a:schemeClr val="tx1"/>
                </a:solidFill>
                <a:latin typeface="+mn-lt"/>
                <a:ea typeface="+mn-ea"/>
                <a:cs typeface="+mn-cs"/>
              </a:defRPr>
            </a:lvl1pPr>
          </a:lstStyle>
          <a:p>
            <a:pPr lvl="0"/>
            <a:r>
              <a:rPr lang="en-US"/>
              <a:t>20XX.XX.XX</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6" name="矩形 5" descr="3d718bee-59bb-4cf6-904c-9e033e6ca864"/>
          <p:cNvSpPr/>
          <p:nvPr/>
        </p:nvSpPr>
        <p:spPr>
          <a:xfrm>
            <a:off x="0" y="0"/>
            <a:ext cx="12192000" cy="6858000"/>
          </a:xfrm>
          <a:prstGeom prst="rect">
            <a:avLst/>
          </a:pr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标题 6" descr="d833fe4a-8f83-4fe9-a49a-f1f4a602d87d"/>
          <p:cNvSpPr>
            <a:spLocks noGrp="1"/>
          </p:cNvSpPr>
          <p:nvPr>
            <p:ph type="title" hasCustomPrompt="1"/>
          </p:nvPr>
        </p:nvSpPr>
        <p:spPr>
          <a:xfrm>
            <a:off x="660400" y="0"/>
            <a:ext cx="10858500" cy="1028700"/>
          </a:xfrm>
          <a:prstGeom prst="rect">
            <a:avLst/>
          </a:prstGeom>
        </p:spPr>
        <p:txBody>
          <a:bodyPr anchor="b" anchorCtr="0">
            <a:normAutofit/>
          </a:bodyPr>
          <a:lstStyle>
            <a:lvl1pPr>
              <a:lnSpc>
                <a:spcPct val="100000"/>
              </a:lnSpc>
              <a:defRPr>
                <a:solidFill>
                  <a:schemeClr val="tx1"/>
                </a:solidFill>
              </a:defRPr>
            </a:lvl1pPr>
          </a:lstStyle>
          <a:p>
            <a:pPr lvl="0"/>
            <a:r>
              <a:rPr lang="en-US"/>
              <a:t>Click to add title</a:t>
            </a:r>
            <a:endParaRPr lang="en-US"/>
          </a:p>
        </p:txBody>
      </p:sp>
      <p:sp>
        <p:nvSpPr>
          <p:cNvPr id="8" name="内容占位符 7" descr="35f798ed-9c7a-4db9-88bd-c34182879e02"/>
          <p:cNvSpPr>
            <a:spLocks noGrp="1"/>
          </p:cNvSpPr>
          <p:nvPr>
            <p:ph idx="1" hasCustomPrompt="1"/>
          </p:nvPr>
        </p:nvSpPr>
        <p:spPr>
          <a:xfrm>
            <a:off x="660400" y="1092200"/>
            <a:ext cx="10858500" cy="5041900"/>
          </a:xfrm>
          <a:prstGeom prst="rect">
            <a:avLst/>
          </a:prstGeom>
        </p:spPr>
        <p:txBody>
          <a:bodyPr vert="horz" lIns="91440" tIns="45720" rIns="91440" bIns="45720" rtlCol="0">
            <a:normAutofit/>
          </a:bodyPr>
          <a:lstStyle>
            <a:lvl1pPr marL="285750" indent="-285750">
              <a:buFont typeface="Arial" panose="020B0604020202020204" pitchFamily="34" charset="0"/>
              <a:buChar char="•"/>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US"/>
              <a:t>Click to add text</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日期占位符 1" descr="1ba63296-df88-40a8-a059-287906db88bc"/>
          <p:cNvSpPr>
            <a:spLocks noGrp="1"/>
          </p:cNvSpPr>
          <p:nvPr>
            <p:ph type="dt" sz="half" idx="10"/>
          </p:nvPr>
        </p:nvSpPr>
        <p:spPr/>
        <p:txBody>
          <a:bodyPr/>
          <a:lstStyle/>
          <a:p>
            <a:fld id="{0D3978B1-822A-48DD-9412-1B7D6807ED91}" type="datetime1">
              <a:rPr lang="zh-CN" altLang="en-US" smtClean="0"/>
            </a:fld>
            <a:endParaRPr lang="zh-CN" altLang="en-US"/>
          </a:p>
        </p:txBody>
      </p:sp>
      <p:sp>
        <p:nvSpPr>
          <p:cNvPr id="3" name="页脚占位符 2" descr="458e7dd3-a427-4815-bc1b-f6723fbf2bd3"/>
          <p:cNvSpPr>
            <a:spLocks noGrp="1"/>
          </p:cNvSpPr>
          <p:nvPr>
            <p:ph type="ftr" sz="quarter" idx="11"/>
          </p:nvPr>
        </p:nvSpPr>
        <p:spPr/>
        <p:txBody>
          <a:bodyPr/>
          <a:lstStyle/>
          <a:p>
            <a:r>
              <a:rPr lang="en-US" altLang="zh-CN"/>
              <a:t>OfficePLUS</a:t>
            </a:r>
            <a:endParaRPr lang="zh-CN" altLang="en-US"/>
          </a:p>
        </p:txBody>
      </p:sp>
      <p:sp>
        <p:nvSpPr>
          <p:cNvPr id="4" name="灯片编号占位符 3" descr="643bf930-57e4-4d3c-a86d-80c5d09a618c"/>
          <p:cNvSpPr>
            <a:spLocks noGrp="1"/>
          </p:cNvSpPr>
          <p:nvPr>
            <p:ph type="sldNum" sz="quarter" idx="12"/>
          </p:nvPr>
        </p:nvSpPr>
        <p:spPr/>
        <p:txBody>
          <a:bodyPr/>
          <a:lstStyle/>
          <a:p>
            <a:fld id="{7F65B630-C7FF-41C0-9923-C5E5E29EED81}"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matchingName="Agenda">
  <p:cSld name="Agenda">
    <p:bg>
      <p:bgPr>
        <a:solidFill>
          <a:schemeClr val="accent1">
            <a:alpha val="10000"/>
          </a:schemeClr>
        </a:solidFill>
        <a:effectLst/>
      </p:bgPr>
    </p:bg>
    <p:spTree>
      <p:nvGrpSpPr>
        <p:cNvPr id="1" name=""/>
        <p:cNvGrpSpPr/>
        <p:nvPr/>
      </p:nvGrpSpPr>
      <p:grpSpPr>
        <a:xfrm>
          <a:off x="0" y="0"/>
          <a:ext cx="0" cy="0"/>
          <a:chOff x="0" y="0"/>
          <a:chExt cx="0" cy="0"/>
        </a:xfrm>
      </p:grpSpPr>
      <p:sp>
        <p:nvSpPr>
          <p:cNvPr id="8" name="标题 7" descr="0aa503b5-2f8f-4499-bcc6-d554b40d76e4"/>
          <p:cNvSpPr>
            <a:spLocks noGrp="1"/>
          </p:cNvSpPr>
          <p:nvPr>
            <p:ph type="title" hasCustomPrompt="1"/>
          </p:nvPr>
        </p:nvSpPr>
        <p:spPr>
          <a:xfrm>
            <a:off x="660400" y="1500188"/>
            <a:ext cx="2836800" cy="914400"/>
          </a:xfrm>
          <a:prstGeom prst="rect">
            <a:avLst/>
          </a:prstGeom>
        </p:spPr>
        <p:txBody>
          <a:bodyPr wrap="none" anchor="t">
            <a:normAutofit/>
          </a:bodyPr>
          <a:lstStyle>
            <a:lvl1pPr algn="r">
              <a:lnSpc>
                <a:spcPct val="100000"/>
              </a:lnSpc>
              <a:defRPr sz="2800"/>
            </a:lvl1pPr>
          </a:lstStyle>
          <a:p>
            <a:pPr lvl="0"/>
            <a:r>
              <a:rPr lang="en-US"/>
              <a:t>Agenda</a:t>
            </a:r>
            <a:endParaRPr lang="en-US"/>
          </a:p>
        </p:txBody>
      </p:sp>
      <p:sp>
        <p:nvSpPr>
          <p:cNvPr id="9" name="内容占位符 8" descr="d08494b3-4a76-4269-a2a7-2a8697f2ec51"/>
          <p:cNvSpPr>
            <a:spLocks noGrp="1"/>
          </p:cNvSpPr>
          <p:nvPr>
            <p:ph sz="quarter" idx="1" hasCustomPrompt="1"/>
          </p:nvPr>
        </p:nvSpPr>
        <p:spPr>
          <a:xfrm>
            <a:off x="3746500" y="1500187"/>
            <a:ext cx="7772400" cy="4633200"/>
          </a:xfrm>
          <a:prstGeom prst="rect">
            <a:avLst/>
          </a:prstGeom>
        </p:spPr>
        <p:txBody>
          <a:bodyPr wrap="square">
            <a:normAutofit/>
          </a:bodyPr>
          <a:lstStyle>
            <a:lvl1pPr marL="457200" indent="-457200">
              <a:lnSpc>
                <a:spcPct val="130000"/>
              </a:lnSpc>
              <a:buFont typeface="+mj-lt"/>
              <a:buAutoNum type="arabicPeriod"/>
              <a:defRPr sz="2400" b="0">
                <a:solidFill>
                  <a:schemeClr val="tx1"/>
                </a:solidFill>
                <a:latin typeface="+mn-lt"/>
              </a:defRPr>
            </a:lvl1pPr>
          </a:lstStyle>
          <a:p>
            <a:pPr lvl="0"/>
            <a:r>
              <a:rPr lang="en-US"/>
              <a:t>Click to add text</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日期占位符 1" descr="667562e6-9f5d-4f25-8b66-8edd44ac9753"/>
          <p:cNvSpPr>
            <a:spLocks noGrp="1"/>
          </p:cNvSpPr>
          <p:nvPr>
            <p:ph type="dt" sz="half" idx="10"/>
          </p:nvPr>
        </p:nvSpPr>
        <p:spPr/>
        <p:txBody>
          <a:bodyPr/>
          <a:lstStyle/>
          <a:p>
            <a:fld id="{2A27A813-B2FD-42E1-9222-83B574E99074}" type="datetime1">
              <a:rPr lang="zh-CN" altLang="en-US" smtClean="0"/>
            </a:fld>
            <a:endParaRPr lang="en-US" altLang="zh-CN"/>
          </a:p>
        </p:txBody>
      </p:sp>
      <p:sp>
        <p:nvSpPr>
          <p:cNvPr id="3" name="页脚占位符 2" descr="13fce484-6e14-48de-8cbd-0208d2ece0cc"/>
          <p:cNvSpPr>
            <a:spLocks noGrp="1"/>
          </p:cNvSpPr>
          <p:nvPr>
            <p:ph type="ftr" sz="quarter" idx="11"/>
          </p:nvPr>
        </p:nvSpPr>
        <p:spPr/>
        <p:txBody>
          <a:bodyPr/>
          <a:lstStyle/>
          <a:p>
            <a:r>
              <a:rPr lang="en-US" altLang="zh-CN"/>
              <a:t>OfficePLUS</a:t>
            </a:r>
            <a:endParaRPr lang="zh-CN" altLang="en-US"/>
          </a:p>
        </p:txBody>
      </p:sp>
      <p:sp>
        <p:nvSpPr>
          <p:cNvPr id="4" name="灯片编号占位符 3" descr="f871a28e-4c7a-4593-b5eb-41daa54c75f2"/>
          <p:cNvSpPr>
            <a:spLocks noGrp="1"/>
          </p:cNvSpPr>
          <p:nvPr>
            <p:ph type="sldNum" sz="quarter" idx="12"/>
          </p:nvPr>
        </p:nvSpPr>
        <p:spPr/>
        <p:txBody>
          <a:bodyPr/>
          <a:lstStyle/>
          <a:p>
            <a:fld id="{7F65B630-C7FF-41C0-9923-C5E5E29EED81}" type="slidenum">
              <a:rPr lang="en-US" altLang="zh-CN" smtClean="0"/>
            </a:fld>
            <a:endParaRPr lang="en-US" altLang="zh-CN"/>
          </a:p>
        </p:txBody>
      </p:sp>
      <p:grpSp>
        <p:nvGrpSpPr>
          <p:cNvPr id="10" name="组合 9" descr="3b6aa6b6-2816-4453-bac6-e5231295b360"/>
          <p:cNvGrpSpPr/>
          <p:nvPr/>
        </p:nvGrpSpPr>
        <p:grpSpPr>
          <a:xfrm>
            <a:off x="2626456" y="1500188"/>
            <a:ext cx="994563" cy="4634686"/>
            <a:chOff x="2626456" y="1500188"/>
            <a:chExt cx="994563" cy="4634686"/>
          </a:xfrm>
        </p:grpSpPr>
        <p:cxnSp>
          <p:nvCxnSpPr>
            <p:cNvPr id="11" name="直接连接符 10" descr="b6237307-eb92-4208-8dfa-769531d09c31"/>
            <p:cNvCxnSpPr/>
            <p:nvPr/>
          </p:nvCxnSpPr>
          <p:spPr>
            <a:xfrm>
              <a:off x="3621019" y="1500188"/>
              <a:ext cx="0" cy="4633913"/>
            </a:xfrm>
            <a:prstGeom prst="line">
              <a:avLst/>
            </a:prstGeom>
            <a:solidFill>
              <a:srgbClr val="FFCC00"/>
            </a:solidFill>
            <a:ln w="3175" cap="flat" cmpd="sng" algn="ctr">
              <a:solidFill>
                <a:schemeClr val="tx1">
                  <a:alpha val="50000"/>
                </a:schemeClr>
              </a:solidFill>
              <a:prstDash val="solid"/>
              <a:round/>
              <a:headEnd type="none" w="med" len="med"/>
              <a:tailEnd type="none" w="med" len="med"/>
            </a:ln>
            <a:effectLst/>
          </p:spPr>
        </p:cxnSp>
        <p:sp>
          <p:nvSpPr>
            <p:cNvPr id="12" name="任意多边形 11" descr="6be0b0c0-bcfb-4c8f-84f7-52826abf4a28"/>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1">
                <a:alpha val="15000"/>
              </a:schemeClr>
            </a:solidFill>
            <a:ln>
              <a:noFill/>
            </a:ln>
          </p:spPr>
          <p:txBody>
            <a:bodyPr/>
            <a:lstStyle/>
            <a:p>
              <a:endParaRPr lang="zh-CN" altLang="en-US">
                <a:cs typeface="+mn-ea"/>
                <a:sym typeface="+mn-lt"/>
              </a:endParaRPr>
            </a:p>
          </p:txBody>
        </p:sp>
      </p:gr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pic>
        <p:nvPicPr>
          <p:cNvPr id="4" name="图片 3" descr="f4ba8acf-29ed-4d80-ad26-e5a11a1e9f43"/>
          <p:cNvPicPr>
            <a:picLocks noChangeAspect="1"/>
          </p:cNvPicPr>
          <p:nvPr/>
        </p:nvPicPr>
        <p:blipFill>
          <a:blip r:embed="rId2"/>
          <a:srcRect l="160" r="160"/>
          <a:stretch>
            <a:fillRect/>
          </a:stretch>
        </p:blipFill>
        <p:spPr>
          <a:xfrm flipH="1">
            <a:off x="0" y="0"/>
            <a:ext cx="12192000" cy="6858000"/>
          </a:xfrm>
          <a:prstGeom prst="rect">
            <a:avLst/>
          </a:prstGeom>
        </p:spPr>
      </p:pic>
      <p:sp>
        <p:nvSpPr>
          <p:cNvPr id="2" name="标题 1" descr="863bf974-8042-485c-9a53-43ff2731159b"/>
          <p:cNvSpPr>
            <a:spLocks noGrp="1"/>
          </p:cNvSpPr>
          <p:nvPr>
            <p:ph type="title" hasCustomPrompt="1"/>
          </p:nvPr>
        </p:nvSpPr>
        <p:spPr>
          <a:xfrm>
            <a:off x="4572000" y="2476500"/>
            <a:ext cx="5334000" cy="857250"/>
          </a:xfrm>
          <a:prstGeom prst="rect">
            <a:avLst/>
          </a:prstGeom>
        </p:spPr>
        <p:txBody>
          <a:bodyPr anchor="b"/>
          <a:lstStyle>
            <a:lvl1pPr algn="r">
              <a:defRPr sz="3600" b="1" i="0">
                <a:ln>
                  <a:noFill/>
                </a:ln>
                <a:solidFill>
                  <a:schemeClr val="tx1"/>
                </a:solidFill>
              </a:defRPr>
            </a:lvl1pPr>
          </a:lstStyle>
          <a:p>
            <a:pPr lvl="0"/>
            <a:r>
              <a:rPr lang="en-US"/>
              <a:t>Click to add title</a:t>
            </a:r>
            <a:endParaRPr lang="en-US"/>
          </a:p>
        </p:txBody>
      </p:sp>
      <p:sp>
        <p:nvSpPr>
          <p:cNvPr id="3" name="文本占位符 2" descr="84ebf66e-f024-442d-9228-c17c79c99910"/>
          <p:cNvSpPr>
            <a:spLocks noGrp="1"/>
          </p:cNvSpPr>
          <p:nvPr>
            <p:ph type="body" idx="1" hasCustomPrompt="1"/>
          </p:nvPr>
        </p:nvSpPr>
        <p:spPr>
          <a:xfrm>
            <a:off x="4572000" y="3429000"/>
            <a:ext cx="5334000" cy="952500"/>
          </a:xfrm>
          <a:prstGeom prst="rect">
            <a:avLst/>
          </a:prstGeom>
        </p:spPr>
        <p:txBody>
          <a:bodyPr anchor="t"/>
          <a:lstStyle>
            <a:lvl1pPr marL="0" indent="0" algn="r">
              <a:buNone/>
              <a:defRPr sz="1600" b="0" i="0">
                <a:ln>
                  <a:noFill/>
                </a:ln>
                <a:solidFill>
                  <a:schemeClr val="tx1"/>
                </a:solidFill>
              </a:defRPr>
            </a:lvl1pPr>
          </a:lstStyle>
          <a:p>
            <a:pPr lvl="0"/>
            <a:r>
              <a:rPr lang="en-US"/>
              <a:t>Click to add text</a:t>
            </a:r>
            <a:endParaRPr lang="en-US"/>
          </a:p>
        </p:txBody>
      </p:sp>
      <p:sp>
        <p:nvSpPr>
          <p:cNvPr id="7" name="日期占位符 6" descr="74122dc0-cc13-4c3e-8efe-0d2504e098f8"/>
          <p:cNvSpPr>
            <a:spLocks noGrp="1"/>
          </p:cNvSpPr>
          <p:nvPr>
            <p:ph type="dt" sz="half" idx="10"/>
          </p:nvPr>
        </p:nvSpPr>
        <p:spPr/>
        <p:txBody>
          <a:bodyPr/>
          <a:lstStyle/>
          <a:p>
            <a:endParaRPr lang="en-US"/>
          </a:p>
        </p:txBody>
      </p:sp>
      <p:sp>
        <p:nvSpPr>
          <p:cNvPr id="5" name="页脚占位符 4" descr="fae1984e-d39c-4143-a56b-756e4f7640a2"/>
          <p:cNvSpPr>
            <a:spLocks noGrp="1"/>
          </p:cNvSpPr>
          <p:nvPr>
            <p:ph type="ftr" sz="quarter" idx="11"/>
          </p:nvPr>
        </p:nvSpPr>
        <p:spPr/>
        <p:txBody>
          <a:bodyPr/>
          <a:lstStyle/>
          <a:p>
            <a:endParaRPr lang="en-US" dirty="0"/>
          </a:p>
        </p:txBody>
      </p:sp>
      <p:sp>
        <p:nvSpPr>
          <p:cNvPr id="6" name="灯片编号占位符 5" descr="331619db-2a9a-4558-bb79-ceacac98ee25"/>
          <p:cNvSpPr>
            <a:spLocks noGrp="1"/>
          </p:cNvSpPr>
          <p:nvPr>
            <p:ph type="sldNum" sz="quarter" idx="12"/>
          </p:nvPr>
        </p:nvSpPr>
        <p:spPr/>
        <p:txBody>
          <a:bodyPr/>
          <a:lstStyle/>
          <a:p>
            <a:fld id="{C8BB1146-E542-4D4E-B8E9-6919A11DDD4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6" name="标题 5" descr="e8c23d9a-d493-4fd1-a109-f0200b8656d8"/>
          <p:cNvSpPr>
            <a:spLocks noGrp="1"/>
          </p:cNvSpPr>
          <p:nvPr>
            <p:ph type="title" hasCustomPrompt="1"/>
          </p:nvPr>
        </p:nvSpPr>
        <p:spPr>
          <a:xfrm>
            <a:off x="660399" y="0"/>
            <a:ext cx="10858500" cy="1028700"/>
          </a:xfrm>
          <a:prstGeom prst="rect">
            <a:avLst/>
          </a:prstGeom>
        </p:spPr>
        <p:txBody>
          <a:bodyPr anchor="b" anchorCtr="0">
            <a:normAutofit/>
          </a:bodyPr>
          <a:lstStyle>
            <a:lvl1pPr>
              <a:lnSpc>
                <a:spcPct val="100000"/>
              </a:lnSpc>
              <a:defRPr>
                <a:solidFill>
                  <a:schemeClr val="tx1"/>
                </a:solidFill>
              </a:defRPr>
            </a:lvl1pPr>
          </a:lstStyle>
          <a:p>
            <a:pPr lvl="0"/>
            <a:r>
              <a:rPr lang="en-US"/>
              <a:t>Click to add title</a:t>
            </a:r>
            <a:endParaRPr lang="en-US"/>
          </a:p>
        </p:txBody>
      </p:sp>
      <p:sp>
        <p:nvSpPr>
          <p:cNvPr id="2" name="日期占位符 1" descr="81bd3e40-68e7-40c3-bdd2-eb5872505973"/>
          <p:cNvSpPr>
            <a:spLocks noGrp="1"/>
          </p:cNvSpPr>
          <p:nvPr>
            <p:ph type="dt" sz="half" idx="10"/>
          </p:nvPr>
        </p:nvSpPr>
        <p:spPr/>
        <p:txBody>
          <a:bodyPr/>
          <a:lstStyle/>
          <a:p>
            <a:fld id="{A9643B38-FCD2-4D0A-90BC-740ACC77290F}" type="datetime1">
              <a:rPr lang="zh-CN" altLang="en-US" smtClean="0"/>
            </a:fld>
            <a:endParaRPr lang="zh-CN" altLang="en-US"/>
          </a:p>
        </p:txBody>
      </p:sp>
      <p:sp>
        <p:nvSpPr>
          <p:cNvPr id="3" name="页脚占位符 2" descr="6ab050f5-786d-4022-bbe2-e81522e0520e"/>
          <p:cNvSpPr>
            <a:spLocks noGrp="1"/>
          </p:cNvSpPr>
          <p:nvPr>
            <p:ph type="ftr" sz="quarter" idx="11"/>
          </p:nvPr>
        </p:nvSpPr>
        <p:spPr/>
        <p:txBody>
          <a:bodyPr/>
          <a:lstStyle/>
          <a:p>
            <a:r>
              <a:rPr lang="en-US" altLang="zh-CN"/>
              <a:t>OfficePLUS</a:t>
            </a:r>
            <a:endParaRPr lang="zh-CN" altLang="en-US"/>
          </a:p>
        </p:txBody>
      </p:sp>
      <p:sp>
        <p:nvSpPr>
          <p:cNvPr id="4" name="灯片编号占位符 3" descr="6cf67250-8bdb-4150-b567-c02acf10a3b7"/>
          <p:cNvSpPr>
            <a:spLocks noGrp="1"/>
          </p:cNvSpPr>
          <p:nvPr>
            <p:ph type="sldNum" sz="quarter" idx="12"/>
          </p:nvPr>
        </p:nvSpPr>
        <p:spPr/>
        <p:txBody>
          <a:bodyPr/>
          <a:lstStyle/>
          <a:p>
            <a:fld id="{7F65B630-C7FF-41C0-9923-C5E5E29EED81}"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descr="5e8c62a0-ee68-454b-9dfd-dc7d48233635"/>
          <p:cNvSpPr>
            <a:spLocks noGrp="1"/>
          </p:cNvSpPr>
          <p:nvPr>
            <p:ph type="dt" sz="half" idx="10"/>
          </p:nvPr>
        </p:nvSpPr>
        <p:spPr/>
        <p:txBody>
          <a:bodyPr/>
          <a:lstStyle/>
          <a:p>
            <a:fld id="{6983D36A-0885-4071-9EF1-0FE4286E17CF}" type="datetime1">
              <a:rPr lang="zh-CN" altLang="en-US" smtClean="0"/>
            </a:fld>
            <a:endParaRPr lang="en-US"/>
          </a:p>
        </p:txBody>
      </p:sp>
      <p:sp>
        <p:nvSpPr>
          <p:cNvPr id="3" name="页脚占位符 2" descr="134935f6-1499-4d82-9ce0-5533f42275eb"/>
          <p:cNvSpPr>
            <a:spLocks noGrp="1"/>
          </p:cNvSpPr>
          <p:nvPr>
            <p:ph type="ftr" sz="quarter" idx="11"/>
          </p:nvPr>
        </p:nvSpPr>
        <p:spPr/>
        <p:txBody>
          <a:bodyPr/>
          <a:lstStyle/>
          <a:p>
            <a:r>
              <a:rPr lang="en-US"/>
              <a:t>OfficePLUS</a:t>
            </a:r>
            <a:endParaRPr lang="en-US" dirty="0"/>
          </a:p>
        </p:txBody>
      </p:sp>
      <p:sp>
        <p:nvSpPr>
          <p:cNvPr id="4" name="灯片编号占位符 3" descr="7b4a3149-a7a3-47d8-b4a8-9c63d91fd82d"/>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matchingName="Closing">
  <p:cSld name="Closing">
    <p:spTree>
      <p:nvGrpSpPr>
        <p:cNvPr id="1" name=""/>
        <p:cNvGrpSpPr/>
        <p:nvPr/>
      </p:nvGrpSpPr>
      <p:grpSpPr>
        <a:xfrm>
          <a:off x="0" y="0"/>
          <a:ext cx="0" cy="0"/>
          <a:chOff x="0" y="0"/>
          <a:chExt cx="0" cy="0"/>
        </a:xfrm>
      </p:grpSpPr>
      <p:pic>
        <p:nvPicPr>
          <p:cNvPr id="6" name="图片 5" descr="ea0be02c-d003-48cd-a21d-fc52a1407451"/>
          <p:cNvPicPr>
            <a:picLocks noChangeAspect="1"/>
          </p:cNvPicPr>
          <p:nvPr/>
        </p:nvPicPr>
        <p:blipFill>
          <a:blip r:embed="rId2"/>
          <a:srcRect l="160" r="160"/>
          <a:stretch>
            <a:fillRect/>
          </a:stretch>
        </p:blipFill>
        <p:spPr>
          <a:xfrm>
            <a:off x="0" y="0"/>
            <a:ext cx="12192000" cy="6858000"/>
          </a:xfrm>
          <a:prstGeom prst="rect">
            <a:avLst/>
          </a:prstGeom>
        </p:spPr>
      </p:pic>
      <p:sp>
        <p:nvSpPr>
          <p:cNvPr id="2" name="矩形 1" descr="aa9d60b4-1c4b-4e6f-bc72-77088fc4c18a"/>
          <p:cNvSpPr/>
          <p:nvPr/>
        </p:nvSpPr>
        <p:spPr>
          <a:xfrm>
            <a:off x="6048374" y="5667374"/>
            <a:ext cx="9525" cy="76200"/>
          </a:xfrm>
          <a:prstGeom prst="rect">
            <a:avLst/>
          </a:prstGeom>
          <a:solidFill>
            <a:schemeClr val="tx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p>
        </p:txBody>
      </p:sp>
      <p:sp>
        <p:nvSpPr>
          <p:cNvPr id="3" name="标题 2" descr="a20e623d-215b-4f98-a74b-0dee30caa7f0"/>
          <p:cNvSpPr>
            <a:spLocks noGrp="1"/>
          </p:cNvSpPr>
          <p:nvPr>
            <p:ph type="title" hasCustomPrompt="1"/>
          </p:nvPr>
        </p:nvSpPr>
        <p:spPr>
          <a:xfrm>
            <a:off x="666750" y="3000375"/>
            <a:ext cx="10763250" cy="857250"/>
          </a:xfrm>
          <a:prstGeom prst="rect">
            <a:avLst/>
          </a:prstGeom>
        </p:spPr>
        <p:txBody>
          <a:bodyPr anchor="b"/>
          <a:lstStyle>
            <a:lvl1pPr algn="ctr">
              <a:defRPr sz="6000" b="1" i="0">
                <a:ln>
                  <a:noFill/>
                </a:ln>
                <a:solidFill>
                  <a:schemeClr val="tx1"/>
                </a:solidFill>
              </a:defRPr>
            </a:lvl1pPr>
          </a:lstStyle>
          <a:p>
            <a:pPr lvl="0"/>
            <a:r>
              <a:rPr lang="en-US"/>
              <a:t>Click to add title</a:t>
            </a:r>
            <a:endParaRPr lang="en-US"/>
          </a:p>
        </p:txBody>
      </p:sp>
      <p:sp>
        <p:nvSpPr>
          <p:cNvPr id="4" name="文本占位符 3" descr="6845ea79-11d7-4e0c-affd-e03daf6f4379"/>
          <p:cNvSpPr>
            <a:spLocks noGrp="1"/>
          </p:cNvSpPr>
          <p:nvPr>
            <p:ph type="body" sz="quarter" idx="13" hasCustomPrompt="1"/>
          </p:nvPr>
        </p:nvSpPr>
        <p:spPr>
          <a:xfrm>
            <a:off x="4391025" y="5524500"/>
            <a:ext cx="1514475" cy="361950"/>
          </a:xfrm>
          <a:prstGeom prst="rect">
            <a:avLst/>
          </a:prstGeom>
        </p:spPr>
        <p:txBody>
          <a:bodyPr vert="horz" rtlCol="0" anchor="ctr"/>
          <a:lstStyle>
            <a:lvl1pPr marL="0" indent="0" algn="r">
              <a:lnSpc>
                <a:spcPct val="100000"/>
              </a:lnSpc>
              <a:buNone/>
              <a:defRPr lang="en-US" altLang="zh-CN" sz="1200" b="0" i="0" smtClean="0">
                <a:ln>
                  <a:noFill/>
                </a:ln>
                <a:solidFill>
                  <a:schemeClr val="tx1"/>
                </a:solidFill>
                <a:latin typeface="+mn-lt"/>
                <a:ea typeface="+mn-ea"/>
                <a:cs typeface="+mn-cs"/>
              </a:defRPr>
            </a:lvl1pPr>
          </a:lstStyle>
          <a:p>
            <a:pPr lvl="0"/>
            <a:r>
              <a:rPr lang="en-US"/>
              <a:t>Presenter name</a:t>
            </a:r>
            <a:endParaRPr lang="en-US"/>
          </a:p>
        </p:txBody>
      </p:sp>
      <p:sp>
        <p:nvSpPr>
          <p:cNvPr id="5" name="文本占位符 4" descr="805e1644-d882-4fdf-834b-2bca73f9da7b"/>
          <p:cNvSpPr>
            <a:spLocks noGrp="1"/>
          </p:cNvSpPr>
          <p:nvPr>
            <p:ph type="body" sz="quarter" idx="14" hasCustomPrompt="1"/>
          </p:nvPr>
        </p:nvSpPr>
        <p:spPr>
          <a:xfrm>
            <a:off x="6191250" y="5524500"/>
            <a:ext cx="1514475" cy="361950"/>
          </a:xfrm>
          <a:prstGeom prst="rect">
            <a:avLst/>
          </a:prstGeom>
        </p:spPr>
        <p:txBody>
          <a:bodyPr vert="horz" rtlCol="0" anchor="ctr"/>
          <a:lstStyle>
            <a:lvl1pPr marL="0" indent="0" algn="l">
              <a:lnSpc>
                <a:spcPct val="100000"/>
              </a:lnSpc>
              <a:buNone/>
              <a:defRPr lang="en-US" altLang="zh-CN" sz="1200" b="0" i="0" smtClean="0">
                <a:ln>
                  <a:noFill/>
                </a:ln>
                <a:solidFill>
                  <a:schemeClr val="tx1"/>
                </a:solidFill>
                <a:latin typeface="+mn-lt"/>
                <a:ea typeface="+mn-ea"/>
                <a:cs typeface="+mn-cs"/>
              </a:defRPr>
            </a:lvl1pPr>
          </a:lstStyle>
          <a:p>
            <a:pPr lvl="0"/>
            <a:r>
              <a:rPr lang="en-US"/>
              <a:t>20XX.XX.XX</a:t>
            </a:r>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40000"/>
                <a:lumOff val="60000"/>
              </a:schemeClr>
            </a:gs>
            <a:gs pos="72000">
              <a:schemeClr val="bg1"/>
            </a:gs>
          </a:gsLst>
          <a:lin ang="13500000" scaled="1"/>
          <a:tileRect/>
        </a:gradFill>
        <a:effectLst/>
      </p:bgPr>
    </p:bg>
    <p:spTree>
      <p:nvGrpSpPr>
        <p:cNvPr id="1" name=""/>
        <p:cNvGrpSpPr/>
        <p:nvPr/>
      </p:nvGrpSpPr>
      <p:grpSpPr>
        <a:xfrm>
          <a:off x="0" y="0"/>
          <a:ext cx="0" cy="0"/>
          <a:chOff x="0" y="0"/>
          <a:chExt cx="0" cy="0"/>
        </a:xfrm>
      </p:grpSpPr>
      <p:grpSp>
        <p:nvGrpSpPr>
          <p:cNvPr id="7" name="组合 6"/>
          <p:cNvGrpSpPr/>
          <p:nvPr/>
        </p:nvGrpSpPr>
        <p:grpSpPr>
          <a:xfrm>
            <a:off x="669925" y="891803"/>
            <a:ext cx="10855325" cy="238497"/>
            <a:chOff x="669925" y="891803"/>
            <a:chExt cx="10855325" cy="238497"/>
          </a:xfrm>
        </p:grpSpPr>
        <p:sp>
          <p:nvSpPr>
            <p:cNvPr id="8" name="平行四边形 7"/>
            <p:cNvSpPr/>
            <p:nvPr/>
          </p:nvSpPr>
          <p:spPr>
            <a:xfrm>
              <a:off x="669925" y="1028700"/>
              <a:ext cx="10855325" cy="101600"/>
            </a:xfrm>
            <a:prstGeom prst="parallelogram">
              <a:avLst>
                <a:gd name="adj" fmla="val 81250"/>
              </a:avLst>
            </a:prstGeom>
            <a:gradFill>
              <a:gsLst>
                <a:gs pos="100000">
                  <a:schemeClr val="accent1">
                    <a:alpha val="0"/>
                  </a:schemeClr>
                </a:gs>
                <a:gs pos="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a:off x="10697423" y="891803"/>
              <a:ext cx="786169" cy="180056"/>
            </a:xfrm>
            <a:custGeom>
              <a:avLst/>
              <a:gdLst>
                <a:gd name="connsiteX0" fmla="*/ 666689 w 786169"/>
                <a:gd name="connsiteY0" fmla="*/ 0 h 180056"/>
                <a:gd name="connsiteX1" fmla="*/ 786169 w 786169"/>
                <a:gd name="connsiteY1" fmla="*/ 0 h 180056"/>
                <a:gd name="connsiteX2" fmla="*/ 647270 w 786169"/>
                <a:gd name="connsiteY2" fmla="*/ 180056 h 180056"/>
                <a:gd name="connsiteX3" fmla="*/ 527790 w 786169"/>
                <a:gd name="connsiteY3" fmla="*/ 180056 h 180056"/>
                <a:gd name="connsiteX4" fmla="*/ 402794 w 786169"/>
                <a:gd name="connsiteY4" fmla="*/ 0 h 180056"/>
                <a:gd name="connsiteX5" fmla="*/ 522274 w 786169"/>
                <a:gd name="connsiteY5" fmla="*/ 0 h 180056"/>
                <a:gd name="connsiteX6" fmla="*/ 383375 w 786169"/>
                <a:gd name="connsiteY6" fmla="*/ 180056 h 180056"/>
                <a:gd name="connsiteX7" fmla="*/ 263895 w 786169"/>
                <a:gd name="connsiteY7" fmla="*/ 180056 h 180056"/>
                <a:gd name="connsiteX8" fmla="*/ 138899 w 786169"/>
                <a:gd name="connsiteY8" fmla="*/ 0 h 180056"/>
                <a:gd name="connsiteX9" fmla="*/ 258379 w 786169"/>
                <a:gd name="connsiteY9" fmla="*/ 0 h 180056"/>
                <a:gd name="connsiteX10" fmla="*/ 119480 w 786169"/>
                <a:gd name="connsiteY10" fmla="*/ 180056 h 180056"/>
                <a:gd name="connsiteX11" fmla="*/ 0 w 786169"/>
                <a:gd name="connsiteY11" fmla="*/ 180056 h 18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6169" h="180056">
                  <a:moveTo>
                    <a:pt x="666689" y="0"/>
                  </a:moveTo>
                  <a:lnTo>
                    <a:pt x="786169" y="0"/>
                  </a:lnTo>
                  <a:lnTo>
                    <a:pt x="647270" y="180056"/>
                  </a:lnTo>
                  <a:lnTo>
                    <a:pt x="527790" y="180056"/>
                  </a:lnTo>
                  <a:close/>
                  <a:moveTo>
                    <a:pt x="402794" y="0"/>
                  </a:moveTo>
                  <a:lnTo>
                    <a:pt x="522274" y="0"/>
                  </a:lnTo>
                  <a:lnTo>
                    <a:pt x="383375" y="180056"/>
                  </a:lnTo>
                  <a:lnTo>
                    <a:pt x="263895" y="180056"/>
                  </a:lnTo>
                  <a:close/>
                  <a:moveTo>
                    <a:pt x="138899" y="0"/>
                  </a:moveTo>
                  <a:lnTo>
                    <a:pt x="258379" y="0"/>
                  </a:lnTo>
                  <a:lnTo>
                    <a:pt x="119480" y="180056"/>
                  </a:lnTo>
                  <a:lnTo>
                    <a:pt x="0" y="180056"/>
                  </a:lnTo>
                  <a:close/>
                </a:path>
              </a:pathLst>
            </a:custGeom>
            <a:gradFill>
              <a:gsLst>
                <a:gs pos="100000">
                  <a:schemeClr val="accent1">
                    <a:alpha val="50000"/>
                  </a:schemeClr>
                </a:gs>
                <a:gs pos="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标题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endParaRPr lang="en-US"/>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5.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image" Target="../media/image2.jpeg"/><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7" Type="http://schemas.openxmlformats.org/officeDocument/2006/relationships/slideLayout" Target="../slideLayouts/slideLayout2.xml"/><Relationship Id="rId16" Type="http://schemas.openxmlformats.org/officeDocument/2006/relationships/image" Target="../media/image5.png"/><Relationship Id="rId15" Type="http://schemas.openxmlformats.org/officeDocument/2006/relationships/tags" Target="../tags/tag37.xml"/><Relationship Id="rId14" Type="http://schemas.openxmlformats.org/officeDocument/2006/relationships/image" Target="../media/image4.png"/><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tags" Target="../tags/tag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tags" Target="../tags/tag39.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1" Type="http://schemas.openxmlformats.org/officeDocument/2006/relationships/slideLayout" Target="../slideLayouts/slideLayout5.xml"/><Relationship Id="rId10" Type="http://schemas.openxmlformats.org/officeDocument/2006/relationships/tags" Target="../tags/tag49.xml"/><Relationship Id="rId1" Type="http://schemas.openxmlformats.org/officeDocument/2006/relationships/tags" Target="../tags/tag4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descr="0502b608-4852-4ff7-9a2b-8b5736d2073a"/>
          <p:cNvSpPr>
            <a:spLocks noGrp="1"/>
          </p:cNvSpPr>
          <p:nvPr>
            <p:ph type="ctrTitle" hasCustomPrompt="1"/>
          </p:nvPr>
        </p:nvSpPr>
        <p:spPr/>
        <p:txBody>
          <a:bodyPr anchorCtr="0">
            <a:normAutofit/>
          </a:bodyPr>
          <a:lstStyle/>
          <a:p>
            <a:pPr algn="ctr">
              <a:lnSpc>
                <a:spcPct val="100000"/>
              </a:lnSpc>
              <a:spcBef>
                <a:spcPct val="0"/>
              </a:spcBef>
            </a:pPr>
            <a:r>
              <a:rPr lang="zh-CN" altLang="en-US" sz="4675" b="1" i="0" u="none">
                <a:solidFill>
                  <a:srgbClr val="000000"/>
                </a:solidFill>
                <a:ea typeface="微软雅黑" panose="020B0503020204020204" charset="-122"/>
              </a:rPr>
              <a:t>护花使者</a:t>
            </a:r>
            <a:r>
              <a:rPr lang="en-US" sz="4675" b="1" i="0" u="none">
                <a:solidFill>
                  <a:srgbClr val="000000"/>
                </a:solidFill>
                <a:ea typeface="微软雅黑" panose="020B0503020204020204" charset="-122"/>
              </a:rPr>
              <a:t> — 基于 STM32 智能婴儿</a:t>
            </a:r>
            <a:r>
              <a:rPr lang="zh-CN" altLang="en-US" sz="4675" b="1" i="0" u="none">
                <a:solidFill>
                  <a:srgbClr val="000000"/>
                </a:solidFill>
                <a:ea typeface="微软雅黑" panose="020B0503020204020204" charset="-122"/>
              </a:rPr>
              <a:t>车</a:t>
            </a:r>
            <a:endParaRPr lang="zh-CN" altLang="en-US" sz="4675" b="1" i="0" u="none">
              <a:solidFill>
                <a:srgbClr val="000000"/>
              </a:solidFill>
              <a:ea typeface="微软雅黑" panose="020B0503020204020204" charset="-122"/>
            </a:endParaRPr>
          </a:p>
        </p:txBody>
      </p:sp>
      <p:sp>
        <p:nvSpPr>
          <p:cNvPr id="4" name="副标题 3" descr="71d11464-d091-4606-a311-2dc02659261b"/>
          <p:cNvSpPr>
            <a:spLocks noGrp="1"/>
          </p:cNvSpPr>
          <p:nvPr>
            <p:ph type="subTitle" idx="1" hasCustomPrompt="1"/>
          </p:nvPr>
        </p:nvSpPr>
        <p:spPr/>
        <p:txBody>
          <a:bodyPr anchorCtr="0">
            <a:noAutofit/>
          </a:bodyPr>
          <a:lstStyle/>
          <a:p>
            <a:pPr algn="ctr">
              <a:lnSpc>
                <a:spcPct val="120000"/>
              </a:lnSpc>
              <a:spcBef>
                <a:spcPts val="1000"/>
              </a:spcBef>
            </a:pPr>
            <a:r>
              <a:rPr lang="en-US" sz="4000" b="0" i="0" u="none">
                <a:solidFill>
                  <a:srgbClr val="000000"/>
                </a:solidFill>
                <a:ea typeface="微软雅黑" panose="020B0503020204020204" charset="-122"/>
              </a:rPr>
              <a:t>科技温暖生命的起点</a:t>
            </a:r>
            <a:endParaRPr lang="en-US" sz="4000" b="0" i="0" u="none">
              <a:solidFill>
                <a:srgbClr val="000000"/>
              </a:solidFill>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bcad822-a45c-46e8-b5a4-331de96a3f90.source.3.zh-Hans.pptx" descr="ac352374-d636-49bc-ab6d-66d049a28064"/>
          <p:cNvGrpSpPr/>
          <p:nvPr/>
        </p:nvGrpSpPr>
        <p:grpSpPr>
          <a:xfrm>
            <a:off x="660400" y="1143002"/>
            <a:ext cx="10858500" cy="4991098"/>
            <a:chOff x="660400" y="1143002"/>
            <a:chExt cx="10858500" cy="4991098"/>
          </a:xfrm>
        </p:grpSpPr>
        <p:sp>
          <p:nvSpPr>
            <p:cNvPr id="3" name="Title" descr="cbabe8de-a232-4590-bfb7-843d72cdfe27"/>
            <p:cNvSpPr txBox="1"/>
            <p:nvPr/>
          </p:nvSpPr>
          <p:spPr>
            <a:xfrm flipH="1">
              <a:off x="660400" y="1143002"/>
              <a:ext cx="10248616" cy="10071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en-US" sz="5400" b="1" i="0" u="none">
                <a:solidFill>
                  <a:srgbClr val="000000"/>
                </a:solidFill>
                <a:latin typeface="Arial" panose="020B0604020202020204"/>
              </a:endParaRPr>
            </a:p>
          </p:txBody>
        </p:sp>
        <p:cxnSp>
          <p:nvCxnSpPr>
            <p:cNvPr id="6" name="直接连接符 5" descr="4ab708c9-0e88-4ddc-a62e-21780e438f96"/>
            <p:cNvCxnSpPr/>
            <p:nvPr/>
          </p:nvCxnSpPr>
          <p:spPr>
            <a:xfrm>
              <a:off x="660400" y="3441280"/>
              <a:ext cx="10858500" cy="0"/>
            </a:xfrm>
            <a:prstGeom prst="line">
              <a:avLst/>
            </a:prstGeom>
            <a:ln>
              <a:solidFill>
                <a:schemeClr val="tx1">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0" name="直接连接符 9" descr="401541da-f2bd-4da3-b48e-0bbb3f310ef9"/>
            <p:cNvCxnSpPr/>
            <p:nvPr/>
          </p:nvCxnSpPr>
          <p:spPr>
            <a:xfrm>
              <a:off x="660400" y="4787685"/>
              <a:ext cx="10858500" cy="0"/>
            </a:xfrm>
            <a:prstGeom prst="line">
              <a:avLst/>
            </a:prstGeom>
            <a:ln>
              <a:solidFill>
                <a:schemeClr val="tx1">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 name="直接连接符 13" descr="87a1a356-0726-4286-849e-a1bd66165936"/>
            <p:cNvCxnSpPr/>
            <p:nvPr/>
          </p:nvCxnSpPr>
          <p:spPr>
            <a:xfrm>
              <a:off x="660400" y="6134100"/>
              <a:ext cx="10858500" cy="0"/>
            </a:xfrm>
            <a:prstGeom prst="line">
              <a:avLst/>
            </a:prstGeom>
            <a:ln>
              <a:solidFill>
                <a:schemeClr val="tx1">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1" name="IconMisc" descr="172a6c74-bd71-4ccb-9d28-de50e0367b95"/>
            <p:cNvSpPr/>
            <p:nvPr/>
          </p:nvSpPr>
          <p:spPr>
            <a:xfrm flipH="1">
              <a:off x="10922657" y="1494342"/>
              <a:ext cx="304842" cy="304457"/>
            </a:xfrm>
            <a:custGeom>
              <a:avLst/>
              <a:gdLst>
                <a:gd name="connsiteX0" fmla="*/ 21433 w 607299"/>
                <a:gd name="connsiteY0" fmla="*/ 294327 h 606533"/>
                <a:gd name="connsiteX1" fmla="*/ 303579 w 607299"/>
                <a:gd name="connsiteY1" fmla="*/ 576051 h 606533"/>
                <a:gd name="connsiteX2" fmla="*/ 585814 w 607299"/>
                <a:gd name="connsiteY2" fmla="*/ 294327 h 606533"/>
                <a:gd name="connsiteX3" fmla="*/ 603526 w 607299"/>
                <a:gd name="connsiteY3" fmla="*/ 294327 h 606533"/>
                <a:gd name="connsiteX4" fmla="*/ 603793 w 607299"/>
                <a:gd name="connsiteY4" fmla="*/ 312101 h 606533"/>
                <a:gd name="connsiteX5" fmla="*/ 312568 w 607299"/>
                <a:gd name="connsiteY5" fmla="*/ 602801 h 606533"/>
                <a:gd name="connsiteX6" fmla="*/ 294767 w 607299"/>
                <a:gd name="connsiteY6" fmla="*/ 602801 h 606533"/>
                <a:gd name="connsiteX7" fmla="*/ 3632 w 607299"/>
                <a:gd name="connsiteY7" fmla="*/ 312101 h 606533"/>
                <a:gd name="connsiteX8" fmla="*/ 3632 w 607299"/>
                <a:gd name="connsiteY8" fmla="*/ 294594 h 606533"/>
                <a:gd name="connsiteX9" fmla="*/ 21433 w 607299"/>
                <a:gd name="connsiteY9" fmla="*/ 294327 h 606533"/>
                <a:gd name="connsiteX10" fmla="*/ 12428 w 607299"/>
                <a:gd name="connsiteY10" fmla="*/ 1 h 606533"/>
                <a:gd name="connsiteX11" fmla="*/ 21451 w 607299"/>
                <a:gd name="connsiteY11" fmla="*/ 3634 h 606533"/>
                <a:gd name="connsiteX12" fmla="*/ 303606 w 607299"/>
                <a:gd name="connsiteY12" fmla="*/ 285388 h 606533"/>
                <a:gd name="connsiteX13" fmla="*/ 585850 w 607299"/>
                <a:gd name="connsiteY13" fmla="*/ 3634 h 606533"/>
                <a:gd name="connsiteX14" fmla="*/ 603385 w 607299"/>
                <a:gd name="connsiteY14" fmla="*/ 3634 h 606533"/>
                <a:gd name="connsiteX15" fmla="*/ 603652 w 607299"/>
                <a:gd name="connsiteY15" fmla="*/ 21411 h 606533"/>
                <a:gd name="connsiteX16" fmla="*/ 312507 w 607299"/>
                <a:gd name="connsiteY16" fmla="*/ 312142 h 606533"/>
                <a:gd name="connsiteX17" fmla="*/ 294616 w 607299"/>
                <a:gd name="connsiteY17" fmla="*/ 312142 h 606533"/>
                <a:gd name="connsiteX18" fmla="*/ 3472 w 607299"/>
                <a:gd name="connsiteY18" fmla="*/ 21411 h 606533"/>
                <a:gd name="connsiteX19" fmla="*/ 3472 w 607299"/>
                <a:gd name="connsiteY19" fmla="*/ 3901 h 606533"/>
                <a:gd name="connsiteX20" fmla="*/ 12428 w 607299"/>
                <a:gd name="connsiteY20" fmla="*/ 1 h 60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7299" h="606533">
                  <a:moveTo>
                    <a:pt x="21433" y="294327"/>
                  </a:moveTo>
                  <a:lnTo>
                    <a:pt x="303579" y="576051"/>
                  </a:lnTo>
                  <a:lnTo>
                    <a:pt x="585814" y="294327"/>
                  </a:lnTo>
                  <a:cubicBezTo>
                    <a:pt x="590709" y="289528"/>
                    <a:pt x="598453" y="289528"/>
                    <a:pt x="603526" y="294327"/>
                  </a:cubicBezTo>
                  <a:cubicBezTo>
                    <a:pt x="608421" y="299126"/>
                    <a:pt x="608599" y="307036"/>
                    <a:pt x="603793" y="312101"/>
                  </a:cubicBezTo>
                  <a:lnTo>
                    <a:pt x="312568" y="602801"/>
                  </a:lnTo>
                  <a:cubicBezTo>
                    <a:pt x="307673" y="607778"/>
                    <a:pt x="299662" y="607778"/>
                    <a:pt x="294767" y="602801"/>
                  </a:cubicBezTo>
                  <a:lnTo>
                    <a:pt x="3632" y="312101"/>
                  </a:lnTo>
                  <a:cubicBezTo>
                    <a:pt x="-1086" y="307213"/>
                    <a:pt x="-1086" y="299482"/>
                    <a:pt x="3632" y="294594"/>
                  </a:cubicBezTo>
                  <a:cubicBezTo>
                    <a:pt x="8438" y="289617"/>
                    <a:pt x="16359" y="289528"/>
                    <a:pt x="21433" y="294327"/>
                  </a:cubicBezTo>
                  <a:close/>
                  <a:moveTo>
                    <a:pt x="12428" y="1"/>
                  </a:moveTo>
                  <a:cubicBezTo>
                    <a:pt x="15666" y="-54"/>
                    <a:pt x="18915" y="1146"/>
                    <a:pt x="21451" y="3634"/>
                  </a:cubicBezTo>
                  <a:lnTo>
                    <a:pt x="303606" y="285388"/>
                  </a:lnTo>
                  <a:lnTo>
                    <a:pt x="585850" y="3634"/>
                  </a:lnTo>
                  <a:cubicBezTo>
                    <a:pt x="590746" y="-1076"/>
                    <a:pt x="598489" y="-1076"/>
                    <a:pt x="603385" y="3634"/>
                  </a:cubicBezTo>
                  <a:cubicBezTo>
                    <a:pt x="608369" y="8434"/>
                    <a:pt x="608458" y="16344"/>
                    <a:pt x="603652" y="21411"/>
                  </a:cubicBezTo>
                  <a:lnTo>
                    <a:pt x="312507" y="312142"/>
                  </a:lnTo>
                  <a:cubicBezTo>
                    <a:pt x="307612" y="317119"/>
                    <a:pt x="299601" y="317119"/>
                    <a:pt x="294616" y="312142"/>
                  </a:cubicBezTo>
                  <a:lnTo>
                    <a:pt x="3472" y="21411"/>
                  </a:lnTo>
                  <a:cubicBezTo>
                    <a:pt x="-1157" y="16522"/>
                    <a:pt x="-1157" y="8789"/>
                    <a:pt x="3472" y="3901"/>
                  </a:cubicBezTo>
                  <a:cubicBezTo>
                    <a:pt x="5964" y="1368"/>
                    <a:pt x="9191" y="57"/>
                    <a:pt x="124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p>
          </p:txBody>
        </p:sp>
        <p:sp>
          <p:nvSpPr>
            <p:cNvPr id="5" name="Bullet1" descr="d0067826-c1f5-4dd5-ad1f-e8be45fd5b84"/>
            <p:cNvSpPr txBox="1"/>
            <p:nvPr/>
          </p:nvSpPr>
          <p:spPr>
            <a:xfrm>
              <a:off x="660401" y="2240624"/>
              <a:ext cx="10241697" cy="1200656"/>
            </a:xfrm>
            <a:prstGeom prst="rect">
              <a:avLst/>
            </a:prstGeom>
            <a:noFill/>
            <a:ln>
              <a:noFill/>
            </a:ln>
          </p:spPr>
          <p:txBody>
            <a:bodyPr wrap="square" lIns="91440" tIns="45720" rIns="91440" bIns="45720" anchor="ctr" anchorCtr="0">
              <a:normAutofit/>
            </a:bodyPr>
            <a:lstStyle/>
            <a:p>
              <a:pPr algn="l">
                <a:lnSpc>
                  <a:spcPct val="120000"/>
                </a:lnSpc>
                <a:spcBef>
                  <a:spcPct val="0"/>
                </a:spcBef>
                <a:spcAft>
                  <a:spcPct val="0"/>
                </a:spcAft>
              </a:pPr>
              <a:r>
                <a:rPr lang="en-US" sz="1800" b="1" i="0" u="none" strike="noStrike">
                  <a:solidFill>
                    <a:srgbClr val="000000"/>
                  </a:solidFill>
                  <a:ea typeface="微软雅黑" panose="020B0503020204020204" charset="-122"/>
                </a:rPr>
                <a:t>1. 项目背景及意义                                                                    4. </a:t>
              </a:r>
              <a:r>
                <a:rPr lang="zh-CN" altLang="en-US" sz="1800" b="1" i="0" u="none" strike="noStrike">
                  <a:solidFill>
                    <a:srgbClr val="000000"/>
                  </a:solidFill>
                  <a:ea typeface="微软雅黑" panose="020B0503020204020204" charset="-122"/>
                </a:rPr>
                <a:t>软件模块</a:t>
              </a:r>
              <a:r>
                <a:rPr lang="en-US" sz="1800" b="1" i="0" u="none" strike="noStrike">
                  <a:solidFill>
                    <a:srgbClr val="000000"/>
                  </a:solidFill>
                  <a:ea typeface="微软雅黑" panose="020B0503020204020204" charset="-122"/>
                </a:rPr>
                <a:t>                     </a:t>
              </a:r>
              <a:endParaRPr lang="en-US" sz="1800" b="1" i="0" u="none" strike="noStrike">
                <a:solidFill>
                  <a:srgbClr val="000000"/>
                </a:solidFill>
                <a:ea typeface="微软雅黑" panose="020B0503020204020204" charset="-122"/>
              </a:endParaRPr>
            </a:p>
          </p:txBody>
        </p:sp>
        <p:sp>
          <p:nvSpPr>
            <p:cNvPr id="9" name="Bullet2" descr="a1cb4f3b-2f19-42b8-8447-6a6390ec2e36"/>
            <p:cNvSpPr txBox="1"/>
            <p:nvPr/>
          </p:nvSpPr>
          <p:spPr>
            <a:xfrm>
              <a:off x="680721" y="3585311"/>
              <a:ext cx="10241697" cy="1200652"/>
            </a:xfrm>
            <a:prstGeom prst="rect">
              <a:avLst/>
            </a:prstGeom>
            <a:noFill/>
            <a:ln>
              <a:noFill/>
            </a:ln>
          </p:spPr>
          <p:txBody>
            <a:bodyPr wrap="square" lIns="91440" tIns="45720" rIns="91440" bIns="45720" anchor="ctr" anchorCtr="0">
              <a:normAutofit/>
            </a:bodyPr>
            <a:lstStyle/>
            <a:p>
              <a:pPr algn="l">
                <a:lnSpc>
                  <a:spcPct val="120000"/>
                </a:lnSpc>
                <a:spcBef>
                  <a:spcPct val="0"/>
                </a:spcBef>
                <a:spcAft>
                  <a:spcPct val="0"/>
                </a:spcAft>
              </a:pPr>
              <a:r>
                <a:rPr lang="en-US" altLang="zh-CN" sz="1800" b="1" i="0" u="none" strike="noStrike">
                  <a:solidFill>
                    <a:srgbClr val="000000"/>
                  </a:solidFill>
                  <a:ea typeface="微软雅黑" panose="020B0503020204020204" charset="-122"/>
                </a:rPr>
                <a:t>2. </a:t>
              </a:r>
              <a:r>
                <a:rPr lang="zh-CN" altLang="en-US" sz="1800" b="1" i="0" u="none" strike="noStrike">
                  <a:solidFill>
                    <a:srgbClr val="000000"/>
                  </a:solidFill>
                  <a:ea typeface="微软雅黑" panose="020B0503020204020204" charset="-122"/>
                </a:rPr>
                <a:t>方案总体设计</a:t>
              </a:r>
              <a:r>
                <a:rPr lang="en-US" altLang="zh-CN" sz="1800" b="1" i="0" u="none" strike="noStrike">
                  <a:solidFill>
                    <a:srgbClr val="000000"/>
                  </a:solidFill>
                  <a:ea typeface="微软雅黑" panose="020B0503020204020204" charset="-122"/>
                </a:rPr>
                <a:t> 					          5. </a:t>
              </a:r>
              <a:r>
                <a:rPr lang="zh-CN" altLang="en-US" sz="1800" b="1" i="0" u="none" strike="noStrike">
                  <a:solidFill>
                    <a:srgbClr val="000000"/>
                  </a:solidFill>
                  <a:ea typeface="微软雅黑" panose="020B0503020204020204" charset="-122"/>
                </a:rPr>
                <a:t>创新点与</a:t>
              </a:r>
              <a:r>
                <a:rPr lang="zh-CN" altLang="en-US" b="1">
                  <a:solidFill>
                    <a:srgbClr val="000000"/>
                  </a:solidFill>
                  <a:ea typeface="微软雅黑" panose="020B0503020204020204" charset="-122"/>
                  <a:sym typeface="+mn-ea"/>
                </a:rPr>
                <a:t>未来改进方向</a:t>
              </a:r>
              <a:endParaRPr lang="zh-CN" altLang="en-US" b="1" i="0" u="none" strike="noStrike">
                <a:solidFill>
                  <a:srgbClr val="000000"/>
                </a:solidFill>
                <a:ea typeface="微软雅黑" panose="020B0503020204020204" charset="-122"/>
              </a:endParaRPr>
            </a:p>
            <a:p>
              <a:pPr algn="l">
                <a:lnSpc>
                  <a:spcPct val="120000"/>
                </a:lnSpc>
                <a:spcBef>
                  <a:spcPct val="0"/>
                </a:spcBef>
                <a:spcAft>
                  <a:spcPct val="0"/>
                </a:spcAft>
              </a:pPr>
              <a:endParaRPr lang="zh-CN" altLang="en-US" sz="1800" b="1" i="0" u="none" strike="noStrike">
                <a:solidFill>
                  <a:srgbClr val="000000"/>
                </a:solidFill>
                <a:ea typeface="微软雅黑" panose="020B0503020204020204" charset="-122"/>
              </a:endParaRPr>
            </a:p>
          </p:txBody>
        </p:sp>
        <p:sp>
          <p:nvSpPr>
            <p:cNvPr id="13" name="Bullet3" descr="4524a8a1-6a25-43c8-acf6-3a8905cbe2ea"/>
            <p:cNvSpPr txBox="1"/>
            <p:nvPr/>
          </p:nvSpPr>
          <p:spPr>
            <a:xfrm>
              <a:off x="660401" y="4930002"/>
              <a:ext cx="10241697" cy="1200653"/>
            </a:xfrm>
            <a:prstGeom prst="rect">
              <a:avLst/>
            </a:prstGeom>
            <a:noFill/>
            <a:ln>
              <a:noFill/>
            </a:ln>
          </p:spPr>
          <p:txBody>
            <a:bodyPr wrap="square" lIns="91440" tIns="45720" rIns="91440" bIns="45720" anchor="ctr" anchorCtr="0">
              <a:normAutofit/>
            </a:bodyPr>
            <a:lstStyle/>
            <a:p>
              <a:pPr algn="l">
                <a:lnSpc>
                  <a:spcPct val="120000"/>
                </a:lnSpc>
                <a:spcBef>
                  <a:spcPct val="0"/>
                </a:spcBef>
                <a:spcAft>
                  <a:spcPct val="0"/>
                </a:spcAft>
              </a:pPr>
              <a:r>
                <a:rPr lang="en-US" altLang="zh-CN" sz="1800" b="1" i="0" u="none" strike="noStrike">
                  <a:solidFill>
                    <a:srgbClr val="000000"/>
                  </a:solidFill>
                  <a:ea typeface="微软雅黑" panose="020B0503020204020204" charset="-122"/>
                </a:rPr>
                <a:t>3. </a:t>
              </a:r>
              <a:r>
                <a:rPr lang="zh-CN" altLang="en-US" sz="1800" b="1" i="0" u="none" strike="noStrike">
                  <a:solidFill>
                    <a:srgbClr val="000000"/>
                  </a:solidFill>
                  <a:ea typeface="微软雅黑" panose="020B0503020204020204" charset="-122"/>
                </a:rPr>
                <a:t>硬件模块</a:t>
              </a:r>
              <a:r>
                <a:rPr lang="en-US" altLang="zh-CN" sz="1800" b="1" i="0" u="none" strike="noStrike">
                  <a:solidFill>
                    <a:srgbClr val="000000"/>
                  </a:solidFill>
                  <a:ea typeface="微软雅黑" panose="020B0503020204020204" charset="-122"/>
                </a:rPr>
                <a:t>					           </a:t>
              </a:r>
              <a:endParaRPr lang="zh-CN" altLang="en-US" sz="1800" b="1" i="0" u="none" strike="noStrike">
                <a:solidFill>
                  <a:srgbClr val="000000"/>
                </a:solidFill>
                <a:ea typeface="微软雅黑" panose="020B0503020204020204" charset="-122"/>
              </a:endParaRPr>
            </a:p>
          </p:txBody>
        </p:sp>
      </p:grpSp>
      <p:sp>
        <p:nvSpPr>
          <p:cNvPr id="4" name="标题 3" descr="e8c23d9a-d493-4fd1-a109-f0200b8656d8"/>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目录</a:t>
            </a:r>
            <a:endParaRPr lang="en-US" sz="2800" b="1" i="0" u="none">
              <a:solidFill>
                <a:srgbClr val="000000"/>
              </a:solidFill>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863bf974-8042-485c-9a53-43ff2731159b"/>
          <p:cNvSpPr>
            <a:spLocks noGrp="1"/>
          </p:cNvSpPr>
          <p:nvPr>
            <p:ph type="title" hasCustomPrompt="1"/>
          </p:nvPr>
        </p:nvSpPr>
        <p:spPr/>
        <p:txBody>
          <a:bodyPr anchorCtr="0"/>
          <a:lstStyle/>
          <a:p>
            <a:pPr algn="r">
              <a:lnSpc>
                <a:spcPct val="100000"/>
              </a:lnSpc>
              <a:spcBef>
                <a:spcPct val="0"/>
              </a:spcBef>
            </a:pPr>
            <a:r>
              <a:rPr lang="en-US" sz="3600" b="1" i="0" u="none">
                <a:solidFill>
                  <a:srgbClr val="000000"/>
                </a:solidFill>
                <a:ea typeface="微软雅黑" panose="020B0503020204020204" charset="-122"/>
              </a:rPr>
              <a:t>项目背景及意义</a:t>
            </a:r>
            <a:endParaRPr lang="en-US" sz="3600" b="1" i="0" u="none">
              <a:solidFill>
                <a:srgbClr val="000000"/>
              </a:solidFill>
              <a:ea typeface="微软雅黑" panose="020B0503020204020204" charset="-122"/>
            </a:endParaRPr>
          </a:p>
        </p:txBody>
      </p:sp>
      <p:sp>
        <p:nvSpPr>
          <p:cNvPr id="3" name="文本占位符 2" descr="84ebf66e-f024-442d-9228-c17c79c99910"/>
          <p:cNvSpPr>
            <a:spLocks noGrp="1"/>
          </p:cNvSpPr>
          <p:nvPr>
            <p:ph type="body" idx="1" hasCustomPrompt="1"/>
          </p:nvPr>
        </p:nvSpPr>
        <p:spPr>
          <a:xfrm>
            <a:off x="3128010" y="3333750"/>
            <a:ext cx="6777990" cy="952500"/>
          </a:xfrm>
        </p:spPr>
        <p:txBody>
          <a:bodyPr anchorCtr="0"/>
          <a:lstStyle/>
          <a:p>
            <a:pPr algn="r">
              <a:lnSpc>
                <a:spcPct val="120000"/>
              </a:lnSpc>
              <a:spcBef>
                <a:spcPts val="1000"/>
              </a:spcBef>
            </a:pPr>
            <a:r>
              <a:rPr lang="en-US" sz="1600" b="0" i="0" u="none">
                <a:solidFill>
                  <a:srgbClr val="000000"/>
                </a:solidFill>
                <a:ea typeface="微软雅黑" panose="020B0503020204020204" charset="-122"/>
              </a:rPr>
              <a:t>介绍项目开展的背景、设计初衷、意义价值、研究目的、目标市场</a:t>
            </a:r>
            <a:endParaRPr lang="en-US" sz="1600" b="0" i="0" u="none">
              <a:solidFill>
                <a:srgbClr val="000000"/>
              </a:solidFill>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33c9eead-9f78-49dc-89c7-149710d9762c.source.2.zh-Hans.pptx" descr="31aec807-4bc3-4665-87c3-9f6a410b04b8"/>
          <p:cNvGrpSpPr/>
          <p:nvPr/>
        </p:nvGrpSpPr>
        <p:grpSpPr>
          <a:xfrm>
            <a:off x="0" y="1086636"/>
            <a:ext cx="12192000" cy="4947579"/>
            <a:chOff x="0" y="1086636"/>
            <a:chExt cx="12192000" cy="4947579"/>
          </a:xfrm>
        </p:grpSpPr>
        <p:sp>
          <p:nvSpPr>
            <p:cNvPr id="35" name="任意多边形 34" descr="c0a71d96-bd3a-4f9c-a94e-e1e615ec650a"/>
            <p:cNvSpPr/>
            <p:nvPr/>
          </p:nvSpPr>
          <p:spPr>
            <a:xfrm>
              <a:off x="0" y="1086636"/>
              <a:ext cx="2342356" cy="4684728"/>
            </a:xfrm>
            <a:custGeom>
              <a:avLst/>
              <a:gdLst>
                <a:gd name="connsiteX0" fmla="*/ 0 w 2342356"/>
                <a:gd name="connsiteY0" fmla="*/ 0 h 4684728"/>
                <a:gd name="connsiteX1" fmla="*/ 2342356 w 2342356"/>
                <a:gd name="connsiteY1" fmla="*/ 2342364 h 4684728"/>
                <a:gd name="connsiteX2" fmla="*/ 0 w 2342356"/>
                <a:gd name="connsiteY2" fmla="*/ 4684728 h 4684728"/>
              </a:gdLst>
              <a:ahLst/>
              <a:cxnLst>
                <a:cxn ang="0">
                  <a:pos x="connsiteX0" y="connsiteY0"/>
                </a:cxn>
                <a:cxn ang="0">
                  <a:pos x="connsiteX1" y="connsiteY1"/>
                </a:cxn>
                <a:cxn ang="0">
                  <a:pos x="connsiteX2" y="connsiteY2"/>
                </a:cxn>
              </a:cxnLst>
              <a:rect l="l" t="t" r="r" b="b"/>
              <a:pathLst>
                <a:path w="2342356" h="4684728">
                  <a:moveTo>
                    <a:pt x="0" y="0"/>
                  </a:moveTo>
                  <a:cubicBezTo>
                    <a:pt x="1293647" y="0"/>
                    <a:pt x="2342356" y="1048712"/>
                    <a:pt x="2342356" y="2342364"/>
                  </a:cubicBezTo>
                  <a:cubicBezTo>
                    <a:pt x="2342356" y="3636016"/>
                    <a:pt x="1293647" y="4684728"/>
                    <a:pt x="0" y="4684728"/>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noAutofit/>
            </a:bodyPr>
            <a:lstStyle/>
            <a:p>
              <a:pPr algn="ctr">
                <a:lnSpc>
                  <a:spcPct val="150000"/>
                </a:lnSpc>
              </a:pPr>
            </a:p>
          </p:txBody>
        </p:sp>
        <p:sp>
          <p:nvSpPr>
            <p:cNvPr id="33" name="任意多边形 32" descr="8e33bc6e-a204-4c33-bd4f-303d82c5a879"/>
            <p:cNvSpPr/>
            <p:nvPr/>
          </p:nvSpPr>
          <p:spPr>
            <a:xfrm>
              <a:off x="1" y="2530392"/>
              <a:ext cx="898605" cy="1797216"/>
            </a:xfrm>
            <a:custGeom>
              <a:avLst/>
              <a:gdLst>
                <a:gd name="connsiteX0" fmla="*/ 0 w 898605"/>
                <a:gd name="connsiteY0" fmla="*/ 0 h 1797216"/>
                <a:gd name="connsiteX1" fmla="*/ 898605 w 898605"/>
                <a:gd name="connsiteY1" fmla="*/ 898608 h 1797216"/>
                <a:gd name="connsiteX2" fmla="*/ 0 w 898605"/>
                <a:gd name="connsiteY2" fmla="*/ 1797216 h 1797216"/>
              </a:gdLst>
              <a:ahLst/>
              <a:cxnLst>
                <a:cxn ang="0">
                  <a:pos x="connsiteX0" y="connsiteY0"/>
                </a:cxn>
                <a:cxn ang="0">
                  <a:pos x="connsiteX1" y="connsiteY1"/>
                </a:cxn>
                <a:cxn ang="0">
                  <a:pos x="connsiteX2" y="connsiteY2"/>
                </a:cxn>
              </a:cxnLst>
              <a:rect l="l" t="t" r="r" b="b"/>
              <a:pathLst>
                <a:path w="898605" h="1797216">
                  <a:moveTo>
                    <a:pt x="0" y="0"/>
                  </a:moveTo>
                  <a:cubicBezTo>
                    <a:pt x="496286" y="0"/>
                    <a:pt x="898605" y="402321"/>
                    <a:pt x="898605" y="898608"/>
                  </a:cubicBezTo>
                  <a:cubicBezTo>
                    <a:pt x="898605" y="1394895"/>
                    <a:pt x="496286" y="1797216"/>
                    <a:pt x="0" y="1797216"/>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lstStyle/>
            <a:p>
              <a:pPr algn="ctr"/>
            </a:p>
          </p:txBody>
        </p:sp>
        <p:cxnSp>
          <p:nvCxnSpPr>
            <p:cNvPr id="7" name="直接连接符 6" descr="39f3a24c-146e-4d34-92b1-07709974cdc7"/>
            <p:cNvCxnSpPr/>
            <p:nvPr/>
          </p:nvCxnSpPr>
          <p:spPr>
            <a:xfrm>
              <a:off x="2342356" y="3429000"/>
              <a:ext cx="1956858" cy="0"/>
            </a:xfrm>
            <a:prstGeom prst="line">
              <a:avLst/>
            </a:prstGeom>
            <a:noFill/>
            <a:ln w="12700">
              <a:solidFill>
                <a:schemeClr val="tx2">
                  <a:alpha val="5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直接连接符 8" descr="b0a4c4eb-eb14-4df6-ac76-4089bd7258d1"/>
            <p:cNvCxnSpPr/>
            <p:nvPr/>
          </p:nvCxnSpPr>
          <p:spPr>
            <a:xfrm>
              <a:off x="5379214" y="3429000"/>
              <a:ext cx="2889481" cy="0"/>
            </a:xfrm>
            <a:prstGeom prst="line">
              <a:avLst/>
            </a:prstGeom>
            <a:noFill/>
            <a:ln w="12700">
              <a:solidFill>
                <a:schemeClr val="tx2">
                  <a:alpha val="5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10" descr="4b83325f-897a-43f9-9fc5-3eef6cb0fb0d"/>
            <p:cNvCxnSpPr/>
            <p:nvPr/>
          </p:nvCxnSpPr>
          <p:spPr>
            <a:xfrm>
              <a:off x="9348695" y="3429000"/>
              <a:ext cx="2843305" cy="1"/>
            </a:xfrm>
            <a:prstGeom prst="line">
              <a:avLst/>
            </a:prstGeom>
            <a:noFill/>
            <a:ln w="12700">
              <a:solidFill>
                <a:schemeClr val="tx2">
                  <a:alpha val="5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3" name="Title" descr="c7071740-c2d1-41f8-b148-fcd1618764e4"/>
            <p:cNvSpPr txBox="1"/>
            <p:nvPr/>
          </p:nvSpPr>
          <p:spPr>
            <a:xfrm>
              <a:off x="2450122" y="1125538"/>
              <a:ext cx="9068777" cy="1261533"/>
            </a:xfrm>
            <a:prstGeom prst="rect">
              <a:avLst/>
            </a:prstGeom>
            <a:noFill/>
          </p:spPr>
          <p:txBody>
            <a:bodyPr vert="horz" wrap="square" rtlCol="0" anchor="ctr" anchorCtr="1">
              <a:normAutofit/>
            </a:bodyPr>
            <a:lstStyle/>
            <a:p>
              <a:pPr algn="ctr"/>
              <a:r>
                <a:rPr lang="en-US" sz="2400" b="1" i="0" u="none">
                  <a:solidFill>
                    <a:srgbClr val="000000"/>
                  </a:solidFill>
                  <a:ea typeface="微软雅黑" panose="020B0503020204020204" charset="-122"/>
                </a:rPr>
                <a:t>阐述项目开展的背景情况以及设计该产品的初心</a:t>
              </a:r>
              <a:endParaRPr lang="en-US" sz="2400" b="1" i="0" u="none">
                <a:solidFill>
                  <a:srgbClr val="000000"/>
                </a:solidFill>
                <a:ea typeface="微软雅黑" panose="020B0503020204020204" charset="-122"/>
              </a:endParaRPr>
            </a:p>
          </p:txBody>
        </p:sp>
        <p:grpSp>
          <p:nvGrpSpPr>
            <p:cNvPr id="5" name="组合 4" descr="5c2fea9f-4b2d-4ed6-91df-abbc3a8fc4ea"/>
            <p:cNvGrpSpPr/>
            <p:nvPr/>
          </p:nvGrpSpPr>
          <p:grpSpPr>
            <a:xfrm>
              <a:off x="3097095" y="2889000"/>
              <a:ext cx="3398222" cy="2616835"/>
              <a:chOff x="3097095" y="2889000"/>
              <a:chExt cx="3398222" cy="2616835"/>
            </a:xfrm>
          </p:grpSpPr>
          <p:sp>
            <p:nvSpPr>
              <p:cNvPr id="16" name="Bullet1" descr="49ec402c-3504-4d65-b4e8-bdfa6a223655"/>
              <p:cNvSpPr txBox="1"/>
              <p:nvPr/>
            </p:nvSpPr>
            <p:spPr>
              <a:xfrm>
                <a:off x="3264100" y="4208587"/>
                <a:ext cx="3231217" cy="516154"/>
              </a:xfrm>
              <a:prstGeom prst="rect">
                <a:avLst/>
              </a:prstGeom>
              <a:noFill/>
            </p:spPr>
            <p:txBody>
              <a:bodyPr wrap="square" rtlCol="0" anchor="b" anchorCtr="1">
                <a:normAutofit/>
              </a:bodyPr>
              <a:lstStyle/>
              <a:p>
                <a:pPr algn="ctr"/>
                <a:r>
                  <a:rPr lang="en-US" sz="1800" b="1" i="0" u="none">
                    <a:solidFill>
                      <a:srgbClr val="000000"/>
                    </a:solidFill>
                    <a:ea typeface="微软雅黑" panose="020B0503020204020204" charset="-122"/>
                  </a:rPr>
                  <a:t>现代育儿现状</a:t>
                </a:r>
                <a:endParaRPr lang="en-US" sz="1800" b="1" i="0" u="none">
                  <a:solidFill>
                    <a:srgbClr val="000000"/>
                  </a:solidFill>
                  <a:ea typeface="微软雅黑" panose="020B0503020204020204" charset="-122"/>
                </a:endParaRPr>
              </a:p>
            </p:txBody>
          </p:sp>
          <p:sp>
            <p:nvSpPr>
              <p:cNvPr id="17" name="Text1" descr="642a8a96-ccd6-444f-a7bb-4b756f48e40e"/>
              <p:cNvSpPr txBox="1"/>
              <p:nvPr/>
            </p:nvSpPr>
            <p:spPr>
              <a:xfrm>
                <a:off x="3097095" y="4724785"/>
                <a:ext cx="3314065" cy="781050"/>
              </a:xfrm>
              <a:prstGeom prst="rect">
                <a:avLst/>
              </a:prstGeom>
              <a:noFill/>
            </p:spPr>
            <p:txBody>
              <a:bodyPr wrap="square" rtlCol="0" anchor="t" anchorCtr="1">
                <a:noAutofit/>
              </a:bodyPr>
              <a:lstStyle/>
              <a:p>
                <a:pPr algn="ctr">
                  <a:lnSpc>
                    <a:spcPct val="120000"/>
                  </a:lnSpc>
                  <a:spcBef>
                    <a:spcPct val="0"/>
                  </a:spcBef>
                  <a:spcAft>
                    <a:spcPct val="0"/>
                  </a:spcAft>
                </a:pPr>
                <a:r>
                  <a:rPr lang="en-US" sz="2000" b="0" i="0" u="none" strike="noStrike">
                    <a:solidFill>
                      <a:srgbClr val="000000"/>
                    </a:solidFill>
                    <a:ea typeface="微软雅黑" panose="020B0503020204020204" charset="-122"/>
                  </a:rPr>
                  <a:t>在现代社会，人们生活节奏变快，工作繁重，新手父母缺乏经验，24小时待命导致身心疲惫，科学育儿理念与传统照护方式存在认知鸿沟。</a:t>
                </a:r>
                <a:endParaRPr lang="en-US" sz="2000" b="0" i="0" u="none" strike="noStrike">
                  <a:solidFill>
                    <a:srgbClr val="000000"/>
                  </a:solidFill>
                  <a:ea typeface="微软雅黑" panose="020B0503020204020204" charset="-122"/>
                </a:endParaRPr>
              </a:p>
            </p:txBody>
          </p:sp>
          <p:sp>
            <p:nvSpPr>
              <p:cNvPr id="18" name="Number1" descr="f40e3a5d-12cc-4a96-9b1c-8cfab84d9bfd"/>
              <p:cNvSpPr/>
              <p:nvPr/>
            </p:nvSpPr>
            <p:spPr>
              <a:xfrm>
                <a:off x="4339708" y="2889000"/>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01</a:t>
                </a:r>
                <a:endParaRPr lang="en-US" sz="2000" b="1" i="0" u="none">
                  <a:solidFill>
                    <a:srgbClr val="FFFFFF"/>
                  </a:solidFill>
                  <a:latin typeface="Arial" panose="020B0604020202020204"/>
                </a:endParaRPr>
              </a:p>
            </p:txBody>
          </p:sp>
        </p:grpSp>
        <p:grpSp>
          <p:nvGrpSpPr>
            <p:cNvPr id="6" name="组合 5" descr="a22633b0-df13-4caa-9486-030fcc0f3c60"/>
            <p:cNvGrpSpPr/>
            <p:nvPr/>
          </p:nvGrpSpPr>
          <p:grpSpPr>
            <a:xfrm>
              <a:off x="7233581" y="2889000"/>
              <a:ext cx="3231217" cy="3145215"/>
              <a:chOff x="7233581" y="2889000"/>
              <a:chExt cx="3231217" cy="3145215"/>
            </a:xfrm>
          </p:grpSpPr>
          <p:sp>
            <p:nvSpPr>
              <p:cNvPr id="14" name="Bullet2" descr="900347fa-1079-490a-a632-35d6584b6221"/>
              <p:cNvSpPr txBox="1"/>
              <p:nvPr/>
            </p:nvSpPr>
            <p:spPr>
              <a:xfrm>
                <a:off x="7233581" y="4208587"/>
                <a:ext cx="3231217" cy="516154"/>
              </a:xfrm>
              <a:prstGeom prst="rect">
                <a:avLst/>
              </a:prstGeom>
              <a:noFill/>
            </p:spPr>
            <p:txBody>
              <a:bodyPr wrap="square" rtlCol="0" anchor="b" anchorCtr="1">
                <a:normAutofit/>
              </a:bodyPr>
              <a:lstStyle/>
              <a:p>
                <a:pPr algn="ctr"/>
                <a:r>
                  <a:rPr lang="en-US" sz="1800" b="1" i="0" u="none">
                    <a:solidFill>
                      <a:srgbClr val="000000"/>
                    </a:solidFill>
                    <a:ea typeface="微软雅黑" panose="020B0503020204020204" charset="-122"/>
                  </a:rPr>
                  <a:t>设计初衷</a:t>
                </a:r>
                <a:endParaRPr lang="en-US" sz="1800" b="1" i="0" u="none">
                  <a:solidFill>
                    <a:srgbClr val="000000"/>
                  </a:solidFill>
                  <a:ea typeface="微软雅黑" panose="020B0503020204020204" charset="-122"/>
                </a:endParaRPr>
              </a:p>
            </p:txBody>
          </p:sp>
          <p:sp>
            <p:nvSpPr>
              <p:cNvPr id="15" name="Text2" descr="10079045-a759-4ea6-b58b-0bd2058f34a8"/>
              <p:cNvSpPr txBox="1"/>
              <p:nvPr/>
            </p:nvSpPr>
            <p:spPr>
              <a:xfrm>
                <a:off x="7233581" y="4868062"/>
                <a:ext cx="3231217" cy="1166153"/>
              </a:xfrm>
              <a:prstGeom prst="rect">
                <a:avLst/>
              </a:prstGeom>
              <a:noFill/>
            </p:spPr>
            <p:txBody>
              <a:bodyPr wrap="square" rtlCol="0" anchor="t" anchorCtr="1">
                <a:noAutofit/>
              </a:bodyPr>
              <a:lstStyle/>
              <a:p>
                <a:pPr algn="ctr">
                  <a:lnSpc>
                    <a:spcPct val="120000"/>
                  </a:lnSpc>
                  <a:spcBef>
                    <a:spcPct val="0"/>
                  </a:spcBef>
                  <a:spcAft>
                    <a:spcPct val="0"/>
                  </a:spcAft>
                </a:pPr>
                <a:r>
                  <a:rPr lang="en-US" sz="2000" b="0" i="0" u="none" strike="noStrike">
                    <a:solidFill>
                      <a:srgbClr val="000000"/>
                    </a:solidFill>
                    <a:ea typeface="微软雅黑" panose="020B0503020204020204" charset="-122"/>
                  </a:rPr>
                  <a:t>让科技温暖生命的起点，使育儿不再是负重前行的旅程，而是共同成长的美好体验。</a:t>
                </a:r>
                <a:endParaRPr lang="en-US" sz="2000" b="0" i="0" u="none" strike="noStrike">
                  <a:solidFill>
                    <a:srgbClr val="000000"/>
                  </a:solidFill>
                  <a:ea typeface="微软雅黑" panose="020B0503020204020204" charset="-122"/>
                </a:endParaRPr>
              </a:p>
            </p:txBody>
          </p:sp>
          <p:sp>
            <p:nvSpPr>
              <p:cNvPr id="19" name="Number2" descr="3e00289b-7de0-40b2-968c-94f3b0376644"/>
              <p:cNvSpPr/>
              <p:nvPr/>
            </p:nvSpPr>
            <p:spPr>
              <a:xfrm>
                <a:off x="8309189" y="2889000"/>
                <a:ext cx="1080000" cy="108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noAutofit/>
              </a:bodyPr>
              <a:lstStyle/>
              <a:p>
                <a:pPr algn="ctr">
                  <a:lnSpc>
                    <a:spcPct val="150000"/>
                  </a:lnSpc>
                </a:pPr>
                <a:r>
                  <a:rPr lang="en-US" sz="2000" b="1" i="0" u="none">
                    <a:solidFill>
                      <a:srgbClr val="000000"/>
                    </a:solidFill>
                    <a:latin typeface="Arial" panose="020B0604020202020204"/>
                  </a:rPr>
                  <a:t>02</a:t>
                </a:r>
                <a:endParaRPr lang="en-US" sz="2000" b="1" i="0" u="none">
                  <a:solidFill>
                    <a:srgbClr val="000000"/>
                  </a:solidFill>
                  <a:latin typeface="Arial" panose="020B0604020202020204"/>
                </a:endParaRPr>
              </a:p>
            </p:txBody>
          </p:sp>
        </p:grpSp>
      </p:grpSp>
      <p:sp>
        <p:nvSpPr>
          <p:cNvPr id="2" name="标题 1" descr="e8c23d9a-d493-4fd1-a109-f0200b8656d8"/>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项目背景与设计初衷</a:t>
            </a:r>
            <a:endParaRPr lang="en-US" sz="2800" b="1" i="0" u="none">
              <a:solidFill>
                <a:srgbClr val="000000"/>
              </a:solidFill>
              <a:ea typeface="微软雅黑" panose="020B0503020204020204" charset="-122"/>
            </a:endParaRPr>
          </a:p>
        </p:txBody>
      </p:sp>
      <p:sp>
        <p:nvSpPr>
          <p:cNvPr id="8" name="文本框 7"/>
          <p:cNvSpPr txBox="1"/>
          <p:nvPr/>
        </p:nvSpPr>
        <p:spPr>
          <a:xfrm>
            <a:off x="3177540" y="6376035"/>
            <a:ext cx="4064000" cy="368300"/>
          </a:xfrm>
          <a:prstGeom prst="rect">
            <a:avLst/>
          </a:prstGeom>
          <a:noFill/>
        </p:spPr>
        <p:txBody>
          <a:bodyPr wrap="square" rtlCol="0">
            <a:spAutoFit/>
          </a:bodyPr>
          <a:p>
            <a:r>
              <a:rPr lang="en-US" altLang="zh-CN"/>
              <a:t>  </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300e0c0b-0462-4a6b-95cd-3a67c6baf2bd.source.4.zh-Hans.pptx" descr="b042953c-890b-4705-9635-f33f6cf40eeb"/>
          <p:cNvGrpSpPr/>
          <p:nvPr>
            <p:custDataLst>
              <p:tags r:id="rId1"/>
            </p:custDataLst>
          </p:nvPr>
        </p:nvGrpSpPr>
        <p:grpSpPr>
          <a:xfrm>
            <a:off x="660400" y="1130301"/>
            <a:ext cx="10918275" cy="5003799"/>
            <a:chOff x="660400" y="1130301"/>
            <a:chExt cx="10918275" cy="5003799"/>
          </a:xfrm>
        </p:grpSpPr>
        <p:sp>
          <p:nvSpPr>
            <p:cNvPr id="2" name="Title" descr="4222b8a9-92d5-40de-b978-52687533de1f"/>
            <p:cNvSpPr txBox="1"/>
            <p:nvPr/>
          </p:nvSpPr>
          <p:spPr>
            <a:xfrm>
              <a:off x="660400" y="1130301"/>
              <a:ext cx="2573454" cy="2181612"/>
            </a:xfrm>
            <a:prstGeom prst="roundRect">
              <a:avLst>
                <a:gd name="adj" fmla="val 6882"/>
              </a:avLst>
            </a:prstGeom>
            <a:solidFill>
              <a:schemeClr val="tx1">
                <a:alpha val="5000"/>
              </a:schemeClr>
            </a:solidFill>
          </p:spPr>
          <p:txBody>
            <a:bodyPr wrap="square" lIns="90000" tIns="46800" rIns="90000" bIns="46800" rtlCol="0" anchor="ctr" anchorCtr="0">
              <a:normAutofit/>
            </a:bodyPr>
            <a:lstStyle>
              <a:defPPr>
                <a:defRPr lang="zh-CN"/>
              </a:defPPr>
              <a:lvl1pPr>
                <a:defRPr sz="2400" b="1">
                  <a:cs typeface="+mn-ea"/>
                </a:defRPr>
              </a:lvl1pPr>
            </a:lstStyle>
            <a:p>
              <a:pPr algn="l"/>
              <a:r>
                <a:rPr lang="en-US" sz="2400" b="1" i="0" u="none">
                  <a:solidFill>
                    <a:srgbClr val="000000"/>
                  </a:solidFill>
                  <a:ea typeface="微软雅黑" panose="020B0503020204020204" charset="-122"/>
                </a:rPr>
                <a:t>说明项目在科技、育儿、家庭和产业等方面带来的积极影响</a:t>
              </a:r>
              <a:endParaRPr lang="en-US" sz="2400" b="1" i="0" u="none">
                <a:solidFill>
                  <a:srgbClr val="000000"/>
                </a:solidFill>
                <a:ea typeface="微软雅黑" panose="020B0503020204020204" charset="-122"/>
              </a:endParaRPr>
            </a:p>
          </p:txBody>
        </p:sp>
        <p:cxnSp>
          <p:nvCxnSpPr>
            <p:cNvPr id="7" name="直接连接符 6" descr="198ac6fc-f923-4186-b8f8-1cc7f5c9d3dc"/>
            <p:cNvCxnSpPr>
              <a:stCxn id="40" idx="4"/>
              <a:endCxn id="6" idx="4"/>
            </p:cNvCxnSpPr>
            <p:nvPr>
              <p:custDataLst>
                <p:tags r:id="rId2"/>
              </p:custDataLst>
            </p:nvPr>
          </p:nvCxnSpPr>
          <p:spPr>
            <a:xfrm>
              <a:off x="3625852" y="1628097"/>
              <a:ext cx="0" cy="2496961"/>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descr="52a5e553-af79-4b45-bebd-e5a40b205cd6"/>
            <p:cNvCxnSpPr>
              <a:stCxn id="68" idx="4"/>
              <a:endCxn id="63" idx="4"/>
            </p:cNvCxnSpPr>
            <p:nvPr>
              <p:custDataLst>
                <p:tags r:id="rId3"/>
              </p:custDataLst>
            </p:nvPr>
          </p:nvCxnSpPr>
          <p:spPr>
            <a:xfrm>
              <a:off x="7941064" y="1628097"/>
              <a:ext cx="0" cy="2496961"/>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3" name="组合 2" descr="afb10e81-db44-4c30-893f-cc170c80a7e8"/>
            <p:cNvGrpSpPr/>
            <p:nvPr/>
          </p:nvGrpSpPr>
          <p:grpSpPr>
            <a:xfrm>
              <a:off x="3403298" y="1183481"/>
              <a:ext cx="3800390" cy="2453658"/>
              <a:chOff x="3403298" y="1183481"/>
              <a:chExt cx="3800390" cy="2453658"/>
            </a:xfrm>
          </p:grpSpPr>
          <p:sp>
            <p:nvSpPr>
              <p:cNvPr id="42" name="Text1" descr="a7656dee-deb6-4ee5-ab26-70cbe29065a4"/>
              <p:cNvSpPr txBox="1"/>
              <p:nvPr>
                <p:custDataLst>
                  <p:tags r:id="rId4"/>
                </p:custDataLst>
              </p:nvPr>
            </p:nvSpPr>
            <p:spPr>
              <a:xfrm>
                <a:off x="3890498" y="1628096"/>
                <a:ext cx="3313189" cy="2009043"/>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600" b="0" i="0" u="none">
                    <a:solidFill>
                      <a:srgbClr val="000000"/>
                    </a:solidFill>
                    <a:ea typeface="微软雅黑" panose="020B0503020204020204" charset="-122"/>
                  </a:rPr>
                  <a:t>当今科技飞速发展，智能家居产品普及，为智能婴儿床的研发和应用提供技术支撑与环境基础，人们对科技产品接受度提升，也促进其进入育儿领域。</a:t>
                </a:r>
                <a:endParaRPr lang="en-US" sz="1600" b="0" i="0" u="none">
                  <a:solidFill>
                    <a:srgbClr val="000000"/>
                  </a:solidFill>
                  <a:ea typeface="微软雅黑" panose="020B0503020204020204" charset="-122"/>
                </a:endParaRPr>
              </a:p>
            </p:txBody>
          </p:sp>
          <p:sp>
            <p:nvSpPr>
              <p:cNvPr id="43" name="Bullet1" descr="581a2ead-3639-43d1-81ba-09a3345488d2"/>
              <p:cNvSpPr txBox="1"/>
              <p:nvPr>
                <p:custDataLst>
                  <p:tags r:id="rId5"/>
                </p:custDataLst>
              </p:nvPr>
            </p:nvSpPr>
            <p:spPr>
              <a:xfrm>
                <a:off x="3890499" y="1183481"/>
                <a:ext cx="3313189"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科技发展推动</a:t>
                </a:r>
                <a:endParaRPr lang="en-US" sz="1800" b="1" i="0" u="none">
                  <a:solidFill>
                    <a:srgbClr val="000000"/>
                  </a:solidFill>
                  <a:ea typeface="微软雅黑" panose="020B0503020204020204" charset="-122"/>
                </a:endParaRPr>
              </a:p>
            </p:txBody>
          </p:sp>
          <p:sp>
            <p:nvSpPr>
              <p:cNvPr id="40" name="Number1" descr="a02ff924-9d29-42a2-92bd-9f89e1ef113d"/>
              <p:cNvSpPr/>
              <p:nvPr>
                <p:custDataLst>
                  <p:tags r:id="rId6"/>
                </p:custDataLst>
              </p:nvPr>
            </p:nvSpPr>
            <p:spPr>
              <a:xfrm>
                <a:off x="3403298" y="1183481"/>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panose="020B0604020202020204"/>
                  </a:rPr>
                  <a:t>1</a:t>
                </a:r>
                <a:endParaRPr lang="en-US" sz="1400" b="1" i="0" u="none">
                  <a:solidFill>
                    <a:srgbClr val="FFFFFF"/>
                  </a:solidFill>
                  <a:latin typeface="Arial" panose="020B0604020202020204"/>
                </a:endParaRPr>
              </a:p>
            </p:txBody>
          </p:sp>
        </p:grpSp>
        <p:grpSp>
          <p:nvGrpSpPr>
            <p:cNvPr id="11" name="组合 10" descr="5d471b83-c26a-411e-af12-747b5c5ad7d0"/>
            <p:cNvGrpSpPr/>
            <p:nvPr/>
          </p:nvGrpSpPr>
          <p:grpSpPr>
            <a:xfrm>
              <a:off x="3403298" y="3680442"/>
              <a:ext cx="3800390" cy="2453658"/>
              <a:chOff x="3403298" y="2454892"/>
              <a:chExt cx="3800390" cy="2453658"/>
            </a:xfrm>
          </p:grpSpPr>
          <p:sp>
            <p:nvSpPr>
              <p:cNvPr id="10" name="Text2" descr="f9206a94-1104-4ced-b81a-6cb162ce8bc2"/>
              <p:cNvSpPr txBox="1"/>
              <p:nvPr>
                <p:custDataLst>
                  <p:tags r:id="rId7"/>
                </p:custDataLst>
              </p:nvPr>
            </p:nvSpPr>
            <p:spPr>
              <a:xfrm>
                <a:off x="3890498" y="2899507"/>
                <a:ext cx="3313189" cy="2009043"/>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buClrTx/>
                  <a:buSzTx/>
                  <a:buFontTx/>
                </a:pPr>
                <a:r>
                  <a:rPr lang="en-US" sz="1600" b="0" i="0" u="none">
                    <a:solidFill>
                      <a:srgbClr val="000000"/>
                    </a:solidFill>
                    <a:ea typeface="微软雅黑" panose="020B0503020204020204" charset="-122"/>
                  </a:rPr>
                  <a:t>随着生活水平提高，育儿观念升级，父母对婴儿用品的智能化、多元化、精细化需求增加，传统婴儿床功能单一，无法满足，智能婴儿床可提供更优质的育儿支持。</a:t>
                </a:r>
                <a:endParaRPr lang="en-US" sz="1600" b="0" i="0" u="none">
                  <a:solidFill>
                    <a:srgbClr val="000000"/>
                  </a:solidFill>
                  <a:ea typeface="微软雅黑" panose="020B0503020204020204" charset="-122"/>
                </a:endParaRPr>
              </a:p>
            </p:txBody>
          </p:sp>
          <p:sp>
            <p:nvSpPr>
              <p:cNvPr id="12" name="Bullet2" descr="79ffe5ef-61ec-4b13-b859-83b7a4a37f9c"/>
              <p:cNvSpPr txBox="1"/>
              <p:nvPr>
                <p:custDataLst>
                  <p:tags r:id="rId8"/>
                </p:custDataLst>
              </p:nvPr>
            </p:nvSpPr>
            <p:spPr>
              <a:xfrm>
                <a:off x="3890499" y="2454892"/>
                <a:ext cx="3313189"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育儿需求转变</a:t>
                </a:r>
                <a:endParaRPr lang="en-US" sz="1800" b="1" i="0" u="none">
                  <a:solidFill>
                    <a:srgbClr val="000000"/>
                  </a:solidFill>
                  <a:ea typeface="微软雅黑" panose="020B0503020204020204" charset="-122"/>
                </a:endParaRPr>
              </a:p>
            </p:txBody>
          </p:sp>
          <p:sp>
            <p:nvSpPr>
              <p:cNvPr id="6" name="Number2" descr="cfb7ef62-39d0-4d51-9acb-1541cf8b33d6"/>
              <p:cNvSpPr/>
              <p:nvPr>
                <p:custDataLst>
                  <p:tags r:id="rId9"/>
                </p:custDataLst>
              </p:nvPr>
            </p:nvSpPr>
            <p:spPr>
              <a:xfrm>
                <a:off x="3403298" y="2454892"/>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panose="020B0604020202020204"/>
                  </a:rPr>
                  <a:t>2</a:t>
                </a:r>
                <a:endParaRPr lang="en-US" sz="1400" b="1" i="0" u="none">
                  <a:solidFill>
                    <a:srgbClr val="FFFFFF"/>
                  </a:solidFill>
                  <a:latin typeface="Arial" panose="020B0604020202020204"/>
                </a:endParaRPr>
              </a:p>
            </p:txBody>
          </p:sp>
        </p:grpSp>
        <p:grpSp>
          <p:nvGrpSpPr>
            <p:cNvPr id="16" name="组合 15" descr="94f8a13b-2af4-4fa3-b95b-2e3b1f9f403c"/>
            <p:cNvGrpSpPr/>
            <p:nvPr/>
          </p:nvGrpSpPr>
          <p:grpSpPr>
            <a:xfrm>
              <a:off x="7718510" y="1183481"/>
              <a:ext cx="3860165" cy="2290445"/>
              <a:chOff x="7718510" y="1183481"/>
              <a:chExt cx="3860165" cy="2290445"/>
            </a:xfrm>
          </p:grpSpPr>
          <p:sp>
            <p:nvSpPr>
              <p:cNvPr id="70" name="Text3" descr="30ccdf57-dce4-458b-9e5b-24b901d0dade"/>
              <p:cNvSpPr txBox="1"/>
              <p:nvPr>
                <p:custDataLst>
                  <p:tags r:id="rId10"/>
                </p:custDataLst>
              </p:nvPr>
            </p:nvSpPr>
            <p:spPr>
              <a:xfrm>
                <a:off x="8205555" y="1627981"/>
                <a:ext cx="3373120" cy="1845945"/>
              </a:xfrm>
              <a:prstGeom prst="rect">
                <a:avLst/>
              </a:prstGeom>
              <a:noFill/>
            </p:spPr>
            <p:txBody>
              <a:bodyPr wrap="square" rtlCol="0" anchor="t" anchorCtr="0">
                <a:no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600" b="0" i="0" u="none">
                    <a:solidFill>
                      <a:srgbClr val="000000"/>
                    </a:solidFill>
                    <a:ea typeface="微软雅黑" panose="020B0503020204020204" charset="-122"/>
                  </a:rPr>
                  <a:t>智能婴儿床能自动哄睡、实时监测宝宝状态，父母可远程看护和操控，减少夜间起床次数，让父母有更多休息时间，缓解育儿压力，例如美国结合AI技术的智能婴儿床，能根据婴儿哭声和状态自动摇晃，减少父母半夜哄娃频率。</a:t>
                </a:r>
                <a:endParaRPr lang="en-US" sz="1600" b="0" i="0" u="none">
                  <a:solidFill>
                    <a:srgbClr val="000000"/>
                  </a:solidFill>
                  <a:ea typeface="微软雅黑" panose="020B0503020204020204" charset="-122"/>
                </a:endParaRPr>
              </a:p>
            </p:txBody>
          </p:sp>
          <p:sp>
            <p:nvSpPr>
              <p:cNvPr id="71" name="Bullet3" descr="0818704e-70c3-4451-9aee-ddbc353276c2"/>
              <p:cNvSpPr txBox="1"/>
              <p:nvPr>
                <p:custDataLst>
                  <p:tags r:id="rId11"/>
                </p:custDataLst>
              </p:nvPr>
            </p:nvSpPr>
            <p:spPr>
              <a:xfrm>
                <a:off x="8205711" y="1183481"/>
                <a:ext cx="3313189"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减轻父母负担</a:t>
                </a:r>
                <a:endParaRPr lang="en-US" sz="1800" b="1" i="0" u="none">
                  <a:solidFill>
                    <a:srgbClr val="000000"/>
                  </a:solidFill>
                  <a:ea typeface="微软雅黑" panose="020B0503020204020204" charset="-122"/>
                </a:endParaRPr>
              </a:p>
            </p:txBody>
          </p:sp>
          <p:sp>
            <p:nvSpPr>
              <p:cNvPr id="68" name="Number3" descr="a7fe5aed-a2b9-4544-87d8-80f6e612d793"/>
              <p:cNvSpPr/>
              <p:nvPr>
                <p:custDataLst>
                  <p:tags r:id="rId12"/>
                </p:custDataLst>
              </p:nvPr>
            </p:nvSpPr>
            <p:spPr>
              <a:xfrm>
                <a:off x="7718510" y="1183481"/>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panose="020B0604020202020204"/>
                  </a:rPr>
                  <a:t>3</a:t>
                </a:r>
                <a:endParaRPr lang="en-US" sz="1400" b="1" i="0" u="none">
                  <a:solidFill>
                    <a:srgbClr val="FFFFFF"/>
                  </a:solidFill>
                  <a:latin typeface="Arial" panose="020B0604020202020204"/>
                </a:endParaRPr>
              </a:p>
            </p:txBody>
          </p:sp>
        </p:grpSp>
        <p:grpSp>
          <p:nvGrpSpPr>
            <p:cNvPr id="17" name="组合 16" descr="addee604-1bda-4d7f-a905-24fee6c44839"/>
            <p:cNvGrpSpPr/>
            <p:nvPr/>
          </p:nvGrpSpPr>
          <p:grpSpPr>
            <a:xfrm>
              <a:off x="7718510" y="3680442"/>
              <a:ext cx="3800390" cy="2453658"/>
              <a:chOff x="7718510" y="2454892"/>
              <a:chExt cx="3800390" cy="2453658"/>
            </a:xfrm>
          </p:grpSpPr>
          <p:sp>
            <p:nvSpPr>
              <p:cNvPr id="65" name="Text4" descr="d46fcf5b-d965-4743-8216-cb83bbbe16ea"/>
              <p:cNvSpPr txBox="1"/>
              <p:nvPr>
                <p:custDataLst>
                  <p:tags r:id="rId13"/>
                </p:custDataLst>
              </p:nvPr>
            </p:nvSpPr>
            <p:spPr>
              <a:xfrm>
                <a:off x="8205710" y="2899507"/>
                <a:ext cx="3313189" cy="2009043"/>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buClrTx/>
                  <a:buSzTx/>
                  <a:buFontTx/>
                </a:pPr>
                <a:r>
                  <a:rPr lang="en-US" sz="1600" b="0" i="0" u="none">
                    <a:solidFill>
                      <a:srgbClr val="000000"/>
                    </a:solidFill>
                    <a:ea typeface="微软雅黑" panose="020B0503020204020204" charset="-122"/>
                  </a:rPr>
                  <a:t>推动母婴行业创新发展，吸引更多企业和科研力量投入，带动相关技术研发和应用，拓展智能家居应用场景，形成新的产业增长点。</a:t>
                </a:r>
                <a:endParaRPr lang="en-US" sz="1600" b="0" i="0" u="none">
                  <a:solidFill>
                    <a:srgbClr val="000000"/>
                  </a:solidFill>
                  <a:ea typeface="微软雅黑" panose="020B0503020204020204" charset="-122"/>
                </a:endParaRPr>
              </a:p>
            </p:txBody>
          </p:sp>
          <p:sp>
            <p:nvSpPr>
              <p:cNvPr id="66" name="Bullet4" descr="f5d654d8-13f0-47d0-b2a0-fa9d8ad4dc0b"/>
              <p:cNvSpPr txBox="1"/>
              <p:nvPr>
                <p:custDataLst>
                  <p:tags r:id="rId14"/>
                </p:custDataLst>
              </p:nvPr>
            </p:nvSpPr>
            <p:spPr>
              <a:xfrm>
                <a:off x="8205711" y="2454892"/>
                <a:ext cx="3313189"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促进产业创新</a:t>
                </a:r>
                <a:endParaRPr lang="en-US" sz="1800" b="1" i="0" u="none">
                  <a:solidFill>
                    <a:srgbClr val="000000"/>
                  </a:solidFill>
                  <a:ea typeface="微软雅黑" panose="020B0503020204020204" charset="-122"/>
                </a:endParaRPr>
              </a:p>
            </p:txBody>
          </p:sp>
          <p:sp>
            <p:nvSpPr>
              <p:cNvPr id="63" name="Number4" descr="78714628-8273-41ac-9965-6ab41372dcec"/>
              <p:cNvSpPr/>
              <p:nvPr>
                <p:custDataLst>
                  <p:tags r:id="rId15"/>
                </p:custDataLst>
              </p:nvPr>
            </p:nvSpPr>
            <p:spPr>
              <a:xfrm>
                <a:off x="7718510" y="2454892"/>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panose="020B0604020202020204"/>
                  </a:rPr>
                  <a:t>4</a:t>
                </a:r>
                <a:endParaRPr lang="en-US" sz="1400" b="1" i="0" u="none">
                  <a:solidFill>
                    <a:srgbClr val="FFFFFF"/>
                  </a:solidFill>
                  <a:latin typeface="Arial" panose="020B0604020202020204"/>
                </a:endParaRPr>
              </a:p>
            </p:txBody>
          </p:sp>
        </p:grpSp>
      </p:grpSp>
      <p:sp>
        <p:nvSpPr>
          <p:cNvPr id="4" name="标题 3" descr="e8c23d9a-d493-4fd1-a109-f0200b8656d8"/>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项目意义与价值</a:t>
            </a:r>
            <a:endParaRPr lang="en-US" sz="2800" b="1" i="0" u="none">
              <a:solidFill>
                <a:srgbClr val="000000"/>
              </a:solidFill>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4f6dda0b-6875-4bd9-bffb-36a9d7e75b99.source.2.zh-Hans.pptx" descr="89157dba-75c6-49a7-a35a-7a7e7c13a6de"/>
          <p:cNvGrpSpPr/>
          <p:nvPr>
            <p:custDataLst>
              <p:tags r:id="rId1"/>
            </p:custDataLst>
          </p:nvPr>
        </p:nvGrpSpPr>
        <p:grpSpPr>
          <a:xfrm>
            <a:off x="660399" y="1130300"/>
            <a:ext cx="10858501" cy="5003800"/>
            <a:chOff x="660399" y="1130300"/>
            <a:chExt cx="10858501" cy="5003800"/>
          </a:xfrm>
        </p:grpSpPr>
        <p:sp>
          <p:nvSpPr>
            <p:cNvPr id="6" name="PictureMisc1" descr="9fc4055a-90bc-4368-9527-14f44455445f"/>
            <p:cNvSpPr/>
            <p:nvPr/>
          </p:nvSpPr>
          <p:spPr>
            <a:xfrm>
              <a:off x="660399" y="1130300"/>
              <a:ext cx="2285999" cy="5003800"/>
            </a:xfrm>
            <a:prstGeom prst="roundRect">
              <a:avLst>
                <a:gd name="adj" fmla="val 5417"/>
              </a:avLst>
            </a:prstGeom>
            <a:blipFill rotWithShape="1">
              <a:blip r:embed="rId2"/>
              <a:stretch>
                <a:fillRect l="-23091" r="-22835"/>
              </a:stretch>
            </a:blipFill>
            <a:ln w="6031" cap="sq">
              <a:noFill/>
              <a:prstDash val="solid"/>
              <a:miter/>
            </a:ln>
          </p:spPr>
          <p:txBody>
            <a:bodyPr rtlCol="0" anchor="ctr" anchorCtr="0"/>
            <a:lstStyle/>
            <a:p>
              <a:pPr algn="l"/>
            </a:p>
          </p:txBody>
        </p:sp>
        <p:grpSp>
          <p:nvGrpSpPr>
            <p:cNvPr id="29" name="组合 28" descr="639f18b0-6c23-4674-859c-b403f959dfa0"/>
            <p:cNvGrpSpPr/>
            <p:nvPr/>
          </p:nvGrpSpPr>
          <p:grpSpPr>
            <a:xfrm>
              <a:off x="660399" y="1130300"/>
              <a:ext cx="10858501" cy="5003800"/>
              <a:chOff x="660399" y="1130300"/>
              <a:chExt cx="10858501" cy="5003800"/>
            </a:xfrm>
          </p:grpSpPr>
          <p:sp>
            <p:nvSpPr>
              <p:cNvPr id="3" name="Title" descr="42e16e63-e7d4-439e-8842-134d854cefb6"/>
              <p:cNvSpPr txBox="1"/>
              <p:nvPr/>
            </p:nvSpPr>
            <p:spPr>
              <a:xfrm>
                <a:off x="660399" y="2314575"/>
                <a:ext cx="2286002" cy="2635250"/>
              </a:xfrm>
              <a:prstGeom prst="roundRect">
                <a:avLst>
                  <a:gd name="adj" fmla="val 5873"/>
                </a:avLst>
              </a:prstGeom>
              <a:solidFill>
                <a:srgbClr val="FFFFFF">
                  <a:alpha val="90000"/>
                </a:srgbClr>
              </a:solidFill>
              <a:ln w="6350">
                <a:noFill/>
              </a:ln>
            </p:spPr>
            <p:txBody>
              <a:bodyPr wrap="square" rtlCol="0" anchor="ctr" anchorCtr="0">
                <a:normAutofit/>
              </a:bodyPr>
              <a:lstStyle/>
              <a:p>
                <a:pPr algn="l"/>
                <a:r>
                  <a:rPr lang="en-US" sz="2400" b="1" i="0" u="none">
                    <a:solidFill>
                      <a:srgbClr val="000000"/>
                    </a:solidFill>
                    <a:ea typeface="微软雅黑" panose="020B0503020204020204" charset="-122"/>
                  </a:rPr>
                  <a:t>明确项目要实现的目标以及产品的目标用户群体</a:t>
                </a:r>
                <a:endParaRPr lang="en-US" sz="2400" b="1" i="0" u="none">
                  <a:solidFill>
                    <a:srgbClr val="000000"/>
                  </a:solidFill>
                  <a:ea typeface="微软雅黑" panose="020B0503020204020204" charset="-122"/>
                </a:endParaRPr>
              </a:p>
            </p:txBody>
          </p:sp>
          <p:cxnSp>
            <p:nvCxnSpPr>
              <p:cNvPr id="9" name="连接符: 肘形 8" descr="41b605f3-38e9-4266-9769-2d681e4909f9"/>
              <p:cNvCxnSpPr>
                <a:stCxn id="22" idx="1"/>
                <a:endCxn id="3" idx="3"/>
              </p:cNvCxnSpPr>
              <p:nvPr/>
            </p:nvCxnSpPr>
            <p:spPr>
              <a:xfrm rot="10800000" flipV="1">
                <a:off x="2946402" y="2342296"/>
                <a:ext cx="667657" cy="1289904"/>
              </a:xfrm>
              <a:prstGeom prst="bentConnector3">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连接符: 肘形 9" descr="0cab47c1-f5e8-4b87-b4c9-556256012857"/>
              <p:cNvCxnSpPr>
                <a:stCxn id="19" idx="1"/>
                <a:endCxn id="3" idx="3"/>
              </p:cNvCxnSpPr>
              <p:nvPr/>
            </p:nvCxnSpPr>
            <p:spPr>
              <a:xfrm rot="10800000">
                <a:off x="2946402" y="3632200"/>
                <a:ext cx="667657" cy="1289904"/>
              </a:xfrm>
              <a:prstGeom prst="bentConnector3">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27" name="组合 26" descr="2d7880e0-2a41-48f0-924a-d703aa163bc3"/>
              <p:cNvGrpSpPr/>
              <p:nvPr/>
            </p:nvGrpSpPr>
            <p:grpSpPr>
              <a:xfrm>
                <a:off x="3614058" y="1130300"/>
                <a:ext cx="7904842" cy="2423992"/>
                <a:chOff x="3614058" y="1130300"/>
                <a:chExt cx="7904842" cy="2423992"/>
              </a:xfrm>
            </p:grpSpPr>
            <p:sp>
              <p:nvSpPr>
                <p:cNvPr id="22" name="ComponentBackground1" descr="7090fd3a-826f-4e2e-8939-092d15047c1a"/>
                <p:cNvSpPr/>
                <p:nvPr>
                  <p:custDataLst>
                    <p:tags r:id="rId3"/>
                  </p:custDataLst>
                </p:nvPr>
              </p:nvSpPr>
              <p:spPr>
                <a:xfrm>
                  <a:off x="3614058" y="1130300"/>
                  <a:ext cx="7904842" cy="2423992"/>
                </a:xfrm>
                <a:prstGeom prst="roundRect">
                  <a:avLst>
                    <a:gd name="adj" fmla="val 5900"/>
                  </a:avLst>
                </a:prstGeom>
                <a:noFill/>
                <a:ln w="6350">
                  <a:solidFill>
                    <a:schemeClr val="accent1">
                      <a:shade val="15000"/>
                      <a:alpha val="50000"/>
                    </a:schemeClr>
                  </a:solidFill>
                </a:ln>
              </p:spPr>
              <p:txBody>
                <a:bodyPr wrap="square" rtlCol="0" anchor="ctr" anchorCtr="0">
                  <a:normAutofit/>
                </a:bodyPr>
                <a:lstStyle/>
                <a:p>
                  <a:pPr algn="l"/>
                </a:p>
              </p:txBody>
            </p:sp>
            <p:sp>
              <p:nvSpPr>
                <p:cNvPr id="23" name="Bullet1" descr="19734278-7c00-4425-817a-fefb9a9ba0ba"/>
                <p:cNvSpPr/>
                <p:nvPr>
                  <p:custDataLst>
                    <p:tags r:id="rId4"/>
                  </p:custDataLst>
                </p:nvPr>
              </p:nvSpPr>
              <p:spPr>
                <a:xfrm>
                  <a:off x="3714750" y="1208209"/>
                  <a:ext cx="7703464" cy="463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800" b="1" i="0" u="none">
                      <a:solidFill>
                        <a:srgbClr val="000000"/>
                      </a:solidFill>
                      <a:ea typeface="微软雅黑" panose="020B0503020204020204" charset="-122"/>
                    </a:rPr>
                    <a:t>项目目标</a:t>
                  </a:r>
                  <a:endParaRPr lang="en-US" sz="1800" b="1" i="0" u="none">
                    <a:solidFill>
                      <a:srgbClr val="000000"/>
                    </a:solidFill>
                    <a:ea typeface="微软雅黑" panose="020B0503020204020204" charset="-122"/>
                  </a:endParaRPr>
                </a:p>
              </p:txBody>
            </p:sp>
            <p:sp>
              <p:nvSpPr>
                <p:cNvPr id="24" name="Text1" descr="1d72a29a-e600-4171-a7ab-f58e5f8cccfc"/>
                <p:cNvSpPr/>
                <p:nvPr>
                  <p:custDataLst>
                    <p:tags r:id="rId5"/>
                  </p:custDataLst>
                </p:nvPr>
              </p:nvSpPr>
              <p:spPr>
                <a:xfrm>
                  <a:off x="3714750" y="1520998"/>
                  <a:ext cx="7703458" cy="17742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30000"/>
                    </a:lnSpc>
                  </a:pPr>
                  <a:r>
                    <a:rPr lang="en-US" sz="1600" b="0" i="0" u="none">
                      <a:solidFill>
                        <a:srgbClr val="000000"/>
                      </a:solidFill>
                      <a:ea typeface="微软雅黑" panose="020B0503020204020204" charset="-122"/>
                    </a:rPr>
                    <a:t>提供舒适安全的睡眠环境：智能婴儿床通过集成传感器和人工智能技术，能够实时监测婴儿哭声，从而及时发现异常情况并及时提醒；通过调节温度、湿度等环境因素，智能婴儿床可以确保婴儿在适宜的条件下入睡，提高睡眠质量；减轻家长照顾婴儿的负担：家长可以通过手机应用程序或网页实时查看婴儿的睡眠状态和历史数据，无需时刻守在婴儿床旁；智能婴儿床提供的个性化干预建议可以帮助家长更好地了解婴儿的睡眠需求和行为习惯，从而采取更科学的育儿方式。</a:t>
                  </a:r>
                  <a:endParaRPr lang="en-US" sz="1600" b="0" i="0" u="none">
                    <a:solidFill>
                      <a:srgbClr val="000000"/>
                    </a:solidFill>
                    <a:ea typeface="微软雅黑" panose="020B0503020204020204" charset="-122"/>
                  </a:endParaRPr>
                </a:p>
              </p:txBody>
            </p:sp>
          </p:grpSp>
          <p:grpSp>
            <p:nvGrpSpPr>
              <p:cNvPr id="28" name="组合 27" descr="c2ea76d9-ea1a-45d9-97bf-1ccef99c94ef"/>
              <p:cNvGrpSpPr/>
              <p:nvPr/>
            </p:nvGrpSpPr>
            <p:grpSpPr>
              <a:xfrm>
                <a:off x="3614058" y="3710108"/>
                <a:ext cx="7904842" cy="2423992"/>
                <a:chOff x="3614058" y="3710108"/>
                <a:chExt cx="7904842" cy="2423992"/>
              </a:xfrm>
            </p:grpSpPr>
            <p:sp>
              <p:nvSpPr>
                <p:cNvPr id="19" name="ComponentBackground2" descr="b2178795-7a30-4715-8ffa-5fbb05e0cc4e"/>
                <p:cNvSpPr/>
                <p:nvPr>
                  <p:custDataLst>
                    <p:tags r:id="rId6"/>
                  </p:custDataLst>
                </p:nvPr>
              </p:nvSpPr>
              <p:spPr>
                <a:xfrm>
                  <a:off x="3614058" y="3710108"/>
                  <a:ext cx="7904842" cy="2423992"/>
                </a:xfrm>
                <a:prstGeom prst="roundRect">
                  <a:avLst>
                    <a:gd name="adj" fmla="val 5900"/>
                  </a:avLst>
                </a:prstGeom>
                <a:noFill/>
                <a:ln w="6350">
                  <a:solidFill>
                    <a:schemeClr val="accent1">
                      <a:shade val="15000"/>
                      <a:alpha val="50000"/>
                    </a:schemeClr>
                  </a:solidFill>
                </a:ln>
              </p:spPr>
              <p:txBody>
                <a:bodyPr wrap="square" rtlCol="0" anchor="ctr" anchorCtr="0">
                  <a:normAutofit/>
                </a:bodyPr>
                <a:lstStyle/>
                <a:p>
                  <a:pPr algn="l"/>
                </a:p>
              </p:txBody>
            </p:sp>
            <p:sp>
              <p:nvSpPr>
                <p:cNvPr id="20" name="Bullet2" descr="b577be65-cb97-4800-88e0-6653415e0f0c"/>
                <p:cNvSpPr/>
                <p:nvPr>
                  <p:custDataLst>
                    <p:tags r:id="rId7"/>
                  </p:custDataLst>
                </p:nvPr>
              </p:nvSpPr>
              <p:spPr>
                <a:xfrm>
                  <a:off x="3714750" y="3788017"/>
                  <a:ext cx="7703464" cy="463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800" b="1" i="0" u="none">
                      <a:solidFill>
                        <a:srgbClr val="000000"/>
                      </a:solidFill>
                      <a:ea typeface="微软雅黑" panose="020B0503020204020204" charset="-122"/>
                    </a:rPr>
                    <a:t>应用市场</a:t>
                  </a:r>
                  <a:endParaRPr lang="en-US" sz="1800" b="1" i="0" u="none">
                    <a:solidFill>
                      <a:srgbClr val="000000"/>
                    </a:solidFill>
                    <a:ea typeface="微软雅黑" panose="020B0503020204020204" charset="-122"/>
                  </a:endParaRPr>
                </a:p>
              </p:txBody>
            </p:sp>
            <p:sp>
              <p:nvSpPr>
                <p:cNvPr id="21" name="Text2" descr="042c0025-475b-467f-8c98-deb22ed573c7"/>
                <p:cNvSpPr/>
                <p:nvPr>
                  <p:custDataLst>
                    <p:tags r:id="rId8"/>
                  </p:custDataLst>
                </p:nvPr>
              </p:nvSpPr>
              <p:spPr>
                <a:xfrm>
                  <a:off x="3714750" y="4264636"/>
                  <a:ext cx="7703458" cy="17742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30000"/>
                    </a:lnSpc>
                    <a:buClrTx/>
                    <a:buSzTx/>
                    <a:buFontTx/>
                  </a:pPr>
                  <a:r>
                    <a:rPr lang="en-US" sz="1600" b="0" i="0" u="none">
                      <a:solidFill>
                        <a:srgbClr val="000000"/>
                      </a:solidFill>
                      <a:ea typeface="微软雅黑" panose="020B0503020204020204" charset="-122"/>
                    </a:rPr>
                    <a:t>年轻父母：95后至00后的新生代父母成长于科技时代，对智能产品接受度高，更注重育儿的科学性和便捷性，愿意为提升育儿体验的智能婴儿床买单；双职工家庭：这类家庭父母工作繁忙，缺乏足够时间照顾宝宝，智能婴儿</a:t>
                  </a:r>
                  <a:r>
                    <a:rPr lang="zh-CN" altLang="en-US" sz="1600" b="0" i="0" u="none">
                      <a:solidFill>
                        <a:srgbClr val="000000"/>
                      </a:solidFill>
                      <a:ea typeface="微软雅黑" panose="020B0503020204020204" charset="-122"/>
                    </a:rPr>
                    <a:t>车</a:t>
                  </a:r>
                  <a:r>
                    <a:rPr lang="en-US" sz="1600" b="0" i="0" u="none">
                      <a:solidFill>
                        <a:srgbClr val="000000"/>
                      </a:solidFill>
                      <a:ea typeface="微软雅黑" panose="020B0503020204020204" charset="-122"/>
                    </a:rPr>
                    <a:t>的远程监控和自动安抚功能，能帮助他们实时了解宝宝情况，减轻育儿负担。</a:t>
                  </a:r>
                  <a:endParaRPr lang="en-US" sz="1600" b="0" i="0" u="none">
                    <a:solidFill>
                      <a:srgbClr val="000000"/>
                    </a:solidFill>
                    <a:ea typeface="微软雅黑" panose="020B0503020204020204" charset="-122"/>
                  </a:endParaRPr>
                </a:p>
              </p:txBody>
            </p:sp>
          </p:grpSp>
        </p:grpSp>
      </p:grpSp>
      <p:sp>
        <p:nvSpPr>
          <p:cNvPr id="2" name="标题 1" descr="e8c23d9a-d493-4fd1-a109-f0200b8656d8"/>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项目目标与应用市场</a:t>
            </a:r>
            <a:endParaRPr lang="en-US" sz="2800" b="1" i="0" u="none">
              <a:solidFill>
                <a:srgbClr val="000000"/>
              </a:solidFill>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863bf974-8042-485c-9a53-43ff2731159b"/>
          <p:cNvSpPr>
            <a:spLocks noGrp="1"/>
          </p:cNvSpPr>
          <p:nvPr>
            <p:ph type="title" hasCustomPrompt="1"/>
          </p:nvPr>
        </p:nvSpPr>
        <p:spPr/>
        <p:txBody>
          <a:bodyPr anchorCtr="0"/>
          <a:lstStyle/>
          <a:p>
            <a:pPr algn="r">
              <a:lnSpc>
                <a:spcPct val="100000"/>
              </a:lnSpc>
              <a:spcBef>
                <a:spcPct val="0"/>
              </a:spcBef>
            </a:pPr>
            <a:r>
              <a:rPr lang="zh-CN" altLang="en-US" sz="3600" b="1" i="0" u="none">
                <a:solidFill>
                  <a:srgbClr val="000000"/>
                </a:solidFill>
                <a:ea typeface="微软雅黑" panose="020B0503020204020204" charset="-122"/>
              </a:rPr>
              <a:t>方案总体设计</a:t>
            </a:r>
            <a:endParaRPr lang="zh-CN" altLang="en-US" sz="3600" b="1" i="0" u="none">
              <a:solidFill>
                <a:srgbClr val="000000"/>
              </a:solidFill>
              <a:ea typeface="微软雅黑" panose="020B0503020204020204" charset="-122"/>
            </a:endParaRPr>
          </a:p>
        </p:txBody>
      </p:sp>
      <p:sp>
        <p:nvSpPr>
          <p:cNvPr id="3" name="文本占位符 2" descr="84ebf66e-f024-442d-9228-c17c79c99910"/>
          <p:cNvSpPr>
            <a:spLocks noGrp="1"/>
          </p:cNvSpPr>
          <p:nvPr>
            <p:ph type="body" idx="1" hasCustomPrompt="1"/>
          </p:nvPr>
        </p:nvSpPr>
        <p:spPr/>
        <p:txBody>
          <a:bodyPr anchorCtr="0"/>
          <a:lstStyle/>
          <a:p>
            <a:pPr algn="r">
              <a:lnSpc>
                <a:spcPct val="120000"/>
              </a:lnSpc>
              <a:spcBef>
                <a:spcPts val="1000"/>
              </a:spcBef>
            </a:pPr>
            <a:r>
              <a:rPr lang="en-US" sz="1600" b="0" i="0" u="none">
                <a:solidFill>
                  <a:srgbClr val="000000"/>
                </a:solidFill>
                <a:ea typeface="微软雅黑" panose="020B0503020204020204" charset="-122"/>
              </a:rPr>
              <a:t>说明系统的总体设计方案、工作流程、各模块的</a:t>
            </a:r>
            <a:r>
              <a:rPr lang="zh-CN" altLang="en-US" sz="1600" b="0" i="0" u="none">
                <a:solidFill>
                  <a:srgbClr val="000000"/>
                </a:solidFill>
                <a:ea typeface="微软雅黑" panose="020B0503020204020204" charset="-122"/>
              </a:rPr>
              <a:t>硬件</a:t>
            </a:r>
            <a:r>
              <a:rPr lang="en-US" sz="1600" b="0" i="0" u="none">
                <a:solidFill>
                  <a:srgbClr val="000000"/>
                </a:solidFill>
                <a:ea typeface="微软雅黑" panose="020B0503020204020204" charset="-122"/>
              </a:rPr>
              <a:t>连接</a:t>
            </a:r>
            <a:endParaRPr lang="en-US" sz="1600" b="0" i="0" u="none">
              <a:solidFill>
                <a:srgbClr val="000000"/>
              </a:solidFill>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zh-CN" altLang="en-US">
                <a:ln w="12700">
                  <a:noFill/>
                </a:ln>
                <a:solidFill>
                  <a:srgbClr val="262626">
                    <a:alpha val="100000"/>
                  </a:srgbClr>
                </a:solidFill>
                <a:latin typeface="华文中宋" panose="02010600040101010101" charset="-122"/>
                <a:ea typeface="华文中宋" panose="02010600040101010101" charset="-122"/>
                <a:cs typeface="华文仿宋" panose="02010600040101010101" charset="-122"/>
                <a:sym typeface="+mn-ea"/>
              </a:rPr>
              <a:t>系统总体设计</a:t>
            </a:r>
            <a:endParaRPr lang="zh-CN" altLang="en-US"/>
          </a:p>
        </p:txBody>
      </p:sp>
      <p:sp>
        <p:nvSpPr>
          <p:cNvPr id="3" name="内容占位符 2"/>
          <p:cNvSpPr>
            <a:spLocks noGrp="1"/>
          </p:cNvSpPr>
          <p:nvPr>
            <p:ph idx="1"/>
          </p:nvPr>
        </p:nvSpPr>
        <p:spPr/>
        <p:txBody>
          <a:bodyPr/>
          <a:p>
            <a:r>
              <a:rPr kumimoji="1" lang="zh-CN" altLang="en-US" b="1">
                <a:ln w="12700">
                  <a:noFill/>
                </a:ln>
                <a:solidFill>
                  <a:srgbClr val="262626">
                    <a:alpha val="100000"/>
                  </a:srgbClr>
                </a:solidFill>
                <a:latin typeface="华文中宋" panose="02010600040101010101" charset="-122"/>
                <a:ea typeface="华文中宋" panose="02010600040101010101" charset="-122"/>
                <a:cs typeface="华文仿宋" panose="02010600040101010101" charset="-122"/>
                <a:sym typeface="+mn-ea"/>
              </a:rPr>
              <a:t>方案</a:t>
            </a:r>
            <a:r>
              <a:rPr lang="en-US" altLang="zh-CN">
                <a:latin typeface="华文仿宋" panose="02010600040101010101" charset="-122"/>
                <a:ea typeface="华文仿宋" panose="02010600040101010101" charset="-122"/>
                <a:cs typeface="华文仿宋" panose="02010600040101010101" charset="-122"/>
                <a:sym typeface="+mn-ea"/>
              </a:rPr>
              <a:t> </a:t>
            </a:r>
            <a:endParaRPr lang="en-US" altLang="zh-CN">
              <a:latin typeface="华文仿宋" panose="02010600040101010101" charset="-122"/>
              <a:ea typeface="华文仿宋" panose="02010600040101010101" charset="-122"/>
              <a:cs typeface="华文仿宋" panose="02010600040101010101" charset="-122"/>
            </a:endParaRPr>
          </a:p>
          <a:p>
            <a:endParaRPr lang="zh-CN" altLang="en-US"/>
          </a:p>
        </p:txBody>
      </p:sp>
      <p:pic>
        <p:nvPicPr>
          <p:cNvPr id="4" name="图片 3" descr="67312651c47af8337238ad9ee226179"/>
          <p:cNvPicPr>
            <a:picLocks noChangeAspect="1"/>
          </p:cNvPicPr>
          <p:nvPr/>
        </p:nvPicPr>
        <p:blipFill>
          <a:blip r:embed="rId1"/>
          <a:stretch>
            <a:fillRect/>
          </a:stretch>
        </p:blipFill>
        <p:spPr>
          <a:xfrm>
            <a:off x="767080" y="2060575"/>
            <a:ext cx="4300220" cy="3141980"/>
          </a:xfrm>
          <a:prstGeom prst="rect">
            <a:avLst/>
          </a:prstGeom>
        </p:spPr>
      </p:pic>
      <p:sp>
        <p:nvSpPr>
          <p:cNvPr id="21" name="正文"/>
          <p:cNvSpPr txBox="1"/>
          <p:nvPr>
            <p:custDataLst>
              <p:tags r:id="rId2"/>
            </p:custDataLst>
          </p:nvPr>
        </p:nvSpPr>
        <p:spPr>
          <a:xfrm>
            <a:off x="5445125" y="1485265"/>
            <a:ext cx="6073775" cy="5024755"/>
          </a:xfrm>
          <a:prstGeom prst="rect">
            <a:avLst/>
          </a:prstGeom>
          <a:noFill/>
        </p:spPr>
        <p:txBody>
          <a:bodyPr wrap="square" lIns="0" tIns="0" rIns="0" bIns="0" rtlCol="0" anchor="t" anchorCtr="0">
            <a:normAutofit/>
          </a:bodyPr>
          <a:lstStyle/>
          <a:p>
            <a:pPr indent="0" algn="just" fontAlgn="auto">
              <a:lnSpc>
                <a:spcPct val="130000"/>
              </a:lnSpc>
            </a:pPr>
            <a:r>
              <a:rPr lang="en-US" altLang="zh-CN" sz="1600" b="1" spc="150" dirty="0">
                <a:solidFill>
                  <a:srgbClr val="FF0000"/>
                </a:solidFill>
                <a:latin typeface="微软雅黑" panose="020B0503020204020204" charset="-122"/>
                <a:ea typeface="微软雅黑" panose="020B0503020204020204" charset="-122"/>
                <a:cs typeface="微软雅黑" panose="020B0503020204020204" charset="-122"/>
              </a:rPr>
              <a:t>STM32F103C8T6</a:t>
            </a:r>
            <a:r>
              <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rPr>
              <a:t>单片机作为系统主控制器</a:t>
            </a:r>
            <a:r>
              <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，负责各模块的协调与控制。实现数据采集与指令发送，并支持多种通信协议。</a:t>
            </a:r>
            <a:endPar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just" fontAlgn="auto">
              <a:lnSpc>
                <a:spcPct val="130000"/>
              </a:lnSpc>
            </a:pPr>
            <a:r>
              <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rPr>
              <a:t>温湿度检测模块由</a:t>
            </a:r>
            <a:r>
              <a:rPr lang="en-US" altLang="zh-CN" sz="1600" b="1" spc="150" dirty="0">
                <a:solidFill>
                  <a:srgbClr val="FF0000"/>
                </a:solidFill>
                <a:latin typeface="微软雅黑" panose="020B0503020204020204" charset="-122"/>
                <a:ea typeface="微软雅黑" panose="020B0503020204020204" charset="-122"/>
                <a:cs typeface="微软雅黑" panose="020B0503020204020204" charset="-122"/>
              </a:rPr>
              <a:t>DHT11</a:t>
            </a:r>
            <a:r>
              <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rPr>
              <a:t>模块测量并采集温湿度数据并输出。</a:t>
            </a:r>
            <a:endPar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endParaRPr>
          </a:p>
          <a:p>
            <a:pPr indent="0" algn="just" fontAlgn="auto">
              <a:lnSpc>
                <a:spcPct val="130000"/>
              </a:lnSpc>
            </a:pPr>
            <a:r>
              <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通信与显示模块支持设备间的数据传播与</a:t>
            </a:r>
            <a:r>
              <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显示。</a:t>
            </a:r>
            <a:endPar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just" fontAlgn="auto">
              <a:lnSpc>
                <a:spcPct val="130000"/>
              </a:lnSpc>
            </a:pPr>
            <a:r>
              <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语音模块实现语音提示，指令识别或交互功能。</a:t>
            </a:r>
            <a:endPar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just" fontAlgn="auto">
              <a:lnSpc>
                <a:spcPct val="130000"/>
              </a:lnSpc>
            </a:pPr>
            <a:r>
              <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控制与驱动模块，负责系统的逻辑处理，决策制定，并将指令转化为物理动作或者电信号输出。</a:t>
            </a:r>
            <a:endPar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just" fontAlgn="auto">
              <a:lnSpc>
                <a:spcPct val="130000"/>
              </a:lnSpc>
            </a:pPr>
            <a:r>
              <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输入与输出模块接收用户通过物理按键输入的指令或数据，实现基础的人机交互。</a:t>
            </a:r>
            <a:endParaRPr lang="zh-CN" altLang="en-US" sz="1600" b="1" spc="15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gn="just" fontAlgn="auto">
              <a:lnSpc>
                <a:spcPct val="130000"/>
              </a:lnSpc>
            </a:pPr>
            <a:r>
              <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rPr>
              <a:t>软件部分通过</a:t>
            </a:r>
            <a:r>
              <a:rPr lang="en-US" altLang="zh-CN" sz="1600" b="1" spc="150" dirty="0">
                <a:solidFill>
                  <a:srgbClr val="FF0000"/>
                </a:solidFill>
                <a:latin typeface="微软雅黑" panose="020B0503020204020204" charset="-122"/>
                <a:ea typeface="微软雅黑" panose="020B0503020204020204" charset="-122"/>
                <a:cs typeface="微软雅黑" panose="020B0503020204020204" charset="-122"/>
              </a:rPr>
              <a:t>keil 5</a:t>
            </a:r>
            <a:r>
              <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rPr>
              <a:t>软件进行程序编写，从而控制硬件部分实现对应功能，通过程序进行初始化过程，</a:t>
            </a:r>
            <a:r>
              <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rPr>
              <a:t>保障系统通电后的</a:t>
            </a:r>
            <a:r>
              <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rPr>
              <a:t>稳定运行。</a:t>
            </a:r>
            <a:endParaRPr lang="zh-CN" altLang="en-US" sz="1600" b="1" spc="150" dirty="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en-US" altLang="zh-CN">
                <a:solidFill>
                  <a:srgbClr val="262626">
                    <a:alpha val="100000"/>
                  </a:srgbClr>
                </a:solidFill>
                <a:latin typeface="华文中宋" panose="02010600040101010101" charset="-122"/>
                <a:ea typeface="华文中宋" panose="02010600040101010101" charset="-122"/>
                <a:cs typeface="华文中宋" panose="02010600040101010101" charset="-122"/>
                <a:sym typeface="+mn-ea"/>
              </a:rPr>
              <a:t>STM32F103C8T6单片机</a:t>
            </a:r>
            <a:endParaRPr lang="zh-CN" altLang="en-US"/>
          </a:p>
        </p:txBody>
      </p:sp>
      <p:sp>
        <p:nvSpPr>
          <p:cNvPr id="3" name="内容占位符 2"/>
          <p:cNvSpPr>
            <a:spLocks noGrp="1"/>
          </p:cNvSpPr>
          <p:nvPr>
            <p:ph idx="1"/>
          </p:nvPr>
        </p:nvSpPr>
        <p:spPr>
          <a:xfrm>
            <a:off x="660400" y="1028700"/>
            <a:ext cx="10473055" cy="4923155"/>
          </a:xfrm>
        </p:spPr>
        <p:txBody>
          <a:bodyPr/>
          <a:p>
            <a:r>
              <a:rPr lang="zh-CN" altLang="en-US"/>
              <a:t>总体</a:t>
            </a:r>
            <a:endParaRPr lang="zh-CN" altLang="en-US"/>
          </a:p>
        </p:txBody>
      </p:sp>
      <p:sp>
        <p:nvSpPr>
          <p:cNvPr id="4" name="标题 1"/>
          <p:cNvSpPr txBox="1"/>
          <p:nvPr>
            <p:custDataLst>
              <p:tags r:id="rId1"/>
            </p:custDataLst>
          </p:nvPr>
        </p:nvSpPr>
        <p:spPr>
          <a:xfrm>
            <a:off x="4591031" y="1656873"/>
            <a:ext cx="1498619" cy="1733898"/>
          </a:xfrm>
          <a:custGeom>
            <a:avLst/>
            <a:gdLst>
              <a:gd name="connsiteX0" fmla="*/ 886408 w 1498619"/>
              <a:gd name="connsiteY0" fmla="*/ 0 h 1733898"/>
              <a:gd name="connsiteX1" fmla="*/ 1382007 w 1498619"/>
              <a:gd name="connsiteY1" fmla="*/ 151384 h 1733898"/>
              <a:gd name="connsiteX2" fmla="*/ 1498619 w 1498619"/>
              <a:gd name="connsiteY2" fmla="*/ 247598 h 1733898"/>
              <a:gd name="connsiteX3" fmla="*/ 1484044 w 1498619"/>
              <a:gd name="connsiteY3" fmla="*/ 259623 h 1733898"/>
              <a:gd name="connsiteX4" fmla="*/ 1224421 w 1498619"/>
              <a:gd name="connsiteY4" fmla="*/ 886408 h 1733898"/>
              <a:gd name="connsiteX5" fmla="*/ 1228997 w 1498619"/>
              <a:gd name="connsiteY5" fmla="*/ 977038 h 1733898"/>
              <a:gd name="connsiteX6" fmla="*/ 1238658 w 1498619"/>
              <a:gd name="connsiteY6" fmla="*/ 1040335 h 1733898"/>
              <a:gd name="connsiteX7" fmla="*/ 1235027 w 1498619"/>
              <a:gd name="connsiteY7" fmla="*/ 1041268 h 1733898"/>
              <a:gd name="connsiteX8" fmla="*/ 630219 w 1498619"/>
              <a:gd name="connsiteY8" fmla="*/ 1709183 h 1733898"/>
              <a:gd name="connsiteX9" fmla="*/ 626447 w 1498619"/>
              <a:gd name="connsiteY9" fmla="*/ 1733898 h 1733898"/>
              <a:gd name="connsiteX10" fmla="*/ 622817 w 1498619"/>
              <a:gd name="connsiteY10" fmla="*/ 1732965 h 1733898"/>
              <a:gd name="connsiteX11" fmla="*/ 0 w 1498619"/>
              <a:gd name="connsiteY11" fmla="*/ 886408 h 1733898"/>
              <a:gd name="connsiteX12" fmla="*/ 886408 w 1498619"/>
              <a:gd name="connsiteY12" fmla="*/ 0 h 1733898"/>
            </a:gdLst>
            <a:ahLst/>
            <a:cxnLst/>
            <a:rect l="l" t="t" r="r" b="b"/>
            <a:pathLst>
              <a:path w="1498619" h="1733898">
                <a:moveTo>
                  <a:pt x="886408" y="0"/>
                </a:moveTo>
                <a:cubicBezTo>
                  <a:pt x="1069989" y="0"/>
                  <a:pt x="1240536" y="55808"/>
                  <a:pt x="1382007" y="151384"/>
                </a:cubicBezTo>
                <a:lnTo>
                  <a:pt x="1498619" y="247598"/>
                </a:lnTo>
                <a:lnTo>
                  <a:pt x="1484044" y="259623"/>
                </a:lnTo>
                <a:cubicBezTo>
                  <a:pt x="1323636" y="420031"/>
                  <a:pt x="1224421" y="641633"/>
                  <a:pt x="1224421" y="886408"/>
                </a:cubicBezTo>
                <a:cubicBezTo>
                  <a:pt x="1224421" y="917005"/>
                  <a:pt x="1225971" y="947240"/>
                  <a:pt x="1228997" y="977038"/>
                </a:cubicBezTo>
                <a:lnTo>
                  <a:pt x="1238658" y="1040335"/>
                </a:lnTo>
                <a:lnTo>
                  <a:pt x="1235027" y="1041268"/>
                </a:lnTo>
                <a:cubicBezTo>
                  <a:pt x="929710" y="1136232"/>
                  <a:pt x="695161" y="1391816"/>
                  <a:pt x="630219" y="1709183"/>
                </a:cubicBezTo>
                <a:lnTo>
                  <a:pt x="626447" y="1733898"/>
                </a:lnTo>
                <a:lnTo>
                  <a:pt x="622817" y="1732965"/>
                </a:lnTo>
                <a:cubicBezTo>
                  <a:pt x="261988" y="1620736"/>
                  <a:pt x="0" y="1284168"/>
                  <a:pt x="0" y="886408"/>
                </a:cubicBezTo>
                <a:cubicBezTo>
                  <a:pt x="0" y="396858"/>
                  <a:pt x="396858" y="0"/>
                  <a:pt x="886408" y="0"/>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custDataLst>
              <p:tags r:id="rId2"/>
            </p:custDataLst>
          </p:nvPr>
        </p:nvSpPr>
        <p:spPr>
          <a:xfrm>
            <a:off x="6089650" y="1656873"/>
            <a:ext cx="1498618" cy="1733899"/>
          </a:xfrm>
          <a:custGeom>
            <a:avLst/>
            <a:gdLst>
              <a:gd name="connsiteX0" fmla="*/ 612210 w 1498618"/>
              <a:gd name="connsiteY0" fmla="*/ 0 h 1733899"/>
              <a:gd name="connsiteX1" fmla="*/ 1498618 w 1498618"/>
              <a:gd name="connsiteY1" fmla="*/ 886408 h 1733899"/>
              <a:gd name="connsiteX2" fmla="*/ 875801 w 1498618"/>
              <a:gd name="connsiteY2" fmla="*/ 1732965 h 1733899"/>
              <a:gd name="connsiteX3" fmla="*/ 872171 w 1498618"/>
              <a:gd name="connsiteY3" fmla="*/ 1733899 h 1733899"/>
              <a:gd name="connsiteX4" fmla="*/ 868398 w 1498618"/>
              <a:gd name="connsiteY4" fmla="*/ 1709183 h 1733899"/>
              <a:gd name="connsiteX5" fmla="*/ 263590 w 1498618"/>
              <a:gd name="connsiteY5" fmla="*/ 1041268 h 1733899"/>
              <a:gd name="connsiteX6" fmla="*/ 259960 w 1498618"/>
              <a:gd name="connsiteY6" fmla="*/ 1040335 h 1733899"/>
              <a:gd name="connsiteX7" fmla="*/ 269621 w 1498618"/>
              <a:gd name="connsiteY7" fmla="*/ 977038 h 1733899"/>
              <a:gd name="connsiteX8" fmla="*/ 274197 w 1498618"/>
              <a:gd name="connsiteY8" fmla="*/ 886408 h 1733899"/>
              <a:gd name="connsiteX9" fmla="*/ 14574 w 1498618"/>
              <a:gd name="connsiteY9" fmla="*/ 259623 h 1733899"/>
              <a:gd name="connsiteX10" fmla="*/ 0 w 1498618"/>
              <a:gd name="connsiteY10" fmla="*/ 247598 h 1733899"/>
              <a:gd name="connsiteX11" fmla="*/ 116611 w 1498618"/>
              <a:gd name="connsiteY11" fmla="*/ 151384 h 1733899"/>
              <a:gd name="connsiteX12" fmla="*/ 612210 w 1498618"/>
              <a:gd name="connsiteY12" fmla="*/ 0 h 1733899"/>
            </a:gdLst>
            <a:ahLst/>
            <a:cxnLst/>
            <a:rect l="l" t="t" r="r" b="b"/>
            <a:pathLst>
              <a:path w="1498618" h="1733899">
                <a:moveTo>
                  <a:pt x="612210" y="0"/>
                </a:moveTo>
                <a:cubicBezTo>
                  <a:pt x="1101760" y="0"/>
                  <a:pt x="1498618" y="396858"/>
                  <a:pt x="1498618" y="886408"/>
                </a:cubicBezTo>
                <a:cubicBezTo>
                  <a:pt x="1498618" y="1284168"/>
                  <a:pt x="1236630" y="1620736"/>
                  <a:pt x="875801" y="1732965"/>
                </a:cubicBezTo>
                <a:lnTo>
                  <a:pt x="872171" y="1733899"/>
                </a:lnTo>
                <a:lnTo>
                  <a:pt x="868398" y="1709183"/>
                </a:lnTo>
                <a:cubicBezTo>
                  <a:pt x="803456" y="1391816"/>
                  <a:pt x="568907" y="1136232"/>
                  <a:pt x="263590" y="1041268"/>
                </a:cubicBezTo>
                <a:lnTo>
                  <a:pt x="259960" y="1040335"/>
                </a:lnTo>
                <a:lnTo>
                  <a:pt x="269621" y="977038"/>
                </a:lnTo>
                <a:cubicBezTo>
                  <a:pt x="272647" y="947240"/>
                  <a:pt x="274197" y="917005"/>
                  <a:pt x="274197" y="886408"/>
                </a:cubicBezTo>
                <a:cubicBezTo>
                  <a:pt x="274197" y="641633"/>
                  <a:pt x="174983" y="420031"/>
                  <a:pt x="14574" y="259623"/>
                </a:cubicBezTo>
                <a:lnTo>
                  <a:pt x="0" y="247598"/>
                </a:lnTo>
                <a:lnTo>
                  <a:pt x="116611" y="151384"/>
                </a:lnTo>
                <a:cubicBezTo>
                  <a:pt x="258083" y="55808"/>
                  <a:pt x="428629" y="0"/>
                  <a:pt x="612210" y="0"/>
                </a:cubicBez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custDataLst>
              <p:tags r:id="rId3"/>
            </p:custDataLst>
          </p:nvPr>
        </p:nvSpPr>
        <p:spPr>
          <a:xfrm>
            <a:off x="5203240" y="3182091"/>
            <a:ext cx="1772816" cy="1249015"/>
          </a:xfrm>
          <a:custGeom>
            <a:avLst/>
            <a:gdLst>
              <a:gd name="connsiteX0" fmla="*/ 886409 w 1772816"/>
              <a:gd name="connsiteY0" fmla="*/ 0 h 1249015"/>
              <a:gd name="connsiteX1" fmla="*/ 1003020 w 1772816"/>
              <a:gd name="connsiteY1" fmla="*/ 96214 h 1249015"/>
              <a:gd name="connsiteX2" fmla="*/ 1498619 w 1772816"/>
              <a:gd name="connsiteY2" fmla="*/ 247598 h 1249015"/>
              <a:gd name="connsiteX3" fmla="*/ 1677261 w 1772816"/>
              <a:gd name="connsiteY3" fmla="*/ 229589 h 1249015"/>
              <a:gd name="connsiteX4" fmla="*/ 1758580 w 1772816"/>
              <a:gd name="connsiteY4" fmla="*/ 208681 h 1249015"/>
              <a:gd name="connsiteX5" fmla="*/ 1768240 w 1772816"/>
              <a:gd name="connsiteY5" fmla="*/ 271977 h 1249015"/>
              <a:gd name="connsiteX6" fmla="*/ 1772816 w 1772816"/>
              <a:gd name="connsiteY6" fmla="*/ 362607 h 1249015"/>
              <a:gd name="connsiteX7" fmla="*/ 886408 w 1772816"/>
              <a:gd name="connsiteY7" fmla="*/ 1249015 h 1249015"/>
              <a:gd name="connsiteX8" fmla="*/ 0 w 1772816"/>
              <a:gd name="connsiteY8" fmla="*/ 362607 h 1249015"/>
              <a:gd name="connsiteX9" fmla="*/ 4576 w 1772816"/>
              <a:gd name="connsiteY9" fmla="*/ 271977 h 1249015"/>
              <a:gd name="connsiteX10" fmla="*/ 14237 w 1772816"/>
              <a:gd name="connsiteY10" fmla="*/ 208680 h 1249015"/>
              <a:gd name="connsiteX11" fmla="*/ 95556 w 1772816"/>
              <a:gd name="connsiteY11" fmla="*/ 229589 h 1249015"/>
              <a:gd name="connsiteX12" fmla="*/ 274198 w 1772816"/>
              <a:gd name="connsiteY12" fmla="*/ 247598 h 1249015"/>
              <a:gd name="connsiteX13" fmla="*/ 769797 w 1772816"/>
              <a:gd name="connsiteY13" fmla="*/ 96214 h 1249015"/>
              <a:gd name="connsiteX14" fmla="*/ 886409 w 1772816"/>
              <a:gd name="connsiteY14" fmla="*/ 0 h 1249015"/>
            </a:gdLst>
            <a:ahLst/>
            <a:cxnLst/>
            <a:rect l="l" t="t" r="r" b="b"/>
            <a:pathLst>
              <a:path w="1772816" h="1249015">
                <a:moveTo>
                  <a:pt x="886409" y="0"/>
                </a:moveTo>
                <a:lnTo>
                  <a:pt x="1003020" y="96214"/>
                </a:lnTo>
                <a:cubicBezTo>
                  <a:pt x="1144492" y="191790"/>
                  <a:pt x="1315038" y="247598"/>
                  <a:pt x="1498619" y="247598"/>
                </a:cubicBezTo>
                <a:cubicBezTo>
                  <a:pt x="1559813" y="247598"/>
                  <a:pt x="1619558" y="241397"/>
                  <a:pt x="1677261" y="229589"/>
                </a:cubicBezTo>
                <a:lnTo>
                  <a:pt x="1758580" y="208681"/>
                </a:lnTo>
                <a:lnTo>
                  <a:pt x="1768240" y="271977"/>
                </a:lnTo>
                <a:cubicBezTo>
                  <a:pt x="1771266" y="301775"/>
                  <a:pt x="1772816" y="332010"/>
                  <a:pt x="1772816" y="362607"/>
                </a:cubicBezTo>
                <a:cubicBezTo>
                  <a:pt x="1772816" y="852157"/>
                  <a:pt x="1375958" y="1249015"/>
                  <a:pt x="886408" y="1249015"/>
                </a:cubicBezTo>
                <a:cubicBezTo>
                  <a:pt x="396858" y="1249015"/>
                  <a:pt x="0" y="852157"/>
                  <a:pt x="0" y="362607"/>
                </a:cubicBezTo>
                <a:cubicBezTo>
                  <a:pt x="0" y="332010"/>
                  <a:pt x="1550" y="301775"/>
                  <a:pt x="4576" y="271977"/>
                </a:cubicBezTo>
                <a:lnTo>
                  <a:pt x="14237" y="208680"/>
                </a:lnTo>
                <a:lnTo>
                  <a:pt x="95556" y="229589"/>
                </a:lnTo>
                <a:cubicBezTo>
                  <a:pt x="153259" y="241397"/>
                  <a:pt x="213004" y="247598"/>
                  <a:pt x="274198" y="247598"/>
                </a:cubicBezTo>
                <a:cubicBezTo>
                  <a:pt x="457779" y="247598"/>
                  <a:pt x="628326" y="191790"/>
                  <a:pt x="769797" y="96214"/>
                </a:cubicBezTo>
                <a:lnTo>
                  <a:pt x="886409" y="0"/>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custDataLst>
              <p:tags r:id="rId4"/>
            </p:custDataLst>
          </p:nvPr>
        </p:nvSpPr>
        <p:spPr>
          <a:xfrm>
            <a:off x="4509319" y="5119078"/>
            <a:ext cx="3165175" cy="1197644"/>
          </a:xfrm>
          <a:prstGeom prst="rect">
            <a:avLst/>
          </a:prstGeom>
          <a:noFill/>
          <a:ln cap="sq">
            <a:noFill/>
          </a:ln>
        </p:spPr>
        <p:txBody>
          <a:bodyPr vert="horz" wrap="square" lIns="0" tIns="0" rIns="0" bIns="0" rtlCol="0" anchor="t"/>
          <a:lstStyle/>
          <a:p>
            <a:pPr algn="l">
              <a:lnSpc>
                <a:spcPct val="150000"/>
              </a:lnSpc>
            </a:pPr>
            <a:r>
              <a:rPr kumimoji="1" lang="en-US" altLang="zh-CN" sz="1400">
                <a:solidFill>
                  <a:srgbClr val="FF0000">
                    <a:alpha val="100000"/>
                  </a:srgbClr>
                </a:solidFill>
                <a:latin typeface="微软雅黑" panose="020B0503020204020204" charset="-122"/>
                <a:ea typeface="微软雅黑" panose="020B0503020204020204" charset="-122"/>
                <a:cs typeface="微软雅黑" panose="020B0503020204020204" charset="-122"/>
              </a:rPr>
              <a:t>单片机通过多种通信接口与各模块连接，实现数据采集与指令发送。</a:t>
            </a:r>
            <a:r>
              <a:rPr kumimoji="1" lang="en-US" altLang="zh-CN" sz="1400">
                <a:solidFill>
                  <a:srgbClr val="262626">
                    <a:alpha val="100000"/>
                  </a:srgbClr>
                </a:solidFill>
                <a:latin typeface="微软雅黑" panose="020B0503020204020204" charset="-122"/>
                <a:ea typeface="微软雅黑" panose="020B0503020204020204" charset="-122"/>
                <a:cs typeface="微软雅黑" panose="020B0503020204020204" charset="-122"/>
              </a:rPr>
              <a:t>
支持多种通信协议，可根据实际需求选择合适的通信方式，提高系统兼容性与稳定性。</a:t>
            </a:r>
            <a:endParaRPr kumimoji="1" lang="zh-CN" altLang="en-US" sz="1400">
              <a:latin typeface="微软雅黑" panose="020B0503020204020204" charset="-122"/>
              <a:ea typeface="微软雅黑" panose="020B0503020204020204" charset="-122"/>
              <a:cs typeface="微软雅黑" panose="020B0503020204020204" charset="-122"/>
            </a:endParaRPr>
          </a:p>
        </p:txBody>
      </p:sp>
      <p:sp>
        <p:nvSpPr>
          <p:cNvPr id="8" name="标题 1"/>
          <p:cNvSpPr txBox="1"/>
          <p:nvPr>
            <p:custDataLst>
              <p:tags r:id="rId5"/>
            </p:custDataLst>
          </p:nvPr>
        </p:nvSpPr>
        <p:spPr>
          <a:xfrm>
            <a:off x="4504806" y="4431106"/>
            <a:ext cx="3165175" cy="579733"/>
          </a:xfrm>
          <a:prstGeom prst="rect">
            <a:avLst/>
          </a:prstGeom>
          <a:noFill/>
          <a:ln cap="sq">
            <a:noFill/>
          </a:ln>
        </p:spPr>
        <p:txBody>
          <a:bodyPr vert="horz" wrap="square" lIns="0" tIns="0" rIns="0" bIns="0" rtlCol="0" anchor="b"/>
          <a:lstStyle/>
          <a:p>
            <a:pPr algn="ctr">
              <a:lnSpc>
                <a:spcPct val="130000"/>
              </a:lnSpc>
            </a:pPr>
            <a:r>
              <a:rPr kumimoji="1" lang="en-US" altLang="zh-CN" sz="1600">
                <a:solidFill>
                  <a:srgbClr val="00B0F0">
                    <a:alpha val="100000"/>
                  </a:srgbClr>
                </a:solidFill>
                <a:latin typeface="Source Han Sans CN Bold" panose="020B0800000000000000" charset="-122"/>
                <a:ea typeface="Source Han Sans CN Bold" panose="020B0800000000000000" charset="-122"/>
                <a:cs typeface="Source Han Sans CN Bold" panose="020B0800000000000000" charset="-122"/>
              </a:rPr>
              <a:t>数据传输</a:t>
            </a:r>
            <a:endParaRPr kumimoji="1" lang="zh-CN" altLang="en-US"/>
          </a:p>
        </p:txBody>
      </p:sp>
      <p:sp>
        <p:nvSpPr>
          <p:cNvPr id="9" name="标题 1"/>
          <p:cNvSpPr txBox="1"/>
          <p:nvPr>
            <p:custDataLst>
              <p:tags r:id="rId6"/>
            </p:custDataLst>
          </p:nvPr>
        </p:nvSpPr>
        <p:spPr>
          <a:xfrm>
            <a:off x="1054866" y="2164646"/>
            <a:ext cx="3165175" cy="1197644"/>
          </a:xfrm>
          <a:prstGeom prst="rect">
            <a:avLst/>
          </a:prstGeom>
          <a:noFill/>
          <a:ln cap="sq">
            <a:noFill/>
          </a:ln>
        </p:spPr>
        <p:txBody>
          <a:bodyPr vert="horz" wrap="square" lIns="0" tIns="0" rIns="0" bIns="0" rtlCol="0" anchor="t"/>
          <a:lstStyle/>
          <a:p>
            <a:pPr algn="l">
              <a:lnSpc>
                <a:spcPct val="150000"/>
              </a:lnSpc>
            </a:pPr>
            <a:r>
              <a:rPr kumimoji="1" lang="en-US" altLang="zh-CN" sz="1400">
                <a:solidFill>
                  <a:srgbClr val="FF0000">
                    <a:alpha val="100000"/>
                  </a:srgbClr>
                </a:solidFill>
                <a:latin typeface="微软雅黑" panose="020B0503020204020204" charset="-122"/>
                <a:ea typeface="微软雅黑" panose="020B0503020204020204" charset="-122"/>
                <a:cs typeface="微软雅黑" panose="020B0503020204020204" charset="-122"/>
              </a:rPr>
              <a:t>STM32F103C8T6单片机作为系统主控制器，负责各模块的协调与控制。
</a:t>
            </a:r>
            <a:r>
              <a:rPr kumimoji="1" lang="en-US" altLang="zh-CN" sz="1400">
                <a:solidFill>
                  <a:srgbClr val="262626">
                    <a:alpha val="100000"/>
                  </a:srgbClr>
                </a:solidFill>
                <a:latin typeface="微软雅黑" panose="020B0503020204020204" charset="-122"/>
                <a:ea typeface="微软雅黑" panose="020B0503020204020204" charset="-122"/>
                <a:cs typeface="微软雅黑" panose="020B0503020204020204" charset="-122"/>
              </a:rPr>
              <a:t>具有高性能处理器、丰富的外设接口与大容量存储空间，满足系统运行需求</a:t>
            </a:r>
            <a:r>
              <a:rPr kumimoji="1" lang="en-US" altLang="zh-CN" sz="1400">
                <a:solidFill>
                  <a:srgbClr val="262626">
                    <a:alpha val="100000"/>
                  </a:srgbClr>
                </a:solidFill>
                <a:latin typeface="Source Han Sans" panose="020B0500000000000000" charset="-122"/>
                <a:ea typeface="Source Han Sans" panose="020B0500000000000000" charset="-122"/>
                <a:cs typeface="Source Han Sans" panose="020B0500000000000000" charset="-122"/>
              </a:rPr>
              <a:t>。</a:t>
            </a:r>
            <a:endParaRPr kumimoji="1" lang="zh-CN" altLang="en-US"/>
          </a:p>
        </p:txBody>
      </p:sp>
      <p:sp>
        <p:nvSpPr>
          <p:cNvPr id="10" name="标题 1"/>
          <p:cNvSpPr txBox="1"/>
          <p:nvPr>
            <p:custDataLst>
              <p:tags r:id="rId7"/>
            </p:custDataLst>
          </p:nvPr>
        </p:nvSpPr>
        <p:spPr>
          <a:xfrm>
            <a:off x="880172" y="1476674"/>
            <a:ext cx="3165175" cy="579733"/>
          </a:xfrm>
          <a:prstGeom prst="rect">
            <a:avLst/>
          </a:prstGeom>
          <a:noFill/>
          <a:ln cap="sq">
            <a:noFill/>
          </a:ln>
        </p:spPr>
        <p:txBody>
          <a:bodyPr vert="horz" wrap="square" lIns="0" tIns="0" rIns="0" bIns="0" rtlCol="0" anchor="b"/>
          <a:lstStyle/>
          <a:p>
            <a:pPr algn="ctr">
              <a:lnSpc>
                <a:spcPct val="130000"/>
              </a:lnSpc>
            </a:pPr>
            <a:r>
              <a:rPr kumimoji="1" lang="en-US" altLang="zh-CN" sz="1600">
                <a:solidFill>
                  <a:srgbClr val="0165FF">
                    <a:alpha val="100000"/>
                  </a:srgbClr>
                </a:solidFill>
                <a:latin typeface="Source Han Sans CN Bold" panose="020B0800000000000000" charset="-122"/>
                <a:ea typeface="Source Han Sans CN Bold" panose="020B0800000000000000" charset="-122"/>
                <a:cs typeface="Source Han Sans CN Bold" panose="020B0800000000000000" charset="-122"/>
              </a:rPr>
              <a:t>模块功能</a:t>
            </a:r>
            <a:endParaRPr kumimoji="1" lang="zh-CN" altLang="en-US"/>
          </a:p>
        </p:txBody>
      </p:sp>
      <p:sp>
        <p:nvSpPr>
          <p:cNvPr id="11" name="标题 1"/>
          <p:cNvSpPr txBox="1"/>
          <p:nvPr>
            <p:custDataLst>
              <p:tags r:id="rId8"/>
            </p:custDataLst>
          </p:nvPr>
        </p:nvSpPr>
        <p:spPr>
          <a:xfrm>
            <a:off x="7959258" y="2164646"/>
            <a:ext cx="2858744" cy="1197644"/>
          </a:xfrm>
          <a:prstGeom prst="rect">
            <a:avLst/>
          </a:prstGeom>
          <a:noFill/>
          <a:ln cap="sq">
            <a:noFill/>
          </a:ln>
        </p:spPr>
        <p:txBody>
          <a:bodyPr vert="horz" wrap="square" lIns="0" tIns="0" rIns="0" bIns="0" rtlCol="0" anchor="t"/>
          <a:lstStyle/>
          <a:p>
            <a:pPr>
              <a:lnSpc>
                <a:spcPct val="150000"/>
              </a:lnSpc>
            </a:pPr>
            <a:r>
              <a:rPr kumimoji="1" lang="en-US" altLang="zh-CN" sz="1400">
                <a:solidFill>
                  <a:srgbClr val="FF0000">
                    <a:alpha val="100000"/>
                  </a:srgbClr>
                </a:solidFill>
                <a:latin typeface="微软雅黑" panose="020B0503020204020204" charset="-122"/>
                <a:ea typeface="微软雅黑" panose="020B0503020204020204" charset="-122"/>
                <a:cs typeface="微软雅黑" panose="020B0503020204020204" charset="-122"/>
              </a:rPr>
              <a:t>在智能婴儿</a:t>
            </a:r>
            <a:r>
              <a:rPr kumimoji="1" lang="zh-CN" altLang="en-US" sz="1400">
                <a:solidFill>
                  <a:srgbClr val="FF0000">
                    <a:alpha val="100000"/>
                  </a:srgbClr>
                </a:solidFill>
                <a:latin typeface="微软雅黑" panose="020B0503020204020204" charset="-122"/>
                <a:ea typeface="微软雅黑" panose="020B0503020204020204" charset="-122"/>
                <a:cs typeface="微软雅黑" panose="020B0503020204020204" charset="-122"/>
              </a:rPr>
              <a:t>车</a:t>
            </a:r>
            <a:r>
              <a:rPr kumimoji="1" lang="en-US" altLang="zh-CN" sz="1400">
                <a:solidFill>
                  <a:srgbClr val="FF0000">
                    <a:alpha val="100000"/>
                  </a:srgbClr>
                </a:solidFill>
                <a:latin typeface="微软雅黑" panose="020B0503020204020204" charset="-122"/>
                <a:ea typeface="微软雅黑" panose="020B0503020204020204" charset="-122"/>
                <a:cs typeface="微软雅黑" panose="020B0503020204020204" charset="-122"/>
              </a:rPr>
              <a:t>系统中，根据环境数据</a:t>
            </a:r>
            <a:r>
              <a:rPr kumimoji="1" lang="en-US" altLang="zh-CN" sz="1400">
                <a:solidFill>
                  <a:srgbClr val="262626">
                    <a:alpha val="100000"/>
                  </a:srgbClr>
                </a:solidFill>
                <a:latin typeface="微软雅黑" panose="020B0503020204020204" charset="-122"/>
                <a:ea typeface="微软雅黑" panose="020B0503020204020204" charset="-122"/>
                <a:cs typeface="微软雅黑" panose="020B0503020204020204" charset="-122"/>
              </a:rPr>
              <a:t>自动控制设备运行，实现智能调控。
采集设备运行数据，进行故障诊断与预警，保障系统稳定运行。</a:t>
            </a:r>
            <a:endParaRPr kumimoji="1" lang="zh-CN" altLang="en-US" sz="1400">
              <a:latin typeface="微软雅黑" panose="020B0503020204020204" charset="-122"/>
              <a:ea typeface="微软雅黑" panose="020B0503020204020204" charset="-122"/>
              <a:cs typeface="微软雅黑" panose="020B0503020204020204" charset="-122"/>
            </a:endParaRPr>
          </a:p>
        </p:txBody>
      </p:sp>
      <p:sp>
        <p:nvSpPr>
          <p:cNvPr id="12" name="标题 1"/>
          <p:cNvSpPr txBox="1"/>
          <p:nvPr>
            <p:custDataLst>
              <p:tags r:id="rId9"/>
            </p:custDataLst>
          </p:nvPr>
        </p:nvSpPr>
        <p:spPr>
          <a:xfrm>
            <a:off x="7954744" y="1476674"/>
            <a:ext cx="2858744" cy="579733"/>
          </a:xfrm>
          <a:prstGeom prst="rect">
            <a:avLst/>
          </a:prstGeom>
          <a:noFill/>
          <a:ln cap="sq">
            <a:noFill/>
          </a:ln>
        </p:spPr>
        <p:txBody>
          <a:bodyPr vert="horz" wrap="square" lIns="0" tIns="0" rIns="0" bIns="0" rtlCol="0" anchor="b"/>
          <a:lstStyle/>
          <a:p>
            <a:pPr algn="ctr">
              <a:lnSpc>
                <a:spcPct val="130000"/>
              </a:lnSpc>
            </a:pPr>
            <a:r>
              <a:rPr kumimoji="1" lang="en-US" altLang="zh-CN" sz="1600">
                <a:solidFill>
                  <a:srgbClr val="0165FF">
                    <a:alpha val="100000"/>
                  </a:srgbClr>
                </a:solidFill>
                <a:latin typeface="Source Han Sans CN Bold" panose="020B0800000000000000" charset="-122"/>
                <a:ea typeface="Source Han Sans CN Bold" panose="020B0800000000000000" charset="-122"/>
                <a:cs typeface="Source Han Sans CN Bold" panose="020B0800000000000000" charset="-122"/>
              </a:rPr>
              <a:t>应用场景</a:t>
            </a:r>
            <a:endParaRPr kumimoji="1" lang="zh-CN" altLang="en-US"/>
          </a:p>
        </p:txBody>
      </p:sp>
      <p:sp>
        <p:nvSpPr>
          <p:cNvPr id="13" name="标题 1"/>
          <p:cNvSpPr txBox="1"/>
          <p:nvPr>
            <p:custDataLst>
              <p:tags r:id="rId10"/>
            </p:custDataLst>
          </p:nvPr>
        </p:nvSpPr>
        <p:spPr>
          <a:xfrm>
            <a:off x="6747133" y="2154579"/>
            <a:ext cx="457846" cy="457846"/>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nSpc>
                <a:spcPct val="110000"/>
              </a:lnSpc>
            </a:pPr>
            <a:endParaRPr kumimoji="1" lang="zh-CN" altLang="en-US"/>
          </a:p>
        </p:txBody>
      </p:sp>
      <p:sp>
        <p:nvSpPr>
          <p:cNvPr id="14" name="标题 1"/>
          <p:cNvSpPr txBox="1"/>
          <p:nvPr>
            <p:custDataLst>
              <p:tags r:id="rId11"/>
            </p:custDataLst>
          </p:nvPr>
        </p:nvSpPr>
        <p:spPr>
          <a:xfrm>
            <a:off x="5045088" y="2154579"/>
            <a:ext cx="400905" cy="457846"/>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bg1"/>
          </a:solidFill>
          <a:ln w="1860" cap="flat">
            <a:noFill/>
            <a:miter/>
          </a:ln>
        </p:spPr>
        <p:txBody>
          <a:bodyPr vert="horz" wrap="square" lIns="91440" tIns="45720" rIns="91440" bIns="45720" rtlCol="0" anchor="ctr"/>
          <a:lstStyle/>
          <a:p>
            <a:pPr>
              <a:lnSpc>
                <a:spcPct val="110000"/>
              </a:lnSpc>
            </a:pPr>
            <a:endParaRPr kumimoji="1" lang="zh-CN" altLang="en-US"/>
          </a:p>
        </p:txBody>
      </p:sp>
      <p:sp>
        <p:nvSpPr>
          <p:cNvPr id="15" name="标题 1"/>
          <p:cNvSpPr txBox="1"/>
          <p:nvPr>
            <p:custDataLst>
              <p:tags r:id="rId12"/>
            </p:custDataLst>
          </p:nvPr>
        </p:nvSpPr>
        <p:spPr>
          <a:xfrm>
            <a:off x="5860725" y="3601102"/>
            <a:ext cx="457846" cy="443075"/>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nSpc>
                <a:spcPct val="110000"/>
              </a:lnSpc>
            </a:pPr>
            <a:endParaRPr kumimoji="1" lang="zh-CN" altLang="en-US"/>
          </a:p>
        </p:txBody>
      </p:sp>
      <p:pic>
        <p:nvPicPr>
          <p:cNvPr id="16" name="图片 52"/>
          <p:cNvPicPr>
            <a:picLocks noChangeAspect="1"/>
          </p:cNvPicPr>
          <p:nvPr>
            <p:custDataLst>
              <p:tags r:id="rId13"/>
            </p:custDataLst>
          </p:nvPr>
        </p:nvPicPr>
        <p:blipFill>
          <a:blip r:embed="rId14"/>
          <a:stretch>
            <a:fillRect/>
          </a:stretch>
        </p:blipFill>
        <p:spPr>
          <a:xfrm>
            <a:off x="659765" y="3510280"/>
            <a:ext cx="3745865" cy="2950845"/>
          </a:xfrm>
          <a:prstGeom prst="rect">
            <a:avLst/>
          </a:prstGeom>
          <a:noFill/>
          <a:ln w="9525">
            <a:noFill/>
          </a:ln>
        </p:spPr>
      </p:pic>
      <p:pic>
        <p:nvPicPr>
          <p:cNvPr id="20" name="图片 2"/>
          <p:cNvPicPr>
            <a:picLocks noChangeAspect="1"/>
          </p:cNvPicPr>
          <p:nvPr>
            <p:custDataLst>
              <p:tags r:id="rId15"/>
            </p:custDataLst>
          </p:nvPr>
        </p:nvPicPr>
        <p:blipFill>
          <a:blip r:embed="rId16">
            <a:lum/>
          </a:blip>
          <a:stretch>
            <a:fillRect/>
          </a:stretch>
        </p:blipFill>
        <p:spPr>
          <a:xfrm>
            <a:off x="7892415" y="3470910"/>
            <a:ext cx="3855720" cy="291973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358515" y="3182620"/>
            <a:ext cx="5334000" cy="857250"/>
          </a:xfrm>
        </p:spPr>
        <p:txBody>
          <a:bodyPr>
            <a:noAutofit/>
            <a:scene3d>
              <a:camera prst="orthographicFront"/>
              <a:lightRig rig="threePt" dir="t"/>
            </a:scene3d>
          </a:bodyPr>
          <a:p>
            <a:r>
              <a:rPr lang="zh-CN" altLang="en-US" sz="8000">
                <a:ln w="9525" cmpd="sng">
                  <a:solidFill>
                    <a:schemeClr val="accent1"/>
                  </a:solidFill>
                  <a:prstDash val="solid"/>
                </a:ln>
                <a:solidFill>
                  <a:srgbClr val="70AD47">
                    <a:tint val="1000"/>
                  </a:srgbClr>
                </a:solidFill>
                <a:effectLst>
                  <a:glow rad="38100">
                    <a:schemeClr val="accent1">
                      <a:alpha val="40000"/>
                    </a:schemeClr>
                  </a:glow>
                </a:effectLst>
              </a:rPr>
              <a:t>硬件模块</a:t>
            </a:r>
            <a:endParaRPr lang="zh-CN" altLang="en-US" sz="8000">
              <a:ln w="9525" cmpd="sng">
                <a:solidFill>
                  <a:schemeClr val="accent1"/>
                </a:solidFill>
                <a:prstDash val="solid"/>
              </a:ln>
              <a:solidFill>
                <a:srgbClr val="70AD47">
                  <a:tint val="1000"/>
                </a:srgbClr>
              </a:solidFill>
              <a:effectLst>
                <a:glow rad="38100">
                  <a:schemeClr val="accent1">
                    <a:alpha val="40000"/>
                  </a:schemeClr>
                </a:glo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en-US" altLang="zh-CN">
                <a:solidFill>
                  <a:srgbClr val="262626">
                    <a:alpha val="100000"/>
                  </a:srgbClr>
                </a:solidFill>
                <a:latin typeface="华文中宋" panose="02010600040101010101" charset="-122"/>
                <a:ea typeface="华文中宋" panose="02010600040101010101" charset="-122"/>
                <a:cs typeface="华文中宋" panose="02010600040101010101" charset="-122"/>
                <a:sym typeface="+mn-ea"/>
              </a:rPr>
              <a:t>STM32F103C8T6单片机</a:t>
            </a:r>
            <a:endParaRPr lang="zh-CN" altLang="en-US"/>
          </a:p>
        </p:txBody>
      </p:sp>
      <p:sp>
        <p:nvSpPr>
          <p:cNvPr id="5" name="标题 1"/>
          <p:cNvSpPr txBox="1"/>
          <p:nvPr>
            <p:custDataLst>
              <p:tags r:id="rId1"/>
            </p:custDataLst>
          </p:nvPr>
        </p:nvSpPr>
        <p:spPr>
          <a:xfrm>
            <a:off x="7496470" y="2830636"/>
            <a:ext cx="539614" cy="264028"/>
          </a:xfrm>
          <a:prstGeom prst="rect">
            <a:avLst/>
          </a:prstGeom>
          <a:noFill/>
          <a:ln>
            <a:noFill/>
          </a:ln>
        </p:spPr>
        <p:txBody>
          <a:bodyPr vert="horz" wrap="square" lIns="0" tIns="0" rIns="0" bIns="0" rtlCol="0" anchor="t"/>
          <a:lstStyle/>
          <a:p>
            <a:pPr algn="ctr">
              <a:lnSpc>
                <a:spcPct val="110000"/>
              </a:lnSpc>
            </a:pPr>
            <a:r>
              <a:rPr kumimoji="1" lang="en-US" altLang="zh-CN" sz="2400">
                <a:solidFill>
                  <a:srgbClr val="FFFFFF">
                    <a:alpha val="100000"/>
                  </a:srgbClr>
                </a:solidFill>
                <a:latin typeface="Source Han Sans" panose="020B0500000000000000" charset="-122"/>
                <a:ea typeface="Source Han Sans" panose="020B0500000000000000" charset="-122"/>
                <a:cs typeface="Source Han Sans" panose="020B0500000000000000" charset="-122"/>
              </a:rPr>
              <a:t>01</a:t>
            </a:r>
            <a:endParaRPr kumimoji="1" lang="zh-CN" altLang="en-US"/>
          </a:p>
        </p:txBody>
      </p:sp>
      <p:sp>
        <p:nvSpPr>
          <p:cNvPr id="34" name="文本框 33"/>
          <p:cNvSpPr txBox="1"/>
          <p:nvPr/>
        </p:nvSpPr>
        <p:spPr>
          <a:xfrm>
            <a:off x="511810" y="3983990"/>
            <a:ext cx="3450590" cy="415925"/>
          </a:xfrm>
          <a:prstGeom prst="rect">
            <a:avLst/>
          </a:prstGeom>
          <a:noFill/>
        </p:spPr>
        <p:txBody>
          <a:bodyPr wrap="square" rtlCol="0">
            <a:noAutofit/>
          </a:bodyPr>
          <a:lstStyle/>
          <a:p>
            <a:r>
              <a:rPr kumimoji="1" lang="en-US" altLang="zh-CN">
                <a:solidFill>
                  <a:srgbClr val="262626">
                    <a:alpha val="100000"/>
                  </a:srgbClr>
                </a:solidFill>
                <a:latin typeface="华文中宋" panose="02010600040101010101" charset="-122"/>
                <a:ea typeface="华文中宋" panose="02010600040101010101" charset="-122"/>
                <a:cs typeface="华文中宋" panose="02010600040101010101" charset="-122"/>
                <a:sym typeface="+mn-ea"/>
              </a:rPr>
              <a:t>ULN2003步进电机驱动模块</a:t>
            </a:r>
            <a:endParaRPr kumimoji="1" lang="zh-CN" altLang="en-US">
              <a:latin typeface="华文中宋" panose="02010600040101010101" charset="-122"/>
              <a:ea typeface="华文中宋" panose="02010600040101010101" charset="-122"/>
              <a:cs typeface="华文中宋" panose="02010600040101010101" charset="-122"/>
            </a:endParaRPr>
          </a:p>
          <a:p>
            <a:endParaRPr lang="zh-CN" altLang="en-US"/>
          </a:p>
        </p:txBody>
      </p:sp>
      <p:pic>
        <p:nvPicPr>
          <p:cNvPr id="36" name="图片 35" descr="图片1"/>
          <p:cNvPicPr>
            <a:picLocks noChangeAspect="1"/>
          </p:cNvPicPr>
          <p:nvPr/>
        </p:nvPicPr>
        <p:blipFill>
          <a:blip r:embed="rId2"/>
          <a:stretch>
            <a:fillRect/>
          </a:stretch>
        </p:blipFill>
        <p:spPr>
          <a:xfrm>
            <a:off x="511810" y="1750695"/>
            <a:ext cx="3054350" cy="1733550"/>
          </a:xfrm>
          <a:prstGeom prst="rect">
            <a:avLst/>
          </a:prstGeom>
        </p:spPr>
      </p:pic>
      <p:sp>
        <p:nvSpPr>
          <p:cNvPr id="37" name="文本框 36"/>
          <p:cNvSpPr txBox="1"/>
          <p:nvPr/>
        </p:nvSpPr>
        <p:spPr>
          <a:xfrm>
            <a:off x="5189220" y="1252220"/>
            <a:ext cx="4011930" cy="985520"/>
          </a:xfrm>
          <a:prstGeom prst="rect">
            <a:avLst/>
          </a:prstGeom>
          <a:noFill/>
        </p:spPr>
        <p:txBody>
          <a:bodyPr wrap="square" rtlCol="0">
            <a:noAutofit/>
          </a:bodyPr>
          <a:lstStyle/>
          <a:p>
            <a:r>
              <a:rPr kumimoji="1" lang="en-US" altLang="zh-CN">
                <a:ln w="12700">
                  <a:noFill/>
                </a:ln>
                <a:solidFill>
                  <a:srgbClr val="262626">
                    <a:alpha val="100000"/>
                  </a:srgbClr>
                </a:solidFill>
                <a:latin typeface="华文中宋" panose="02010600040101010101" charset="-122"/>
                <a:ea typeface="华文中宋" panose="02010600040101010101" charset="-122"/>
                <a:cs typeface="华文中宋" panose="02010600040101010101" charset="-122"/>
                <a:sym typeface="+mn-ea"/>
              </a:rPr>
              <a:t>OLED屏幕0.96寸</a:t>
            </a:r>
            <a:endParaRPr lang="zh-CN" altLang="en-US"/>
          </a:p>
        </p:txBody>
      </p:sp>
      <p:pic>
        <p:nvPicPr>
          <p:cNvPr id="39" name="图片 38" descr="图片2"/>
          <p:cNvPicPr>
            <a:picLocks noChangeAspect="1"/>
          </p:cNvPicPr>
          <p:nvPr/>
        </p:nvPicPr>
        <p:blipFill>
          <a:blip r:embed="rId3"/>
          <a:stretch>
            <a:fillRect/>
          </a:stretch>
        </p:blipFill>
        <p:spPr>
          <a:xfrm>
            <a:off x="5091430" y="1807845"/>
            <a:ext cx="2113915" cy="1979295"/>
          </a:xfrm>
          <a:prstGeom prst="rect">
            <a:avLst/>
          </a:prstGeom>
        </p:spPr>
      </p:pic>
      <p:sp>
        <p:nvSpPr>
          <p:cNvPr id="40" name="文本框 39"/>
          <p:cNvSpPr txBox="1"/>
          <p:nvPr/>
        </p:nvSpPr>
        <p:spPr>
          <a:xfrm>
            <a:off x="8730615" y="1252220"/>
            <a:ext cx="4064000" cy="645160"/>
          </a:xfrm>
          <a:prstGeom prst="rect">
            <a:avLst/>
          </a:prstGeom>
          <a:noFill/>
        </p:spPr>
        <p:txBody>
          <a:bodyPr wrap="square" rtlCol="0">
            <a:spAutoFit/>
          </a:bodyPr>
          <a:lstStyle/>
          <a:p>
            <a:r>
              <a:rPr kumimoji="1" lang="en-US" altLang="zh-CN">
                <a:ln w="12700">
                  <a:noFill/>
                </a:ln>
                <a:solidFill>
                  <a:srgbClr val="262626">
                    <a:alpha val="100000"/>
                  </a:srgbClr>
                </a:solidFill>
                <a:latin typeface="华文中宋" panose="02010600040101010101" charset="-122"/>
                <a:ea typeface="华文中宋" panose="02010600040101010101" charset="-122"/>
                <a:cs typeface="华文中宋" panose="02010600040101010101" charset="-122"/>
                <a:sym typeface="+mn-ea"/>
              </a:rPr>
              <a:t>DHT11温湿度检测模块</a:t>
            </a:r>
            <a:endParaRPr kumimoji="1" lang="zh-CN" altLang="en-US">
              <a:latin typeface="华文中宋" panose="02010600040101010101" charset="-122"/>
              <a:ea typeface="华文中宋" panose="02010600040101010101" charset="-122"/>
              <a:cs typeface="华文中宋" panose="02010600040101010101" charset="-122"/>
            </a:endParaRPr>
          </a:p>
          <a:p>
            <a:endParaRPr lang="zh-CN" altLang="en-US"/>
          </a:p>
        </p:txBody>
      </p:sp>
      <p:pic>
        <p:nvPicPr>
          <p:cNvPr id="42" name="图片 41" descr="图片3"/>
          <p:cNvPicPr>
            <a:picLocks noChangeAspect="1"/>
          </p:cNvPicPr>
          <p:nvPr/>
        </p:nvPicPr>
        <p:blipFill>
          <a:blip r:embed="rId4"/>
          <a:stretch>
            <a:fillRect/>
          </a:stretch>
        </p:blipFill>
        <p:spPr>
          <a:xfrm>
            <a:off x="4680585" y="4521200"/>
            <a:ext cx="3478530" cy="1635125"/>
          </a:xfrm>
          <a:prstGeom prst="rect">
            <a:avLst/>
          </a:prstGeom>
        </p:spPr>
      </p:pic>
      <p:sp>
        <p:nvSpPr>
          <p:cNvPr id="45" name="文本框 44"/>
          <p:cNvSpPr txBox="1"/>
          <p:nvPr/>
        </p:nvSpPr>
        <p:spPr>
          <a:xfrm>
            <a:off x="5213985" y="4043045"/>
            <a:ext cx="3616325" cy="645160"/>
          </a:xfrm>
          <a:prstGeom prst="rect">
            <a:avLst/>
          </a:prstGeom>
          <a:noFill/>
        </p:spPr>
        <p:txBody>
          <a:bodyPr wrap="square" rtlCol="0">
            <a:spAutoFit/>
          </a:bodyPr>
          <a:lstStyle/>
          <a:p>
            <a:r>
              <a:rPr kumimoji="1" lang="en-US" altLang="zh-CN">
                <a:solidFill>
                  <a:srgbClr val="262626">
                    <a:alpha val="100000"/>
                  </a:srgbClr>
                </a:solidFill>
                <a:latin typeface="华文中宋" panose="02010600040101010101" charset="-122"/>
                <a:ea typeface="华文中宋" panose="02010600040101010101" charset="-122"/>
                <a:cs typeface="华文中宋" panose="02010600040101010101" charset="-122"/>
                <a:sym typeface="+mn-ea"/>
              </a:rPr>
              <a:t>JQ8900</a:t>
            </a:r>
            <a:r>
              <a:rPr kumimoji="1" lang="zh-CN" altLang="en-US">
                <a:solidFill>
                  <a:srgbClr val="262626">
                    <a:alpha val="100000"/>
                  </a:srgbClr>
                </a:solidFill>
                <a:latin typeface="华文中宋" panose="02010600040101010101" charset="-122"/>
                <a:ea typeface="华文中宋" panose="02010600040101010101" charset="-122"/>
                <a:cs typeface="华文中宋" panose="02010600040101010101" charset="-122"/>
                <a:sym typeface="+mn-ea"/>
              </a:rPr>
              <a:t>语音</a:t>
            </a:r>
            <a:r>
              <a:rPr kumimoji="1" lang="en-US" altLang="zh-CN">
                <a:solidFill>
                  <a:srgbClr val="262626">
                    <a:alpha val="100000"/>
                  </a:srgbClr>
                </a:solidFill>
                <a:latin typeface="华文中宋" panose="02010600040101010101" charset="-122"/>
                <a:ea typeface="华文中宋" panose="02010600040101010101" charset="-122"/>
                <a:cs typeface="华文中宋" panose="02010600040101010101" charset="-122"/>
                <a:sym typeface="+mn-ea"/>
              </a:rPr>
              <a:t>模块</a:t>
            </a:r>
            <a:endParaRPr kumimoji="1" lang="zh-CN" altLang="en-US">
              <a:latin typeface="华文中宋" panose="02010600040101010101" charset="-122"/>
              <a:ea typeface="华文中宋" panose="02010600040101010101" charset="-122"/>
              <a:cs typeface="华文中宋" panose="02010600040101010101" charset="-122"/>
            </a:endParaRPr>
          </a:p>
          <a:p>
            <a:endParaRPr lang="zh-CN" altLang="en-US"/>
          </a:p>
        </p:txBody>
      </p:sp>
      <p:pic>
        <p:nvPicPr>
          <p:cNvPr id="50" name="图片 49" descr="图片5"/>
          <p:cNvPicPr>
            <a:picLocks noChangeAspect="1"/>
          </p:cNvPicPr>
          <p:nvPr/>
        </p:nvPicPr>
        <p:blipFill>
          <a:blip r:embed="rId5"/>
          <a:stretch>
            <a:fillRect/>
          </a:stretch>
        </p:blipFill>
        <p:spPr>
          <a:xfrm>
            <a:off x="9150350" y="4599940"/>
            <a:ext cx="2205990" cy="1778635"/>
          </a:xfrm>
          <a:prstGeom prst="rect">
            <a:avLst/>
          </a:prstGeom>
        </p:spPr>
      </p:pic>
      <p:sp>
        <p:nvSpPr>
          <p:cNvPr id="17" name="标题 1"/>
          <p:cNvSpPr txBox="1"/>
          <p:nvPr>
            <p:custDataLst>
              <p:tags r:id="rId6"/>
            </p:custDataLst>
          </p:nvPr>
        </p:nvSpPr>
        <p:spPr>
          <a:xfrm>
            <a:off x="9541510" y="3648710"/>
            <a:ext cx="6280150" cy="1315720"/>
          </a:xfrm>
          <a:prstGeom prst="rect">
            <a:avLst/>
          </a:prstGeom>
          <a:noFill/>
          <a:ln>
            <a:noFill/>
          </a:ln>
        </p:spPr>
        <p:txBody>
          <a:bodyPr vert="horz" wrap="square" lIns="0" tIns="0" rIns="0" bIns="0" rtlCol="0" anchor="ctr"/>
          <a:lstStyle/>
          <a:p>
            <a:pPr>
              <a:lnSpc>
                <a:spcPct val="150000"/>
              </a:lnSpc>
            </a:pPr>
            <a:r>
              <a:rPr kumimoji="1" lang="en-US" altLang="zh-CN" sz="1600">
                <a:solidFill>
                  <a:srgbClr val="262626">
                    <a:alpha val="100000"/>
                  </a:srgbClr>
                </a:solidFill>
                <a:latin typeface="华文中宋" panose="02010600040101010101" charset="-122"/>
                <a:ea typeface="华文中宋" panose="02010600040101010101" charset="-122"/>
                <a:cs typeface="Source Han Sans CN Bold" panose="020B0800000000000000" charset="-122"/>
                <a:sym typeface="+mn-ea"/>
              </a:rPr>
              <a:t>有源蜂鸣器</a:t>
            </a:r>
            <a:endParaRPr kumimoji="1" lang="zh-CN" altLang="en-US" sz="1600">
              <a:latin typeface="华文中宋" panose="02010600040101010101" charset="-122"/>
              <a:ea typeface="华文中宋" panose="02010600040101010101" charset="-122"/>
            </a:endParaRPr>
          </a:p>
          <a:p>
            <a:pPr>
              <a:lnSpc>
                <a:spcPct val="150000"/>
              </a:lnSpc>
            </a:pPr>
            <a:endParaRPr kumimoji="1" lang="zh-CN" altLang="en-US" sz="1600">
              <a:latin typeface="微软雅黑" panose="020B0503020204020204" charset="-122"/>
              <a:ea typeface="微软雅黑" panose="020B0503020204020204" charset="-122"/>
              <a:cs typeface="微软雅黑" panose="020B0503020204020204" charset="-122"/>
            </a:endParaRPr>
          </a:p>
        </p:txBody>
      </p:sp>
      <p:pic>
        <p:nvPicPr>
          <p:cNvPr id="46" name="图片 45" descr="图片4"/>
          <p:cNvPicPr>
            <a:picLocks noChangeAspect="1"/>
          </p:cNvPicPr>
          <p:nvPr/>
        </p:nvPicPr>
        <p:blipFill>
          <a:blip r:embed="rId7"/>
          <a:stretch>
            <a:fillRect/>
          </a:stretch>
        </p:blipFill>
        <p:spPr>
          <a:xfrm>
            <a:off x="8640445" y="1807845"/>
            <a:ext cx="2633345" cy="2011680"/>
          </a:xfrm>
          <a:prstGeom prst="rect">
            <a:avLst/>
          </a:prstGeom>
        </p:spPr>
      </p:pic>
      <p:pic>
        <p:nvPicPr>
          <p:cNvPr id="26" name="图片 25"/>
          <p:cNvPicPr>
            <a:picLocks noChangeAspect="1"/>
          </p:cNvPicPr>
          <p:nvPr/>
        </p:nvPicPr>
        <p:blipFill>
          <a:blip r:embed="rId8"/>
          <a:stretch>
            <a:fillRect/>
          </a:stretch>
        </p:blipFill>
        <p:spPr>
          <a:xfrm>
            <a:off x="407035" y="4399915"/>
            <a:ext cx="3192145" cy="23844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38c66185-fc6f-4e06-80a3-5baa9f8fa447.source.3.zh-Hans.pptx" descr="57603f31-114b-441a-a789-136097b586dc"/>
          <p:cNvGrpSpPr/>
          <p:nvPr/>
        </p:nvGrpSpPr>
        <p:grpSpPr>
          <a:xfrm>
            <a:off x="660400" y="1130312"/>
            <a:ext cx="10858500" cy="5105388"/>
            <a:chOff x="660400" y="1130312"/>
            <a:chExt cx="10858500" cy="5105388"/>
          </a:xfrm>
        </p:grpSpPr>
        <p:sp>
          <p:nvSpPr>
            <p:cNvPr id="3" name="Title" descr="a7c68165-e615-4f2b-a5fe-00e4ed22989b"/>
            <p:cNvSpPr>
              <a:spLocks noChangeAspect="1"/>
            </p:cNvSpPr>
            <p:nvPr/>
          </p:nvSpPr>
          <p:spPr>
            <a:xfrm>
              <a:off x="660400" y="1130312"/>
              <a:ext cx="10858500" cy="6186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2400" b="1" i="0" u="none">
                  <a:solidFill>
                    <a:srgbClr val="000000"/>
                  </a:solidFill>
                  <a:ea typeface="微软雅黑" panose="020B0503020204020204" charset="-122"/>
                </a:rPr>
                <a:t>描述系统从初始化到运行的工作流程</a:t>
              </a:r>
              <a:endParaRPr lang="en-US" sz="2400" b="1" i="0" u="none">
                <a:solidFill>
                  <a:srgbClr val="000000"/>
                </a:solidFill>
                <a:ea typeface="微软雅黑" panose="020B0503020204020204" charset="-122"/>
              </a:endParaRPr>
            </a:p>
          </p:txBody>
        </p:sp>
        <p:cxnSp>
          <p:nvCxnSpPr>
            <p:cNvPr id="2" name="直接连接符 1" descr="1ad8ff3b-9902-4e87-a259-6f35e89d155c"/>
            <p:cNvCxnSpPr/>
            <p:nvPr/>
          </p:nvCxnSpPr>
          <p:spPr>
            <a:xfrm>
              <a:off x="6095981" y="1952012"/>
              <a:ext cx="0" cy="4283688"/>
            </a:xfrm>
            <a:prstGeom prst="line">
              <a:avLst/>
            </a:prstGeom>
            <a:ln w="6350">
              <a:solidFill>
                <a:schemeClr val="tx1">
                  <a:alpha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grpSp>
          <p:nvGrpSpPr>
            <p:cNvPr id="34" name="组合 33" descr="a64495e5-9f89-42e6-b772-c85a3c262643"/>
            <p:cNvGrpSpPr/>
            <p:nvPr/>
          </p:nvGrpSpPr>
          <p:grpSpPr>
            <a:xfrm>
              <a:off x="660400" y="1937497"/>
              <a:ext cx="5435580" cy="2018511"/>
              <a:chOff x="660400" y="1937497"/>
              <a:chExt cx="5435580" cy="2018511"/>
            </a:xfrm>
          </p:grpSpPr>
          <p:sp>
            <p:nvSpPr>
              <p:cNvPr id="7" name="ComponentBackground1" descr="77a2cd36-fb8e-46ee-845b-16179bf78977"/>
              <p:cNvSpPr/>
              <p:nvPr/>
            </p:nvSpPr>
            <p:spPr>
              <a:xfrm>
                <a:off x="660400" y="1937497"/>
                <a:ext cx="5133974" cy="2018511"/>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8" name="Bullet1" descr="b4778ad2-5e14-405e-936d-03e0ddf608e7"/>
              <p:cNvSpPr txBox="1"/>
              <p:nvPr/>
            </p:nvSpPr>
            <p:spPr bwMode="auto">
              <a:xfrm>
                <a:off x="895524" y="2006677"/>
                <a:ext cx="4571548" cy="482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000000"/>
                    </a:solidFill>
                    <a:ea typeface="微软雅黑" panose="020B0503020204020204" charset="-122"/>
                  </a:rPr>
                  <a:t>初始化</a:t>
                </a:r>
                <a:endParaRPr lang="en-US" sz="1800" b="1" i="0" u="none">
                  <a:solidFill>
                    <a:srgbClr val="000000"/>
                  </a:solidFill>
                  <a:ea typeface="微软雅黑" panose="020B0503020204020204" charset="-122"/>
                </a:endParaRPr>
              </a:p>
            </p:txBody>
          </p:sp>
          <p:sp>
            <p:nvSpPr>
              <p:cNvPr id="9" name="Text1" descr="cd5a80e9-7b6e-40f9-a11f-42ae029a22aa"/>
              <p:cNvSpPr txBox="1"/>
              <p:nvPr/>
            </p:nvSpPr>
            <p:spPr bwMode="auto">
              <a:xfrm>
                <a:off x="895524" y="2558257"/>
                <a:ext cx="4571548" cy="1326963"/>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600" b="0" i="0" u="none" strike="noStrike">
                    <a:solidFill>
                      <a:srgbClr val="000000"/>
                    </a:solidFill>
                    <a:ea typeface="微软雅黑" panose="020B0503020204020204" charset="-122"/>
                  </a:rPr>
                  <a:t>系统上电后，单片机初始化各模块，检查硬件连接状态，确保系统正常运行。初始化完成后，进入待机模式，等待用户操作或环境数据变化。</a:t>
                </a:r>
                <a:endParaRPr lang="en-US" sz="1600" b="0" i="0" u="none" strike="noStrike">
                  <a:solidFill>
                    <a:srgbClr val="000000"/>
                  </a:solidFill>
                  <a:ea typeface="微软雅黑" panose="020B0503020204020204" charset="-122"/>
                </a:endParaRPr>
              </a:p>
            </p:txBody>
          </p:sp>
          <p:sp>
            <p:nvSpPr>
              <p:cNvPr id="6" name="Number1" descr="8465369a-39a6-4161-9e36-ac9d1ca2ee9e"/>
              <p:cNvSpPr/>
              <p:nvPr/>
            </p:nvSpPr>
            <p:spPr>
              <a:xfrm>
                <a:off x="5524462" y="2680446"/>
                <a:ext cx="571518" cy="53261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1</a:t>
                </a:r>
                <a:endParaRPr lang="en-US" sz="1200" b="0" i="0" u="none">
                  <a:solidFill>
                    <a:srgbClr val="FFFFFF"/>
                  </a:solidFill>
                  <a:latin typeface="Arial" panose="020B0604020202020204"/>
                </a:endParaRPr>
              </a:p>
            </p:txBody>
          </p:sp>
        </p:grpSp>
        <p:grpSp>
          <p:nvGrpSpPr>
            <p:cNvPr id="35" name="组合 34" descr="23537881-4634-449a-ac45-29d736cdab52"/>
            <p:cNvGrpSpPr/>
            <p:nvPr/>
          </p:nvGrpSpPr>
          <p:grpSpPr>
            <a:xfrm>
              <a:off x="6095981" y="3026544"/>
              <a:ext cx="5422919" cy="2018510"/>
              <a:chOff x="6095981" y="3026544"/>
              <a:chExt cx="5422919" cy="2018510"/>
            </a:xfrm>
          </p:grpSpPr>
          <p:sp>
            <p:nvSpPr>
              <p:cNvPr id="13" name="ComponentBackground2" descr="c35e9a13-85e7-4e12-bdac-faf36f7e1afd"/>
              <p:cNvSpPr/>
              <p:nvPr/>
            </p:nvSpPr>
            <p:spPr>
              <a:xfrm flipH="1">
                <a:off x="6397587" y="3026544"/>
                <a:ext cx="5121313" cy="2018510"/>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14" name="Bullet2" descr="185abd63-b710-4ebd-b1af-9b99bbce4de9"/>
              <p:cNvSpPr txBox="1"/>
              <p:nvPr/>
            </p:nvSpPr>
            <p:spPr bwMode="auto">
              <a:xfrm>
                <a:off x="6701006" y="3095725"/>
                <a:ext cx="4571548" cy="482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000000"/>
                    </a:solidFill>
                    <a:ea typeface="微软雅黑" panose="020B0503020204020204" charset="-122"/>
                  </a:rPr>
                  <a:t>数据采集与处理</a:t>
                </a:r>
                <a:endParaRPr lang="en-US" sz="1800" b="1" i="0" u="none">
                  <a:solidFill>
                    <a:srgbClr val="000000"/>
                  </a:solidFill>
                  <a:ea typeface="微软雅黑" panose="020B0503020204020204" charset="-122"/>
                </a:endParaRPr>
              </a:p>
            </p:txBody>
          </p:sp>
          <p:sp>
            <p:nvSpPr>
              <p:cNvPr id="15" name="Text2" descr="9f453bfb-4c5b-4d8e-954e-98676e3fdfd4"/>
              <p:cNvSpPr txBox="1"/>
              <p:nvPr/>
            </p:nvSpPr>
            <p:spPr bwMode="auto">
              <a:xfrm>
                <a:off x="6701006" y="3647306"/>
                <a:ext cx="4571548" cy="1326962"/>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600" b="0" i="0" u="none" strike="noStrike">
                    <a:solidFill>
                      <a:srgbClr val="000000"/>
                    </a:solidFill>
                    <a:ea typeface="微软雅黑" panose="020B0503020204020204" charset="-122"/>
                  </a:rPr>
                  <a:t>温湿度检测模块、声音检测模块等实时采集环境数据，传输至单片机。单片机对采集到的数据进行处理，判断是否需要触发报警或控制设备</a:t>
                </a:r>
                <a:r>
                  <a:rPr lang="en-US" sz="1200" b="0" i="0" u="none" strike="noStrike">
                    <a:solidFill>
                      <a:srgbClr val="000000"/>
                    </a:solidFill>
                    <a:ea typeface="微软雅黑" panose="020B0503020204020204" charset="-122"/>
                  </a:rPr>
                  <a:t>。</a:t>
                </a:r>
                <a:endParaRPr lang="en-US" sz="1200" b="0" i="0" u="none" strike="noStrike">
                  <a:solidFill>
                    <a:srgbClr val="000000"/>
                  </a:solidFill>
                  <a:ea typeface="微软雅黑" panose="020B0503020204020204" charset="-122"/>
                </a:endParaRPr>
              </a:p>
            </p:txBody>
          </p:sp>
          <p:sp>
            <p:nvSpPr>
              <p:cNvPr id="12" name="Number2" descr="3a3476ee-08b3-4234-8c4e-c91191787d25"/>
              <p:cNvSpPr/>
              <p:nvPr/>
            </p:nvSpPr>
            <p:spPr>
              <a:xfrm>
                <a:off x="6095981" y="3769493"/>
                <a:ext cx="571518" cy="53261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2</a:t>
                </a:r>
                <a:endParaRPr lang="en-US" sz="1200" b="0" i="0" u="none">
                  <a:solidFill>
                    <a:srgbClr val="FFFFFF"/>
                  </a:solidFill>
                  <a:latin typeface="Arial" panose="020B0604020202020204"/>
                </a:endParaRPr>
              </a:p>
            </p:txBody>
          </p:sp>
        </p:grpSp>
        <p:grpSp>
          <p:nvGrpSpPr>
            <p:cNvPr id="36" name="组合 35" descr="e8349f68-0b88-4e44-90a1-82dc0ec14358"/>
            <p:cNvGrpSpPr/>
            <p:nvPr/>
          </p:nvGrpSpPr>
          <p:grpSpPr>
            <a:xfrm>
              <a:off x="660400" y="4115589"/>
              <a:ext cx="5435580" cy="2018511"/>
              <a:chOff x="660400" y="4115589"/>
              <a:chExt cx="5435580" cy="2018511"/>
            </a:xfrm>
          </p:grpSpPr>
          <p:sp>
            <p:nvSpPr>
              <p:cNvPr id="19" name="ComponentBackground3" descr="9cdf7314-8734-41cb-8936-ea53f75931fa"/>
              <p:cNvSpPr/>
              <p:nvPr/>
            </p:nvSpPr>
            <p:spPr>
              <a:xfrm>
                <a:off x="660400" y="4115589"/>
                <a:ext cx="5133974" cy="2018511"/>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p>
            </p:txBody>
          </p:sp>
          <p:sp>
            <p:nvSpPr>
              <p:cNvPr id="20" name="Bullet3" descr="0c40eb2d-5f83-479d-97a2-ccd366e9ace2"/>
              <p:cNvSpPr txBox="1"/>
              <p:nvPr/>
            </p:nvSpPr>
            <p:spPr bwMode="auto">
              <a:xfrm>
                <a:off x="895524" y="4184769"/>
                <a:ext cx="4571548" cy="482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000000"/>
                    </a:solidFill>
                    <a:ea typeface="微软雅黑" panose="020B0503020204020204" charset="-122"/>
                  </a:rPr>
                  <a:t>控制与反馈</a:t>
                </a:r>
                <a:endParaRPr lang="en-US" sz="1800" b="1" i="0" u="none">
                  <a:solidFill>
                    <a:srgbClr val="000000"/>
                  </a:solidFill>
                  <a:ea typeface="微软雅黑" panose="020B0503020204020204" charset="-122"/>
                </a:endParaRPr>
              </a:p>
            </p:txBody>
          </p:sp>
          <p:sp>
            <p:nvSpPr>
              <p:cNvPr id="21" name="Text3" descr="47ba6bbd-5a0e-4a92-9172-a87c28359165"/>
              <p:cNvSpPr txBox="1"/>
              <p:nvPr/>
            </p:nvSpPr>
            <p:spPr bwMode="auto">
              <a:xfrm>
                <a:off x="895524" y="4736351"/>
                <a:ext cx="4571548" cy="1326963"/>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600" b="0" i="0" u="none" strike="noStrike">
                    <a:solidFill>
                      <a:srgbClr val="000000"/>
                    </a:solidFill>
                    <a:ea typeface="微软雅黑" panose="020B0503020204020204" charset="-122"/>
                  </a:rPr>
                  <a:t>根据处理结果，单片机控制步进电机、通风设备、语音模块等，实现环境调控与用户提醒。通过OLED屏幕实时显示环境数据与设备状态，为家长提供直观信息。</a:t>
                </a:r>
                <a:endParaRPr lang="en-US" sz="1600" b="0" i="0" u="none" strike="noStrike">
                  <a:solidFill>
                    <a:srgbClr val="000000"/>
                  </a:solidFill>
                  <a:ea typeface="微软雅黑" panose="020B0503020204020204" charset="-122"/>
                </a:endParaRPr>
              </a:p>
            </p:txBody>
          </p:sp>
          <p:sp>
            <p:nvSpPr>
              <p:cNvPr id="18" name="Number3" descr="ac841195-6b69-4850-b9b4-35d797de0859"/>
              <p:cNvSpPr/>
              <p:nvPr/>
            </p:nvSpPr>
            <p:spPr>
              <a:xfrm>
                <a:off x="5524462" y="4858538"/>
                <a:ext cx="571518" cy="53261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panose="020B0604020202020204"/>
                  </a:rPr>
                  <a:t>3</a:t>
                </a:r>
                <a:endParaRPr lang="en-US" sz="1200" b="0" i="0" u="none">
                  <a:solidFill>
                    <a:srgbClr val="FFFFFF"/>
                  </a:solidFill>
                  <a:latin typeface="Arial" panose="020B0604020202020204"/>
                </a:endParaRPr>
              </a:p>
            </p:txBody>
          </p:sp>
        </p:grpSp>
      </p:grpSp>
      <p:sp>
        <p:nvSpPr>
          <p:cNvPr id="5" name="标题 4" descr="e8c23d9a-d493-4fd1-a109-f0200b8656d8"/>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系统工作流程概述</a:t>
            </a:r>
            <a:endParaRPr lang="en-US" sz="2800" b="1" i="0" u="none">
              <a:solidFill>
                <a:srgbClr val="000000"/>
              </a:solidFill>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e879a752-9be4-47c0-a361-228ab7e229d2.source.3.zh-Hans.pptx" descr="042ffe20-1f4b-4131-853e-ab0266ab93f0"/>
          <p:cNvGrpSpPr/>
          <p:nvPr>
            <p:custDataLst>
              <p:tags r:id="rId1"/>
            </p:custDataLst>
          </p:nvPr>
        </p:nvGrpSpPr>
        <p:grpSpPr>
          <a:xfrm>
            <a:off x="660400" y="1141397"/>
            <a:ext cx="10858500" cy="4992702"/>
            <a:chOff x="660400" y="1141397"/>
            <a:chExt cx="10858500" cy="4992702"/>
          </a:xfrm>
        </p:grpSpPr>
        <p:grpSp>
          <p:nvGrpSpPr>
            <p:cNvPr id="2" name="组合 1" descr="f7e8e1e9-26f7-4c71-ba52-973a76960d58"/>
            <p:cNvGrpSpPr/>
            <p:nvPr/>
          </p:nvGrpSpPr>
          <p:grpSpPr>
            <a:xfrm>
              <a:off x="660400" y="1141397"/>
              <a:ext cx="10858500" cy="4992702"/>
              <a:chOff x="660400" y="1141397"/>
              <a:chExt cx="10858500" cy="4992702"/>
            </a:xfrm>
          </p:grpSpPr>
          <p:sp>
            <p:nvSpPr>
              <p:cNvPr id="18" name="Title" descr="eeb30378-be19-49c2-814d-ae4abf9290e9"/>
              <p:cNvSpPr/>
              <p:nvPr/>
            </p:nvSpPr>
            <p:spPr>
              <a:xfrm>
                <a:off x="660400" y="1141397"/>
                <a:ext cx="10858500" cy="853692"/>
              </a:xfrm>
              <a:prstGeom prst="roundRect">
                <a:avLst>
                  <a:gd name="adj" fmla="val 144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r>
                  <a:rPr lang="en-US" sz="2400" b="1" i="0" u="none">
                    <a:solidFill>
                      <a:srgbClr val="000000"/>
                    </a:solidFill>
                    <a:ea typeface="微软雅黑" panose="020B0503020204020204" charset="-122"/>
                  </a:rPr>
                  <a:t>说明各模块的连接方式、通信协议及电源管理</a:t>
                </a:r>
                <a:endParaRPr lang="en-US" sz="2400" b="1" i="0" u="none">
                  <a:solidFill>
                    <a:srgbClr val="000000"/>
                  </a:solidFill>
                  <a:ea typeface="微软雅黑" panose="020B0503020204020204" charset="-122"/>
                </a:endParaRPr>
              </a:p>
            </p:txBody>
          </p:sp>
          <p:grpSp>
            <p:nvGrpSpPr>
              <p:cNvPr id="22" name="组合 21" descr="fc3fb266-a86e-46dc-a650-9bf298ac8d18"/>
              <p:cNvGrpSpPr/>
              <p:nvPr/>
            </p:nvGrpSpPr>
            <p:grpSpPr>
              <a:xfrm>
                <a:off x="660400" y="3347035"/>
                <a:ext cx="3402912" cy="2787064"/>
                <a:chOff x="660400" y="3347035"/>
                <a:chExt cx="3402912" cy="2787064"/>
              </a:xfrm>
            </p:grpSpPr>
            <p:sp>
              <p:nvSpPr>
                <p:cNvPr id="7" name="Bullet1" descr="3e8de7c6-8264-4302-b7ef-79d7a9da966a"/>
                <p:cNvSpPr/>
                <p:nvPr>
                  <p:custDataLst>
                    <p:tags r:id="rId2"/>
                  </p:custDataLst>
                </p:nvPr>
              </p:nvSpPr>
              <p:spPr>
                <a:xfrm flipH="1">
                  <a:off x="1116067" y="3347035"/>
                  <a:ext cx="2947244" cy="438390"/>
                </a:xfrm>
                <a:prstGeom prst="rect">
                  <a:avLst/>
                </a:prstGeom>
                <a:no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硬件连接</a:t>
                  </a:r>
                  <a:endParaRPr lang="en-US" sz="1800" b="1" i="0" u="none">
                    <a:solidFill>
                      <a:srgbClr val="000000"/>
                    </a:solidFill>
                    <a:ea typeface="微软雅黑" panose="020B0503020204020204" charset="-122"/>
                  </a:endParaRPr>
                </a:p>
              </p:txBody>
            </p:sp>
            <p:sp>
              <p:nvSpPr>
                <p:cNvPr id="8" name="Text1" descr="fc82a568-bda4-4de0-b19f-e8324fe55b41"/>
                <p:cNvSpPr txBox="1"/>
                <p:nvPr>
                  <p:custDataLst>
                    <p:tags r:id="rId3"/>
                  </p:custDataLst>
                </p:nvPr>
              </p:nvSpPr>
              <p:spPr>
                <a:xfrm>
                  <a:off x="1116068" y="3867978"/>
                  <a:ext cx="2947244" cy="226612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600" b="0" i="0" u="none">
                      <a:solidFill>
                        <a:srgbClr val="000000"/>
                      </a:solidFill>
                      <a:ea typeface="微软雅黑" panose="020B0503020204020204" charset="-122"/>
                    </a:rPr>
                    <a:t>各模块通过GPIO、I2C、SPI、单总线等接口与STM32单片机连接，实现硬件集成。确保连接稳定，避免信号干扰，提高系统可靠性。</a:t>
                  </a:r>
                  <a:endParaRPr lang="en-US" sz="1600" b="0" i="0" u="none">
                    <a:solidFill>
                      <a:srgbClr val="000000"/>
                    </a:solidFill>
                    <a:ea typeface="微软雅黑" panose="020B0503020204020204" charset="-122"/>
                  </a:endParaRPr>
                </a:p>
              </p:txBody>
            </p:sp>
            <p:sp>
              <p:nvSpPr>
                <p:cNvPr id="9" name="Number1" descr="437cb911-b388-4b3e-8af3-a358e1a33efc"/>
                <p:cNvSpPr/>
                <p:nvPr>
                  <p:custDataLst>
                    <p:tags r:id="rId4"/>
                  </p:custDataLst>
                </p:nvPr>
              </p:nvSpPr>
              <p:spPr>
                <a:xfrm>
                  <a:off x="660400" y="3347035"/>
                  <a:ext cx="455665" cy="457200"/>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i="0" u="none">
                      <a:solidFill>
                        <a:srgbClr val="FFFFFF"/>
                      </a:solidFill>
                      <a:latin typeface="Arial" panose="020B0604020202020204"/>
                    </a:rPr>
                    <a:t>1</a:t>
                  </a:r>
                  <a:endParaRPr lang="en-US" sz="1400" b="1" i="0" u="none">
                    <a:solidFill>
                      <a:srgbClr val="FFFFFF"/>
                    </a:solidFill>
                    <a:latin typeface="Arial" panose="020B0604020202020204"/>
                  </a:endParaRPr>
                </a:p>
              </p:txBody>
            </p:sp>
          </p:grpSp>
          <p:grpSp>
            <p:nvGrpSpPr>
              <p:cNvPr id="23" name="组合 22" descr="cb3d9c68-55ee-45c1-b357-783f852c689a"/>
              <p:cNvGrpSpPr/>
              <p:nvPr/>
            </p:nvGrpSpPr>
            <p:grpSpPr>
              <a:xfrm>
                <a:off x="4388193" y="3347035"/>
                <a:ext cx="3402912" cy="2787064"/>
                <a:chOff x="4388193" y="3347035"/>
                <a:chExt cx="3402912" cy="2787064"/>
              </a:xfrm>
            </p:grpSpPr>
            <p:sp>
              <p:nvSpPr>
                <p:cNvPr id="11" name="Bullet2" descr="f8b795db-3e0c-49c1-b7b1-3c9d9bc0611d"/>
                <p:cNvSpPr/>
                <p:nvPr>
                  <p:custDataLst>
                    <p:tags r:id="rId5"/>
                  </p:custDataLst>
                </p:nvPr>
              </p:nvSpPr>
              <p:spPr>
                <a:xfrm flipH="1">
                  <a:off x="4843860" y="3347035"/>
                  <a:ext cx="2947244" cy="438390"/>
                </a:xfrm>
                <a:prstGeom prst="rect">
                  <a:avLst/>
                </a:prstGeom>
                <a:no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通信协议</a:t>
                  </a:r>
                  <a:endParaRPr lang="en-US" sz="1800" b="1" i="0" u="none">
                    <a:solidFill>
                      <a:srgbClr val="000000"/>
                    </a:solidFill>
                    <a:ea typeface="微软雅黑" panose="020B0503020204020204" charset="-122"/>
                  </a:endParaRPr>
                </a:p>
              </p:txBody>
            </p:sp>
            <p:sp>
              <p:nvSpPr>
                <p:cNvPr id="12" name="Text2" descr="3c176b47-df07-41cb-bd08-3357c6bab6f8"/>
                <p:cNvSpPr txBox="1"/>
                <p:nvPr>
                  <p:custDataLst>
                    <p:tags r:id="rId6"/>
                  </p:custDataLst>
                </p:nvPr>
              </p:nvSpPr>
              <p:spPr>
                <a:xfrm>
                  <a:off x="4843861" y="3867978"/>
                  <a:ext cx="2947244" cy="226612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600" b="0" i="0" u="none">
                      <a:solidFill>
                        <a:srgbClr val="000000"/>
                      </a:solidFill>
                      <a:ea typeface="微软雅黑" panose="020B0503020204020204" charset="-122"/>
                    </a:rPr>
                    <a:t>单片机与各模块采用多种通信协议，如I2C、SPI、UART等，确保数据传输稳定。支持多种数据格式，方便模块间数据交互与处理。</a:t>
                  </a:r>
                  <a:endParaRPr lang="en-US" sz="1600" b="0" i="0" u="none">
                    <a:solidFill>
                      <a:srgbClr val="000000"/>
                    </a:solidFill>
                    <a:ea typeface="微软雅黑" panose="020B0503020204020204" charset="-122"/>
                  </a:endParaRPr>
                </a:p>
              </p:txBody>
            </p:sp>
            <p:sp>
              <p:nvSpPr>
                <p:cNvPr id="13" name="Number2" descr="571e2478-ef11-4cfe-a609-6743e7883300"/>
                <p:cNvSpPr/>
                <p:nvPr>
                  <p:custDataLst>
                    <p:tags r:id="rId7"/>
                  </p:custDataLst>
                </p:nvPr>
              </p:nvSpPr>
              <p:spPr>
                <a:xfrm>
                  <a:off x="4388193" y="3347035"/>
                  <a:ext cx="455665" cy="457200"/>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i="0" u="none">
                      <a:solidFill>
                        <a:srgbClr val="FFFFFF"/>
                      </a:solidFill>
                      <a:latin typeface="Arial" panose="020B0604020202020204"/>
                    </a:rPr>
                    <a:t>2</a:t>
                  </a:r>
                  <a:endParaRPr lang="en-US" sz="1400" b="1" i="0" u="none">
                    <a:solidFill>
                      <a:srgbClr val="FFFFFF"/>
                    </a:solidFill>
                    <a:latin typeface="Arial" panose="020B0604020202020204"/>
                  </a:endParaRPr>
                </a:p>
              </p:txBody>
            </p:sp>
          </p:grpSp>
          <p:grpSp>
            <p:nvGrpSpPr>
              <p:cNvPr id="24" name="组合 23" descr="3b301fc2-da30-4da9-a669-ec79dbdf27b2"/>
              <p:cNvGrpSpPr/>
              <p:nvPr/>
            </p:nvGrpSpPr>
            <p:grpSpPr>
              <a:xfrm>
                <a:off x="8115987" y="3347035"/>
                <a:ext cx="3402911" cy="2787064"/>
                <a:chOff x="8115987" y="3347035"/>
                <a:chExt cx="3402911" cy="2787064"/>
              </a:xfrm>
            </p:grpSpPr>
            <p:sp>
              <p:nvSpPr>
                <p:cNvPr id="15" name="Bullet3" descr="aac0359a-7787-41d6-b730-6bed4623501e"/>
                <p:cNvSpPr/>
                <p:nvPr>
                  <p:custDataLst>
                    <p:tags r:id="rId8"/>
                  </p:custDataLst>
                </p:nvPr>
              </p:nvSpPr>
              <p:spPr>
                <a:xfrm flipH="1">
                  <a:off x="8571654" y="3347035"/>
                  <a:ext cx="2947244" cy="438390"/>
                </a:xfrm>
                <a:prstGeom prst="rect">
                  <a:avLst/>
                </a:prstGeom>
                <a:no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电源管理</a:t>
                  </a:r>
                  <a:endParaRPr lang="en-US" sz="1800" b="1" i="0" u="none">
                    <a:solidFill>
                      <a:srgbClr val="000000"/>
                    </a:solidFill>
                    <a:ea typeface="微软雅黑" panose="020B0503020204020204" charset="-122"/>
                  </a:endParaRPr>
                </a:p>
              </p:txBody>
            </p:sp>
            <p:sp>
              <p:nvSpPr>
                <p:cNvPr id="16" name="Text3" descr="83a52394-a94d-4ab4-994b-be12f549e4e7"/>
                <p:cNvSpPr txBox="1"/>
                <p:nvPr>
                  <p:custDataLst>
                    <p:tags r:id="rId9"/>
                  </p:custDataLst>
                </p:nvPr>
              </p:nvSpPr>
              <p:spPr>
                <a:xfrm>
                  <a:off x="8571020" y="3867978"/>
                  <a:ext cx="2947244" cy="226612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600" b="0" i="0" u="none">
                      <a:solidFill>
                        <a:srgbClr val="000000"/>
                      </a:solidFill>
                      <a:ea typeface="微软雅黑" panose="020B0503020204020204" charset="-122"/>
                    </a:rPr>
                    <a:t>系统采用统一电源管理，确保各模块供电稳定，延长设备续航时间。支持低功耗模式，根据实际需求调整模块工作状态，降低能耗。</a:t>
                  </a:r>
                  <a:endParaRPr lang="en-US" sz="1600" b="0" i="0" u="none">
                    <a:solidFill>
                      <a:srgbClr val="000000"/>
                    </a:solidFill>
                    <a:ea typeface="微软雅黑" panose="020B0503020204020204" charset="-122"/>
                  </a:endParaRPr>
                </a:p>
              </p:txBody>
            </p:sp>
            <p:sp>
              <p:nvSpPr>
                <p:cNvPr id="17" name="Number3" descr="d53c4ea8-c359-4c1b-a507-0880577a94ed"/>
                <p:cNvSpPr/>
                <p:nvPr>
                  <p:custDataLst>
                    <p:tags r:id="rId10"/>
                  </p:custDataLst>
                </p:nvPr>
              </p:nvSpPr>
              <p:spPr>
                <a:xfrm>
                  <a:off x="8115987" y="3347035"/>
                  <a:ext cx="455665" cy="457200"/>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i="0" u="none">
                      <a:solidFill>
                        <a:srgbClr val="FFFFFF"/>
                      </a:solidFill>
                      <a:latin typeface="Arial" panose="020B0604020202020204"/>
                    </a:rPr>
                    <a:t>3</a:t>
                  </a:r>
                  <a:endParaRPr lang="en-US" sz="1400" b="1" i="0" u="none">
                    <a:solidFill>
                      <a:srgbClr val="FFFFFF"/>
                    </a:solidFill>
                    <a:latin typeface="Arial" panose="020B0604020202020204"/>
                  </a:endParaRPr>
                </a:p>
              </p:txBody>
            </p:sp>
          </p:grpSp>
        </p:grpSp>
        <p:cxnSp>
          <p:nvCxnSpPr>
            <p:cNvPr id="3" name="连接符: 肘形 2" descr="0158ddb5-7d87-43e2-a2a2-3875e344ff8c"/>
            <p:cNvCxnSpPr>
              <a:stCxn id="9" idx="0"/>
              <a:endCxn id="17" idx="0"/>
            </p:cNvCxnSpPr>
            <p:nvPr/>
          </p:nvCxnSpPr>
          <p:spPr>
            <a:xfrm rot="5400000" flipH="1" flipV="1">
              <a:off x="4616026" y="-380758"/>
              <a:ext cx="12700" cy="7455587"/>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descr="edd486f1-1763-4e15-9a6f-b00aaf4d9ddb"/>
            <p:cNvCxnSpPr>
              <a:endCxn id="13" idx="0"/>
            </p:cNvCxnSpPr>
            <p:nvPr/>
          </p:nvCxnSpPr>
          <p:spPr>
            <a:xfrm>
              <a:off x="4616026" y="2632841"/>
              <a:ext cx="0" cy="714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 name="标题 5" descr="e8c23d9a-d493-4fd1-a109-f0200b8656d8"/>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各模块的连接与通信</a:t>
            </a:r>
            <a:endParaRPr lang="en-US" sz="2800" b="1" i="0" u="none">
              <a:solidFill>
                <a:srgbClr val="000000"/>
              </a:solidFill>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sz="8890">
                <a:ln w="6600">
                  <a:solidFill>
                    <a:schemeClr val="accent2"/>
                  </a:solidFill>
                  <a:prstDash val="solid"/>
                </a:ln>
                <a:solidFill>
                  <a:srgbClr val="FFFFFF"/>
                </a:solidFill>
                <a:effectLst>
                  <a:outerShdw dist="38100" dir="2700000" algn="tl" rotWithShape="0">
                    <a:schemeClr val="accent2"/>
                  </a:outerShdw>
                </a:effectLst>
              </a:rPr>
              <a:t>软件模块</a:t>
            </a:r>
            <a:endParaRPr lang="zh-CN" altLang="en-US" sz="889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7" name="标题 1"/>
          <p:cNvSpPr txBox="1"/>
          <p:nvPr/>
        </p:nvSpPr>
        <p:spPr>
          <a:xfrm>
            <a:off x="6557645" y="1503045"/>
            <a:ext cx="5634355" cy="4563110"/>
          </a:xfrm>
          <a:prstGeom prst="rect">
            <a:avLst/>
          </a:prstGeom>
          <a:noFill/>
          <a:ln>
            <a:noFill/>
          </a:ln>
        </p:spPr>
        <p:txBody>
          <a:bodyPr vert="horz" wrap="square" lIns="0" tIns="0" rIns="0" bIns="0" rtlCol="0" anchor="t"/>
          <a:lstStyle/>
          <a:p>
            <a:pPr algn="l">
              <a:lnSpc>
                <a:spcPct val="150000"/>
              </a:lnSpc>
            </a:pPr>
            <a:r>
              <a:rPr kumimoji="1" lang="zh-CN" altLang="en-US" sz="1600">
                <a:latin typeface="微软雅黑" panose="020B0503020204020204" charset="-122"/>
                <a:ea typeface="微软雅黑" panose="020B0503020204020204" charset="-122"/>
                <a:cs typeface="微软雅黑" panose="020B0503020204020204" charset="-122"/>
              </a:rPr>
              <a:t>程序开始运行时，首先对</a:t>
            </a:r>
            <a:r>
              <a:rPr kumimoji="1" lang="zh-CN" altLang="en-US" sz="1600">
                <a:solidFill>
                  <a:srgbClr val="FF0000"/>
                </a:solidFill>
                <a:latin typeface="微软雅黑" panose="020B0503020204020204" charset="-122"/>
                <a:ea typeface="微软雅黑" panose="020B0503020204020204" charset="-122"/>
                <a:cs typeface="微软雅黑" panose="020B0503020204020204" charset="-122"/>
              </a:rPr>
              <a:t>系统进行初始化，初始化的内容包括延时函数、按键、</a:t>
            </a:r>
            <a:r>
              <a:rPr kumimoji="1" lang="en-US" altLang="zh-CN" sz="1600">
                <a:solidFill>
                  <a:srgbClr val="FF0000"/>
                </a:solidFill>
                <a:latin typeface="微软雅黑" panose="020B0503020204020204" charset="-122"/>
                <a:ea typeface="微软雅黑" panose="020B0503020204020204" charset="-122"/>
                <a:cs typeface="微软雅黑" panose="020B0503020204020204" charset="-122"/>
              </a:rPr>
              <a:t>LED</a:t>
            </a:r>
            <a:r>
              <a:rPr kumimoji="1" lang="zh-CN" altLang="en-US" sz="1600">
                <a:solidFill>
                  <a:srgbClr val="FF0000"/>
                </a:solidFill>
                <a:latin typeface="微软雅黑" panose="020B0503020204020204" charset="-122"/>
                <a:ea typeface="微软雅黑" panose="020B0503020204020204" charset="-122"/>
                <a:cs typeface="微软雅黑" panose="020B0503020204020204" charset="-122"/>
              </a:rPr>
              <a:t>指示灯、语音播报模块、电机等</a:t>
            </a:r>
            <a:r>
              <a:rPr kumimoji="1" lang="en-US" altLang="zh-CN" sz="1600">
                <a:solidFill>
                  <a:srgbClr val="FF0000"/>
                </a:solidFill>
                <a:latin typeface="微软雅黑" panose="020B0503020204020204" charset="-122"/>
                <a:ea typeface="微软雅黑" panose="020B0503020204020204" charset="-122"/>
                <a:cs typeface="微软雅黑" panose="020B0503020204020204" charset="-122"/>
              </a:rPr>
              <a:t>GPIO</a:t>
            </a:r>
            <a:r>
              <a:rPr kumimoji="1" lang="zh-CN" altLang="en-US" sz="1600">
                <a:solidFill>
                  <a:srgbClr val="FF0000"/>
                </a:solidFill>
                <a:latin typeface="微软雅黑" panose="020B0503020204020204" charset="-122"/>
                <a:ea typeface="微软雅黑" panose="020B0503020204020204" charset="-122"/>
                <a:cs typeface="微软雅黑" panose="020B0503020204020204" charset="-122"/>
              </a:rPr>
              <a:t>的初始化。同时，初始化</a:t>
            </a:r>
            <a:r>
              <a:rPr kumimoji="1" lang="en-US" altLang="zh-CN" sz="1600">
                <a:solidFill>
                  <a:srgbClr val="FF0000"/>
                </a:solidFill>
                <a:latin typeface="微软雅黑" panose="020B0503020204020204" charset="-122"/>
                <a:ea typeface="微软雅黑" panose="020B0503020204020204" charset="-122"/>
                <a:cs typeface="微软雅黑" panose="020B0503020204020204" charset="-122"/>
              </a:rPr>
              <a:t>OLED</a:t>
            </a:r>
            <a:r>
              <a:rPr kumimoji="1" lang="zh-CN" altLang="en-US" sz="1600">
                <a:solidFill>
                  <a:srgbClr val="FF0000"/>
                </a:solidFill>
                <a:latin typeface="微软雅黑" panose="020B0503020204020204" charset="-122"/>
                <a:ea typeface="微软雅黑" panose="020B0503020204020204" charset="-122"/>
                <a:cs typeface="微软雅黑" panose="020B0503020204020204" charset="-122"/>
              </a:rPr>
              <a:t>显示屏</a:t>
            </a:r>
            <a:r>
              <a:rPr kumimoji="1" lang="zh-CN" altLang="en-US" sz="1600">
                <a:latin typeface="微软雅黑" panose="020B0503020204020204" charset="-122"/>
                <a:ea typeface="微软雅黑" panose="020B0503020204020204" charset="-122"/>
                <a:cs typeface="微软雅黑" panose="020B0503020204020204" charset="-122"/>
              </a:rPr>
              <a:t>，显示当前状态和模式。</a:t>
            </a:r>
            <a:endParaRPr kumimoji="1" lang="zh-CN" altLang="en-US" sz="1600">
              <a:latin typeface="微软雅黑" panose="020B0503020204020204" charset="-122"/>
              <a:ea typeface="微软雅黑" panose="020B0503020204020204" charset="-122"/>
              <a:cs typeface="微软雅黑" panose="020B0503020204020204" charset="-122"/>
            </a:endParaRPr>
          </a:p>
          <a:p>
            <a:pPr algn="l">
              <a:lnSpc>
                <a:spcPct val="150000"/>
              </a:lnSpc>
            </a:pPr>
            <a:r>
              <a:rPr kumimoji="1" lang="zh-CN" altLang="en-US" sz="1600">
                <a:latin typeface="微软雅黑" panose="020B0503020204020204" charset="-122"/>
                <a:ea typeface="微软雅黑" panose="020B0503020204020204" charset="-122"/>
                <a:cs typeface="微软雅黑" panose="020B0503020204020204" charset="-122"/>
              </a:rPr>
              <a:t>在主程序的主循环中，检测</a:t>
            </a:r>
            <a:r>
              <a:rPr kumimoji="1" lang="en-US" altLang="zh-CN" sz="1600">
                <a:latin typeface="微软雅黑" panose="020B0503020204020204" charset="-122"/>
                <a:ea typeface="微软雅黑" panose="020B0503020204020204" charset="-122"/>
                <a:cs typeface="微软雅黑" panose="020B0503020204020204" charset="-122"/>
              </a:rPr>
              <a:t>KEY1</a:t>
            </a:r>
            <a:r>
              <a:rPr kumimoji="1" lang="zh-CN" altLang="en-US" sz="1600">
                <a:latin typeface="微软雅黑" panose="020B0503020204020204" charset="-122"/>
                <a:ea typeface="微软雅黑" panose="020B0503020204020204" charset="-122"/>
                <a:cs typeface="微软雅黑" panose="020B0503020204020204" charset="-122"/>
              </a:rPr>
              <a:t>按键输入，实现自动模式和手动模式的切换。当处于自动模式时，检测哭声是否持续，如果持续时间超过</a:t>
            </a:r>
            <a:r>
              <a:rPr kumimoji="1" lang="en-US" altLang="zh-CN" sz="1600">
                <a:latin typeface="微软雅黑" panose="020B0503020204020204" charset="-122"/>
                <a:ea typeface="微软雅黑" panose="020B0503020204020204" charset="-122"/>
                <a:cs typeface="微软雅黑" panose="020B0503020204020204" charset="-122"/>
              </a:rPr>
              <a:t>20</a:t>
            </a:r>
            <a:r>
              <a:rPr kumimoji="1" lang="zh-CN" altLang="en-US" sz="1600">
                <a:latin typeface="微软雅黑" panose="020B0503020204020204" charset="-122"/>
                <a:ea typeface="微软雅黑" panose="020B0503020204020204" charset="-122"/>
                <a:cs typeface="微软雅黑" panose="020B0503020204020204" charset="-122"/>
              </a:rPr>
              <a:t>微秒，则电机开启，同时播放歌曲。</a:t>
            </a:r>
            <a:endParaRPr kumimoji="1" lang="zh-CN" altLang="en-US" sz="1600">
              <a:latin typeface="微软雅黑" panose="020B0503020204020204" charset="-122"/>
              <a:ea typeface="微软雅黑" panose="020B0503020204020204" charset="-122"/>
              <a:cs typeface="微软雅黑" panose="020B0503020204020204" charset="-122"/>
            </a:endParaRPr>
          </a:p>
          <a:p>
            <a:pPr algn="l">
              <a:lnSpc>
                <a:spcPct val="150000"/>
              </a:lnSpc>
            </a:pPr>
            <a:r>
              <a:rPr kumimoji="1" lang="zh-CN" altLang="en-US" sz="1600">
                <a:latin typeface="微软雅黑" panose="020B0503020204020204" charset="-122"/>
                <a:ea typeface="微软雅黑" panose="020B0503020204020204" charset="-122"/>
                <a:cs typeface="微软雅黑" panose="020B0503020204020204" charset="-122"/>
              </a:rPr>
              <a:t>当处于手动模式时，可以通过</a:t>
            </a:r>
            <a:r>
              <a:rPr kumimoji="1" lang="en-US" altLang="zh-CN" sz="1600">
                <a:latin typeface="微软雅黑" panose="020B0503020204020204" charset="-122"/>
                <a:ea typeface="微软雅黑" panose="020B0503020204020204" charset="-122"/>
                <a:cs typeface="微软雅黑" panose="020B0503020204020204" charset="-122"/>
              </a:rPr>
              <a:t>KEY2</a:t>
            </a:r>
            <a:r>
              <a:rPr kumimoji="1" lang="zh-CN" altLang="en-US" sz="1600">
                <a:latin typeface="微软雅黑" panose="020B0503020204020204" charset="-122"/>
                <a:ea typeface="微软雅黑" panose="020B0503020204020204" charset="-122"/>
                <a:cs typeface="微软雅黑" panose="020B0503020204020204" charset="-122"/>
              </a:rPr>
              <a:t>和</a:t>
            </a:r>
            <a:r>
              <a:rPr kumimoji="1" lang="en-US" altLang="zh-CN" sz="1600">
                <a:latin typeface="微软雅黑" panose="020B0503020204020204" charset="-122"/>
                <a:ea typeface="微软雅黑" panose="020B0503020204020204" charset="-122"/>
                <a:cs typeface="微软雅黑" panose="020B0503020204020204" charset="-122"/>
              </a:rPr>
              <a:t>KEY3</a:t>
            </a:r>
            <a:r>
              <a:rPr kumimoji="1" lang="zh-CN" altLang="en-US" sz="1600">
                <a:latin typeface="微软雅黑" panose="020B0503020204020204" charset="-122"/>
                <a:ea typeface="微软雅黑" panose="020B0503020204020204" charset="-122"/>
                <a:cs typeface="微软雅黑" panose="020B0503020204020204" charset="-122"/>
              </a:rPr>
              <a:t>按键控制电机的开启和关闭。</a:t>
            </a:r>
            <a:r>
              <a:rPr kumimoji="1" lang="en-US" altLang="zh-CN" sz="1600">
                <a:latin typeface="微软雅黑" panose="020B0503020204020204" charset="-122"/>
                <a:ea typeface="微软雅黑" panose="020B0503020204020204" charset="-122"/>
                <a:cs typeface="微软雅黑" panose="020B0503020204020204" charset="-122"/>
              </a:rPr>
              <a:t>TIM2</a:t>
            </a:r>
            <a:r>
              <a:rPr kumimoji="1" lang="zh-CN" altLang="en-US" sz="1600">
                <a:latin typeface="微软雅黑" panose="020B0503020204020204" charset="-122"/>
                <a:ea typeface="微软雅黑" panose="020B0503020204020204" charset="-122"/>
                <a:cs typeface="微软雅黑" panose="020B0503020204020204" charset="-122"/>
              </a:rPr>
              <a:t>定时器每隔</a:t>
            </a:r>
            <a:r>
              <a:rPr kumimoji="1" lang="en-US" altLang="zh-CN" sz="1600">
                <a:latin typeface="微软雅黑" panose="020B0503020204020204" charset="-122"/>
                <a:ea typeface="微软雅黑" panose="020B0503020204020204" charset="-122"/>
                <a:cs typeface="微软雅黑" panose="020B0503020204020204" charset="-122"/>
              </a:rPr>
              <a:t>1</a:t>
            </a:r>
            <a:r>
              <a:rPr kumimoji="1" lang="zh-CN" altLang="en-US" sz="1600">
                <a:latin typeface="微软雅黑" panose="020B0503020204020204" charset="-122"/>
                <a:ea typeface="微软雅黑" panose="020B0503020204020204" charset="-122"/>
                <a:cs typeface="微软雅黑" panose="020B0503020204020204" charset="-122"/>
              </a:rPr>
              <a:t>微秒产生一次中断，用于检测</a:t>
            </a:r>
            <a:r>
              <a:rPr kumimoji="1" lang="en-US" altLang="zh-CN" sz="1600">
                <a:latin typeface="微软雅黑" panose="020B0503020204020204" charset="-122"/>
                <a:ea typeface="微软雅黑" panose="020B0503020204020204" charset="-122"/>
                <a:cs typeface="微软雅黑" panose="020B0503020204020204" charset="-122"/>
              </a:rPr>
              <a:t>DJ_TIME</a:t>
            </a:r>
            <a:r>
              <a:rPr kumimoji="1" lang="zh-CN" altLang="en-US" sz="1600">
                <a:latin typeface="微软雅黑" panose="020B0503020204020204" charset="-122"/>
                <a:ea typeface="微软雅黑" panose="020B0503020204020204" charset="-122"/>
                <a:cs typeface="微软雅黑" panose="020B0503020204020204" charset="-122"/>
              </a:rPr>
              <a:t>是否减少到</a:t>
            </a:r>
            <a:r>
              <a:rPr kumimoji="1" lang="en-US" altLang="zh-CN" sz="1600">
                <a:latin typeface="微软雅黑" panose="020B0503020204020204" charset="-122"/>
                <a:ea typeface="微软雅黑" panose="020B0503020204020204" charset="-122"/>
                <a:cs typeface="微软雅黑" panose="020B0503020204020204" charset="-122"/>
              </a:rPr>
              <a:t>0</a:t>
            </a:r>
            <a:r>
              <a:rPr kumimoji="1" lang="zh-CN" altLang="en-US" sz="1600">
                <a:latin typeface="微软雅黑" panose="020B0503020204020204" charset="-122"/>
                <a:ea typeface="微软雅黑" panose="020B0503020204020204" charset="-122"/>
                <a:cs typeface="微软雅黑" panose="020B0503020204020204" charset="-122"/>
              </a:rPr>
              <a:t>。当减少到</a:t>
            </a:r>
            <a:r>
              <a:rPr kumimoji="1" lang="en-US" altLang="zh-CN" sz="1600">
                <a:latin typeface="微软雅黑" panose="020B0503020204020204" charset="-122"/>
                <a:ea typeface="微软雅黑" panose="020B0503020204020204" charset="-122"/>
                <a:cs typeface="微软雅黑" panose="020B0503020204020204" charset="-122"/>
              </a:rPr>
              <a:t>0</a:t>
            </a:r>
            <a:r>
              <a:rPr kumimoji="1" lang="zh-CN" altLang="en-US" sz="1600">
                <a:latin typeface="微软雅黑" panose="020B0503020204020204" charset="-122"/>
                <a:ea typeface="微软雅黑" panose="020B0503020204020204" charset="-122"/>
                <a:cs typeface="微软雅黑" panose="020B0503020204020204" charset="-122"/>
              </a:rPr>
              <a:t>时，表示电机开启时间已到，关闭电机。同时更新</a:t>
            </a:r>
            <a:r>
              <a:rPr kumimoji="1" lang="en-US" altLang="zh-CN" sz="1600">
                <a:latin typeface="微软雅黑" panose="020B0503020204020204" charset="-122"/>
                <a:ea typeface="微软雅黑" panose="020B0503020204020204" charset="-122"/>
                <a:cs typeface="微软雅黑" panose="020B0503020204020204" charset="-122"/>
              </a:rPr>
              <a:t>OLED</a:t>
            </a:r>
            <a:r>
              <a:rPr kumimoji="1" lang="zh-CN" altLang="en-US" sz="1600">
                <a:latin typeface="微软雅黑" panose="020B0503020204020204" charset="-122"/>
                <a:ea typeface="微软雅黑" panose="020B0503020204020204" charset="-122"/>
                <a:cs typeface="微软雅黑" panose="020B0503020204020204" charset="-122"/>
              </a:rPr>
              <a:t>显示屏上的状态信息。通过检测湿度值，当湿度超过一定阈值时，点亮</a:t>
            </a:r>
            <a:r>
              <a:rPr kumimoji="1" lang="en-US" altLang="zh-CN" sz="1600">
                <a:latin typeface="微软雅黑" panose="020B0503020204020204" charset="-122"/>
                <a:ea typeface="微软雅黑" panose="020B0503020204020204" charset="-122"/>
                <a:cs typeface="微软雅黑" panose="020B0503020204020204" charset="-122"/>
              </a:rPr>
              <a:t>LED</a:t>
            </a:r>
            <a:r>
              <a:rPr kumimoji="1" lang="zh-CN" altLang="en-US" sz="1600">
                <a:latin typeface="微软雅黑" panose="020B0503020204020204" charset="-122"/>
                <a:ea typeface="微软雅黑" panose="020B0503020204020204" charset="-122"/>
                <a:cs typeface="微软雅黑" panose="020B0503020204020204" charset="-122"/>
              </a:rPr>
              <a:t>灯并播报提示音。</a:t>
            </a:r>
            <a:endParaRPr kumimoji="1" lang="zh-CN" altLang="en-US" sz="1600">
              <a:latin typeface="微软雅黑" panose="020B0503020204020204" charset="-122"/>
              <a:ea typeface="微软雅黑" panose="020B0503020204020204" charset="-122"/>
              <a:cs typeface="微软雅黑" panose="020B0503020204020204" charset="-122"/>
            </a:endParaRPr>
          </a:p>
        </p:txBody>
      </p:sp>
      <p:sp>
        <p:nvSpPr>
          <p:cNvPr id="9" name="标题 1"/>
          <p:cNvSpPr txBox="1"/>
          <p:nvPr/>
        </p:nvSpPr>
        <p:spPr>
          <a:xfrm>
            <a:off x="6024280" y="1052270"/>
            <a:ext cx="2880000" cy="504000"/>
          </a:xfrm>
          <a:prstGeom prst="rect">
            <a:avLst/>
          </a:prstGeom>
          <a:noFill/>
          <a:ln>
            <a:noFill/>
          </a:ln>
        </p:spPr>
        <p:txBody>
          <a:bodyPr vert="horz" wrap="square" lIns="0" tIns="0" rIns="0" bIns="0" rtlCol="0" anchor="ctr"/>
          <a:lstStyle/>
          <a:p>
            <a:pPr algn="l">
              <a:lnSpc>
                <a:spcPct val="130000"/>
              </a:lnSpc>
            </a:pPr>
            <a:endParaRPr kumimoji="1" lang="zh-CN" altLang="en-US"/>
          </a:p>
        </p:txBody>
      </p:sp>
      <p:sp>
        <p:nvSpPr>
          <p:cNvPr id="10" name="标题 1"/>
          <p:cNvSpPr txBox="1"/>
          <p:nvPr>
            <p:custDataLst>
              <p:tags r:id="rId1"/>
            </p:custDataLst>
          </p:nvPr>
        </p:nvSpPr>
        <p:spPr>
          <a:xfrm>
            <a:off x="6672746" y="262330"/>
            <a:ext cx="2880000" cy="504000"/>
          </a:xfrm>
          <a:prstGeom prst="rect">
            <a:avLst/>
          </a:prstGeom>
          <a:noFill/>
          <a:ln>
            <a:noFill/>
          </a:ln>
        </p:spPr>
        <p:txBody>
          <a:bodyPr vert="horz" wrap="square" lIns="0" tIns="0" rIns="0" bIns="0" rtlCol="0" anchor="ctr"/>
          <a:lstStyle/>
          <a:p>
            <a:pPr algn="l">
              <a:lnSpc>
                <a:spcPct val="130000"/>
              </a:lnSpc>
            </a:pPr>
            <a:endParaRPr kumimoji="1" lang="zh-CN" altLang="en-US"/>
          </a:p>
        </p:txBody>
      </p:sp>
      <p:sp>
        <p:nvSpPr>
          <p:cNvPr id="11" name="标题 1"/>
          <p:cNvSpPr txBox="1"/>
          <p:nvPr>
            <p:custDataLst>
              <p:tags r:id="rId2"/>
            </p:custDataLst>
          </p:nvPr>
        </p:nvSpPr>
        <p:spPr>
          <a:xfrm>
            <a:off x="516225" y="331935"/>
            <a:ext cx="3240000" cy="648000"/>
          </a:xfrm>
          <a:prstGeom prst="rect">
            <a:avLst/>
          </a:prstGeom>
          <a:solidFill>
            <a:schemeClr val="accent1"/>
          </a:solidFill>
          <a:ln cap="sq">
            <a:noFill/>
            <a:prstDash val="solid"/>
            <a:miter/>
          </a:ln>
          <a:effectLst>
            <a:outerShdw blurRad="508000" dist="190500" dir="5400000" sx="105000" sy="105000" algn="t" rotWithShape="0">
              <a:schemeClr val="tx1">
                <a:lumMod val="65000"/>
                <a:lumOff val="35000"/>
                <a:alpha val="30000"/>
              </a:schemeClr>
            </a:outerShdw>
          </a:effectLst>
        </p:spPr>
        <p:txBody>
          <a:bodyPr vert="horz" wrap="square" lIns="0" tIns="0" rIns="0" bIns="0" rtlCol="0" anchor="ctr"/>
          <a:lstStyle/>
          <a:p>
            <a:pPr algn="l">
              <a:lnSpc>
                <a:spcPct val="110000"/>
              </a:lnSpc>
            </a:pPr>
            <a:endParaRPr kumimoji="1" lang="zh-CN" altLang="en-US"/>
          </a:p>
        </p:txBody>
      </p:sp>
      <p:sp>
        <p:nvSpPr>
          <p:cNvPr id="13" name="标题 1"/>
          <p:cNvSpPr txBox="1"/>
          <p:nvPr>
            <p:custDataLst>
              <p:tags r:id="rId3"/>
            </p:custDataLst>
          </p:nvPr>
        </p:nvSpPr>
        <p:spPr>
          <a:xfrm>
            <a:off x="4800230" y="332180"/>
            <a:ext cx="2880000" cy="504000"/>
          </a:xfrm>
          <a:prstGeom prst="rect">
            <a:avLst/>
          </a:prstGeom>
          <a:noFill/>
          <a:ln>
            <a:noFill/>
          </a:ln>
        </p:spPr>
        <p:txBody>
          <a:bodyPr vert="horz" wrap="square" lIns="0" tIns="0" rIns="0" bIns="0" rtlCol="0" anchor="ctr"/>
          <a:lstStyle/>
          <a:p>
            <a:pPr algn="l">
              <a:lnSpc>
                <a:spcPct val="130000"/>
              </a:lnSpc>
            </a:pPr>
            <a:endParaRPr kumimoji="1" lang="zh-CN" altLang="en-US"/>
          </a:p>
        </p:txBody>
      </p:sp>
      <p:sp>
        <p:nvSpPr>
          <p:cNvPr id="14" name="标题 1"/>
          <p:cNvSpPr txBox="1"/>
          <p:nvPr/>
        </p:nvSpPr>
        <p:spPr>
          <a:xfrm>
            <a:off x="452755" y="207645"/>
            <a:ext cx="3799205" cy="821055"/>
          </a:xfrm>
          <a:prstGeom prst="rect">
            <a:avLst/>
          </a:prstGeom>
          <a:solidFill>
            <a:schemeClr val="accent1">
              <a:lumMod val="60000"/>
              <a:lumOff val="40000"/>
            </a:schemeClr>
          </a:solidFill>
          <a:ln>
            <a:noFill/>
          </a:ln>
        </p:spPr>
        <p:txBody>
          <a:bodyPr vert="horz" wrap="square" lIns="0" tIns="0" rIns="0" bIns="0" rtlCol="0" anchor="ctr"/>
          <a:lstStyle/>
          <a:p>
            <a:pPr algn="l">
              <a:lnSpc>
                <a:spcPct val="150000"/>
              </a:lnSpc>
            </a:pPr>
            <a:r>
              <a:rPr lang="en-US" sz="2800" b="1">
                <a:solidFill>
                  <a:srgbClr val="000000"/>
                </a:solidFill>
                <a:latin typeface="+mj-lt"/>
                <a:ea typeface="微软雅黑" panose="020B0503020204020204" charset="-122"/>
                <a:cs typeface="+mj-cs"/>
                <a:sym typeface="+mn-ea"/>
              </a:rPr>
              <a:t>系统软件设计</a:t>
            </a:r>
            <a:endParaRPr kumimoji="1" lang="zh-CN" altLang="en-US" sz="3600">
              <a:latin typeface="华文中宋" panose="02010600040101010101" charset="-122"/>
              <a:ea typeface="华文中宋" panose="02010600040101010101" charset="-122"/>
            </a:endParaRPr>
          </a:p>
        </p:txBody>
      </p:sp>
      <p:cxnSp>
        <p:nvCxnSpPr>
          <p:cNvPr id="16" name="标题 1"/>
          <p:cNvCxnSpPr/>
          <p:nvPr/>
        </p:nvCxnSpPr>
        <p:spPr>
          <a:xfrm>
            <a:off x="516000" y="956172"/>
            <a:ext cx="11160000" cy="0"/>
          </a:xfrm>
          <a:prstGeom prst="line">
            <a:avLst/>
          </a:prstGeom>
          <a:noFill/>
          <a:ln w="9525" cap="sq">
            <a:solidFill>
              <a:schemeClr val="accent1"/>
            </a:solidFill>
            <a:miter/>
          </a:ln>
        </p:spPr>
      </p:cxnSp>
      <p:pic>
        <p:nvPicPr>
          <p:cNvPr id="15" name="图片 14"/>
          <p:cNvPicPr>
            <a:picLocks noChangeAspect="1"/>
          </p:cNvPicPr>
          <p:nvPr/>
        </p:nvPicPr>
        <p:blipFill>
          <a:blip r:embed="rId4"/>
          <a:stretch>
            <a:fillRect/>
          </a:stretch>
        </p:blipFill>
        <p:spPr>
          <a:xfrm>
            <a:off x="461645" y="1146175"/>
            <a:ext cx="6018530" cy="51739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863bf974-8042-485c-9a53-43ff2731159b"/>
          <p:cNvSpPr>
            <a:spLocks noGrp="1"/>
          </p:cNvSpPr>
          <p:nvPr>
            <p:ph type="title" hasCustomPrompt="1"/>
          </p:nvPr>
        </p:nvSpPr>
        <p:spPr/>
        <p:txBody>
          <a:bodyPr anchorCtr="0"/>
          <a:lstStyle/>
          <a:p>
            <a:pPr algn="r">
              <a:lnSpc>
                <a:spcPct val="100000"/>
              </a:lnSpc>
              <a:spcBef>
                <a:spcPct val="0"/>
              </a:spcBef>
            </a:pPr>
            <a:r>
              <a:rPr lang="en-US" sz="3600" b="1" i="0" u="none">
                <a:solidFill>
                  <a:srgbClr val="000000"/>
                </a:solidFill>
                <a:ea typeface="微软雅黑" panose="020B0503020204020204" charset="-122"/>
              </a:rPr>
              <a:t>创新点与未来改进方向</a:t>
            </a:r>
            <a:endParaRPr lang="en-US" sz="3600" b="1" i="0" u="none">
              <a:solidFill>
                <a:srgbClr val="000000"/>
              </a:solidFill>
              <a:ea typeface="微软雅黑" panose="020B0503020204020204" charset="-122"/>
            </a:endParaRPr>
          </a:p>
        </p:txBody>
      </p:sp>
      <p:sp>
        <p:nvSpPr>
          <p:cNvPr id="3" name="文本占位符 2" descr="84ebf66e-f024-442d-9228-c17c79c99910"/>
          <p:cNvSpPr>
            <a:spLocks noGrp="1"/>
          </p:cNvSpPr>
          <p:nvPr>
            <p:ph type="body" idx="1" hasCustomPrompt="1"/>
          </p:nvPr>
        </p:nvSpPr>
        <p:spPr/>
        <p:txBody>
          <a:bodyPr anchorCtr="0"/>
          <a:lstStyle/>
          <a:p>
            <a:pPr algn="r">
              <a:lnSpc>
                <a:spcPct val="120000"/>
              </a:lnSpc>
              <a:spcBef>
                <a:spcPts val="1000"/>
              </a:spcBef>
            </a:pPr>
            <a:r>
              <a:rPr lang="en-US" sz="1600" b="0" i="0" u="none">
                <a:solidFill>
                  <a:srgbClr val="000000"/>
                </a:solidFill>
                <a:ea typeface="微软雅黑" panose="020B0503020204020204" charset="-122"/>
              </a:rPr>
              <a:t>展示项目的创新之处以及未来改进和扩展的方向</a:t>
            </a:r>
            <a:endParaRPr lang="en-US" sz="1600" b="0" i="0" u="none">
              <a:solidFill>
                <a:srgbClr val="000000"/>
              </a:solidFill>
              <a:ea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d3a6bf7c-b3d6-4455-904d-55ddebeb5b7a.source.2.zh-Hans.pptx" descr="84e1f0ad-a572-4c89-bf3d-cd71d33ace6f"/>
          <p:cNvGrpSpPr/>
          <p:nvPr/>
        </p:nvGrpSpPr>
        <p:grpSpPr>
          <a:xfrm>
            <a:off x="660400" y="1130300"/>
            <a:ext cx="10951210" cy="5727700"/>
            <a:chOff x="660400" y="1130300"/>
            <a:chExt cx="10951210" cy="5727700"/>
          </a:xfrm>
        </p:grpSpPr>
        <p:grpSp>
          <p:nvGrpSpPr>
            <p:cNvPr id="7" name="组合 6" descr="683bb43a-6847-486f-aea2-c87f682b207d"/>
            <p:cNvGrpSpPr/>
            <p:nvPr/>
          </p:nvGrpSpPr>
          <p:grpSpPr>
            <a:xfrm>
              <a:off x="660400" y="1130300"/>
              <a:ext cx="10951210" cy="5003799"/>
              <a:chOff x="660400" y="1130300"/>
              <a:chExt cx="10951210" cy="5003799"/>
            </a:xfrm>
          </p:grpSpPr>
          <p:sp>
            <p:nvSpPr>
              <p:cNvPr id="2" name="Title" descr="069f9a87-8bec-4d58-8fb5-59ae06a6e05d"/>
              <p:cNvSpPr/>
              <p:nvPr/>
            </p:nvSpPr>
            <p:spPr>
              <a:xfrm>
                <a:off x="660400" y="1130300"/>
                <a:ext cx="10858500"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2400" b="1" i="0" u="none">
                    <a:solidFill>
                      <a:srgbClr val="000000"/>
                    </a:solidFill>
                    <a:ea typeface="微软雅黑" panose="020B0503020204020204" charset="-122"/>
                  </a:rPr>
                  <a:t>介绍项目在功能上的创新之处</a:t>
                </a:r>
                <a:endParaRPr lang="en-US" sz="2400" b="1" i="0" u="none">
                  <a:solidFill>
                    <a:srgbClr val="000000"/>
                  </a:solidFill>
                  <a:ea typeface="微软雅黑" panose="020B0503020204020204" charset="-122"/>
                </a:endParaRPr>
              </a:p>
            </p:txBody>
          </p:sp>
          <p:grpSp>
            <p:nvGrpSpPr>
              <p:cNvPr id="10" name="组合 9" descr="d9634409-7b44-44f2-bbec-62b2358f8902"/>
              <p:cNvGrpSpPr/>
              <p:nvPr/>
            </p:nvGrpSpPr>
            <p:grpSpPr>
              <a:xfrm>
                <a:off x="1000959" y="1800539"/>
                <a:ext cx="4913705" cy="4333560"/>
                <a:chOff x="1038391" y="1997308"/>
                <a:chExt cx="3991472" cy="4333560"/>
              </a:xfrm>
            </p:grpSpPr>
            <p:sp>
              <p:nvSpPr>
                <p:cNvPr id="3" name="Text1" descr="031e6d71-c93f-43ce-893d-d1bc08696415"/>
                <p:cNvSpPr txBox="1"/>
                <p:nvPr/>
              </p:nvSpPr>
              <p:spPr>
                <a:xfrm>
                  <a:off x="1038391" y="2537307"/>
                  <a:ext cx="3991472" cy="3793561"/>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b="0" i="0" u="none">
                      <a:solidFill>
                        <a:srgbClr val="000000"/>
                      </a:solidFill>
                      <a:ea typeface="微软雅黑" panose="020B0503020204020204" charset="-122"/>
                    </a:rPr>
                    <a:t>自动哄睡：通过记录用户设定的摇晃强度和持续时间，并自动重复，帮助婴儿快速入睡</a:t>
                  </a:r>
                  <a:r>
                    <a:rPr lang="zh-CN" altLang="en-US" b="0" i="0" u="none">
                      <a:solidFill>
                        <a:srgbClr val="000000"/>
                      </a:solidFill>
                      <a:ea typeface="微软雅黑" panose="020B0503020204020204" charset="-122"/>
                    </a:rPr>
                    <a:t>。</a:t>
                  </a:r>
                  <a:endParaRPr lang="en-US" b="0" i="0" u="none">
                    <a:solidFill>
                      <a:srgbClr val="000000"/>
                    </a:solidFill>
                    <a:ea typeface="微软雅黑" panose="020B0503020204020204" charset="-122"/>
                  </a:endParaRPr>
                </a:p>
                <a:p>
                  <a:pPr algn="l">
                    <a:lnSpc>
                      <a:spcPct val="120000"/>
                    </a:lnSpc>
                  </a:pPr>
                  <a:endParaRPr lang="en-US" b="1" i="0" u="none">
                    <a:solidFill>
                      <a:srgbClr val="000000"/>
                    </a:solidFill>
                    <a:ea typeface="微软雅黑" panose="020B0503020204020204" charset="-122"/>
                  </a:endParaRPr>
                </a:p>
                <a:p>
                  <a:pPr algn="l">
                    <a:lnSpc>
                      <a:spcPct val="120000"/>
                    </a:lnSpc>
                  </a:pPr>
                  <a:endParaRPr lang="en-US" b="1" i="0" u="none">
                    <a:solidFill>
                      <a:srgbClr val="000000"/>
                    </a:solidFill>
                    <a:ea typeface="微软雅黑" panose="020B0503020204020204" charset="-122"/>
                  </a:endParaRPr>
                </a:p>
                <a:p>
                  <a:pPr algn="l">
                    <a:lnSpc>
                      <a:spcPct val="120000"/>
                    </a:lnSpc>
                  </a:pPr>
                  <a:endParaRPr lang="en-US" b="1" i="0" u="none">
                    <a:solidFill>
                      <a:srgbClr val="000000"/>
                    </a:solidFill>
                    <a:ea typeface="微软雅黑" panose="020B0503020204020204" charset="-122"/>
                  </a:endParaRPr>
                </a:p>
                <a:p>
                  <a:pPr algn="l">
                    <a:lnSpc>
                      <a:spcPct val="120000"/>
                    </a:lnSpc>
                  </a:pPr>
                  <a:r>
                    <a:rPr lang="en-US" b="1" i="0" u="none">
                      <a:solidFill>
                        <a:srgbClr val="000000"/>
                      </a:solidFill>
                      <a:ea typeface="微软雅黑" panose="020B0503020204020204" charset="-122"/>
                    </a:rPr>
                    <a:t>健康管理</a:t>
                  </a:r>
                  <a:endParaRPr lang="en-US" b="1" i="0" u="none">
                    <a:solidFill>
                      <a:srgbClr val="000000"/>
                    </a:solidFill>
                    <a:ea typeface="微软雅黑" panose="020B0503020204020204" charset="-122"/>
                  </a:endParaRPr>
                </a:p>
                <a:p>
                  <a:pPr algn="l">
                    <a:lnSpc>
                      <a:spcPct val="120000"/>
                    </a:lnSpc>
                  </a:pPr>
                  <a:endParaRPr lang="zh-CN" altLang="en-US">
                    <a:solidFill>
                      <a:srgbClr val="000000"/>
                    </a:solidFill>
                    <a:ea typeface="微软雅黑" panose="020B0503020204020204" charset="-122"/>
                    <a:sym typeface="+mn-ea"/>
                  </a:endParaRPr>
                </a:p>
                <a:p>
                  <a:pPr algn="l">
                    <a:lnSpc>
                      <a:spcPct val="120000"/>
                    </a:lnSpc>
                  </a:pPr>
                  <a:r>
                    <a:rPr lang="zh-CN" altLang="en-US">
                      <a:solidFill>
                        <a:srgbClr val="000000"/>
                      </a:solidFill>
                      <a:ea typeface="微软雅黑" panose="020B0503020204020204" charset="-122"/>
                      <a:sym typeface="+mn-ea"/>
                    </a:rPr>
                    <a:t>模拟原生态的环境保证睡眠质量</a:t>
                  </a:r>
                  <a:r>
                    <a:rPr lang="en-US">
                      <a:solidFill>
                        <a:srgbClr val="000000"/>
                      </a:solidFill>
                      <a:ea typeface="微软雅黑" panose="020B0503020204020204" charset="-122"/>
                      <a:sym typeface="+mn-ea"/>
                    </a:rPr>
                    <a:t>等，守护婴儿健康。</a:t>
                  </a:r>
                  <a:endParaRPr lang="zh-CN" altLang="en-US" b="0" i="0" u="none">
                    <a:solidFill>
                      <a:srgbClr val="000000"/>
                    </a:solidFill>
                    <a:ea typeface="微软雅黑" panose="020B0503020204020204" charset="-122"/>
                  </a:endParaRPr>
                </a:p>
                <a:p>
                  <a:pPr algn="l">
                    <a:lnSpc>
                      <a:spcPct val="120000"/>
                    </a:lnSpc>
                  </a:pPr>
                  <a:endParaRPr lang="en-US" b="1" i="0" u="none">
                    <a:solidFill>
                      <a:srgbClr val="000000"/>
                    </a:solidFill>
                    <a:ea typeface="微软雅黑" panose="020B0503020204020204" charset="-122"/>
                  </a:endParaRPr>
                </a:p>
              </p:txBody>
            </p:sp>
            <p:sp>
              <p:nvSpPr>
                <p:cNvPr id="4" name="Bullet1" descr="92dff090-3223-41bf-9201-384fa02cc9aa"/>
                <p:cNvSpPr txBox="1"/>
                <p:nvPr/>
              </p:nvSpPr>
              <p:spPr>
                <a:xfrm>
                  <a:off x="1038391" y="1997308"/>
                  <a:ext cx="3991472" cy="540000"/>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000000"/>
                      </a:solidFill>
                      <a:ea typeface="微软雅黑" panose="020B0503020204020204" charset="-122"/>
                    </a:rPr>
                    <a:t>智能哄睡与摇篮功能</a:t>
                  </a:r>
                  <a:endParaRPr lang="en-US" sz="1800" b="1" i="0" u="none" strike="noStrike">
                    <a:solidFill>
                      <a:srgbClr val="000000"/>
                    </a:solidFill>
                    <a:ea typeface="微软雅黑" panose="020B0503020204020204" charset="-122"/>
                  </a:endParaRPr>
                </a:p>
              </p:txBody>
            </p:sp>
          </p:grpSp>
          <p:grpSp>
            <p:nvGrpSpPr>
              <p:cNvPr id="62" name="组合 61" descr="e8917edc-77f7-4089-a38e-686bfaec0a73"/>
              <p:cNvGrpSpPr/>
              <p:nvPr/>
            </p:nvGrpSpPr>
            <p:grpSpPr>
              <a:xfrm>
                <a:off x="6605195" y="1800539"/>
                <a:ext cx="5006415" cy="4333560"/>
                <a:chOff x="1038391" y="1997308"/>
                <a:chExt cx="4066782" cy="4333560"/>
              </a:xfrm>
            </p:grpSpPr>
            <p:sp>
              <p:nvSpPr>
                <p:cNvPr id="64" name="Text2" descr="ce4ec82d-dee7-44b3-bd62-b96761f0f75f"/>
                <p:cNvSpPr txBox="1"/>
                <p:nvPr/>
              </p:nvSpPr>
              <p:spPr>
                <a:xfrm>
                  <a:off x="1113701" y="2537307"/>
                  <a:ext cx="3991472" cy="3793561"/>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b="0" i="0" u="none">
                      <a:solidFill>
                        <a:srgbClr val="000000"/>
                      </a:solidFill>
                      <a:ea typeface="微软雅黑" panose="020B0503020204020204" charset="-122"/>
                    </a:rPr>
                    <a:t>多传感器集成：</a:t>
                  </a:r>
                  <a:endParaRPr lang="en-US" b="0" i="0" u="none">
                    <a:solidFill>
                      <a:srgbClr val="000000"/>
                    </a:solidFill>
                    <a:ea typeface="微软雅黑" panose="020B0503020204020204" charset="-122"/>
                  </a:endParaRPr>
                </a:p>
                <a:p>
                  <a:pPr algn="l">
                    <a:lnSpc>
                      <a:spcPct val="120000"/>
                    </a:lnSpc>
                  </a:pPr>
                  <a:r>
                    <a:rPr lang="en-US" b="0" i="0" u="none">
                      <a:solidFill>
                        <a:srgbClr val="000000"/>
                      </a:solidFill>
                      <a:ea typeface="微软雅黑" panose="020B0503020204020204" charset="-122"/>
                    </a:rPr>
                    <a:t>婴儿</a:t>
                  </a:r>
                  <a:r>
                    <a:rPr lang="zh-CN" altLang="en-US" b="0" i="0" u="none">
                      <a:solidFill>
                        <a:srgbClr val="000000"/>
                      </a:solidFill>
                      <a:ea typeface="微软雅黑" panose="020B0503020204020204" charset="-122"/>
                    </a:rPr>
                    <a:t>车</a:t>
                  </a:r>
                  <a:r>
                    <a:rPr lang="en-US" b="0" i="0" u="none">
                      <a:solidFill>
                        <a:srgbClr val="000000"/>
                      </a:solidFill>
                      <a:ea typeface="微软雅黑" panose="020B0503020204020204" charset="-122"/>
                    </a:rPr>
                    <a:t>内置多种传感器，可实时监测婴儿周围的温度、湿度、空气质量</a:t>
                  </a:r>
                  <a:r>
                    <a:rPr lang="zh-CN" altLang="en-US" b="0" i="0" u="none">
                      <a:solidFill>
                        <a:srgbClr val="000000"/>
                      </a:solidFill>
                      <a:ea typeface="微软雅黑" panose="020B0503020204020204" charset="-122"/>
                    </a:rPr>
                    <a:t>等</a:t>
                  </a:r>
                  <a:r>
                    <a:rPr lang="zh-CN" altLang="en-US" b="0" i="0" u="none">
                      <a:solidFill>
                        <a:srgbClr val="000000"/>
                      </a:solidFill>
                      <a:ea typeface="微软雅黑" panose="020B0503020204020204" charset="-122"/>
                    </a:rPr>
                    <a:t>环境问题。</a:t>
                  </a:r>
                  <a:endParaRPr lang="zh-CN" altLang="en-US" b="0" i="0" u="none">
                    <a:solidFill>
                      <a:srgbClr val="000000"/>
                    </a:solidFill>
                    <a:ea typeface="微软雅黑" panose="020B0503020204020204" charset="-122"/>
                  </a:endParaRPr>
                </a:p>
                <a:p>
                  <a:pPr algn="l">
                    <a:lnSpc>
                      <a:spcPct val="120000"/>
                    </a:lnSpc>
                  </a:pPr>
                  <a:endParaRPr lang="zh-CN" altLang="en-US" b="0" i="0" u="none">
                    <a:solidFill>
                      <a:srgbClr val="000000"/>
                    </a:solidFill>
                    <a:ea typeface="微软雅黑" panose="020B0503020204020204" charset="-122"/>
                  </a:endParaRPr>
                </a:p>
                <a:p>
                  <a:pPr algn="l">
                    <a:lnSpc>
                      <a:spcPct val="120000"/>
                    </a:lnSpc>
                  </a:pPr>
                  <a:r>
                    <a:rPr lang="zh-CN" altLang="en-US" b="0" i="0" u="none">
                      <a:solidFill>
                        <a:srgbClr val="000000"/>
                      </a:solidFill>
                      <a:ea typeface="微软雅黑" panose="020B0503020204020204" charset="-122"/>
                    </a:rPr>
                    <a:t>视觉检测呛奶情况，</a:t>
                  </a:r>
                  <a:endParaRPr lang="zh-CN" altLang="en-US" b="0" i="0" u="none">
                    <a:solidFill>
                      <a:srgbClr val="000000"/>
                    </a:solidFill>
                    <a:ea typeface="微软雅黑" panose="020B0503020204020204" charset="-122"/>
                  </a:endParaRPr>
                </a:p>
                <a:p>
                  <a:pPr algn="l">
                    <a:lnSpc>
                      <a:spcPct val="120000"/>
                    </a:lnSpc>
                  </a:pPr>
                  <a:endParaRPr lang="en-US" altLang="zh-CN" b="0" i="0" u="none">
                    <a:solidFill>
                      <a:srgbClr val="000000"/>
                    </a:solidFill>
                    <a:ea typeface="微软雅黑" panose="020B0503020204020204" charset="-122"/>
                  </a:endParaRPr>
                </a:p>
                <a:p>
                  <a:pPr algn="l">
                    <a:lnSpc>
                      <a:spcPct val="120000"/>
                    </a:lnSpc>
                  </a:pPr>
                  <a:r>
                    <a:rPr lang="en-US" altLang="zh-CN" b="0" i="0" u="none">
                      <a:solidFill>
                        <a:srgbClr val="000000"/>
                      </a:solidFill>
                      <a:ea typeface="微软雅黑" panose="020B0503020204020204" charset="-122"/>
                    </a:rPr>
                    <a:t>GPS</a:t>
                  </a:r>
                  <a:r>
                    <a:rPr lang="zh-CN" altLang="en-US" b="0" i="0" u="none">
                      <a:solidFill>
                        <a:srgbClr val="000000"/>
                      </a:solidFill>
                      <a:ea typeface="微软雅黑" panose="020B0503020204020204" charset="-122"/>
                    </a:rPr>
                    <a:t>实时定位装置</a:t>
                  </a:r>
                  <a:endParaRPr lang="zh-CN" altLang="en-US" b="0" i="0" u="none">
                    <a:solidFill>
                      <a:srgbClr val="000000"/>
                    </a:solidFill>
                    <a:ea typeface="微软雅黑" panose="020B0503020204020204" charset="-122"/>
                  </a:endParaRPr>
                </a:p>
                <a:p>
                  <a:pPr algn="l">
                    <a:lnSpc>
                      <a:spcPct val="120000"/>
                    </a:lnSpc>
                  </a:pPr>
                  <a:endParaRPr lang="zh-CN" altLang="en-US" b="0" i="0" u="none">
                    <a:solidFill>
                      <a:srgbClr val="000000"/>
                    </a:solidFill>
                    <a:ea typeface="微软雅黑" panose="020B0503020204020204" charset="-122"/>
                  </a:endParaRPr>
                </a:p>
                <a:p>
                  <a:pPr algn="l">
                    <a:lnSpc>
                      <a:spcPct val="120000"/>
                    </a:lnSpc>
                  </a:pPr>
                  <a:r>
                    <a:rPr lang="zh-CN" altLang="en-US" b="0" i="0" u="none">
                      <a:solidFill>
                        <a:srgbClr val="000000"/>
                      </a:solidFill>
                      <a:ea typeface="微软雅黑" panose="020B0503020204020204" charset="-122"/>
                    </a:rPr>
                    <a:t>压力传感器检测婴儿安全状态，保障婴儿</a:t>
                  </a:r>
                  <a:r>
                    <a:rPr lang="zh-CN" altLang="en-US" b="0" i="0" u="none">
                      <a:solidFill>
                        <a:srgbClr val="000000"/>
                      </a:solidFill>
                      <a:ea typeface="微软雅黑" panose="020B0503020204020204" charset="-122"/>
                    </a:rPr>
                    <a:t>实时在</a:t>
                  </a:r>
                  <a:r>
                    <a:rPr lang="zh-CN" altLang="en-US" b="0" i="0" u="none">
                      <a:solidFill>
                        <a:srgbClr val="000000"/>
                      </a:solidFill>
                      <a:ea typeface="微软雅黑" panose="020B0503020204020204" charset="-122"/>
                    </a:rPr>
                    <a:t>身边</a:t>
                  </a:r>
                  <a:endParaRPr lang="zh-CN" altLang="en-US" b="0" i="0" u="none">
                    <a:solidFill>
                      <a:srgbClr val="000000"/>
                    </a:solidFill>
                    <a:ea typeface="微软雅黑" panose="020B0503020204020204" charset="-122"/>
                  </a:endParaRPr>
                </a:p>
                <a:p>
                  <a:pPr algn="l">
                    <a:lnSpc>
                      <a:spcPct val="120000"/>
                    </a:lnSpc>
                  </a:pPr>
                  <a:endParaRPr lang="zh-CN" altLang="en-US" b="0" i="0" u="none">
                    <a:solidFill>
                      <a:srgbClr val="000000"/>
                    </a:solidFill>
                    <a:ea typeface="微软雅黑" panose="020B0503020204020204" charset="-122"/>
                  </a:endParaRPr>
                </a:p>
                <a:p>
                  <a:pPr algn="l">
                    <a:lnSpc>
                      <a:spcPct val="120000"/>
                    </a:lnSpc>
                  </a:pPr>
                  <a:endParaRPr lang="zh-CN" altLang="en-US" b="0" i="0" u="none">
                    <a:solidFill>
                      <a:srgbClr val="000000"/>
                    </a:solidFill>
                    <a:ea typeface="微软雅黑" panose="020B0503020204020204" charset="-122"/>
                  </a:endParaRPr>
                </a:p>
              </p:txBody>
            </p:sp>
            <p:sp>
              <p:nvSpPr>
                <p:cNvPr id="65" name="Bullet2" descr="1189d8db-0edb-4cba-b91b-2d5add77e8ea"/>
                <p:cNvSpPr txBox="1"/>
                <p:nvPr/>
              </p:nvSpPr>
              <p:spPr>
                <a:xfrm>
                  <a:off x="1038391" y="1997308"/>
                  <a:ext cx="3991472" cy="540000"/>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000000"/>
                      </a:solidFill>
                      <a:ea typeface="微软雅黑" panose="020B0503020204020204" charset="-122"/>
                    </a:rPr>
                    <a:t>环境监测</a:t>
                  </a:r>
                  <a:endParaRPr lang="en-US" sz="1800" b="1" i="0" u="none" strike="noStrike">
                    <a:solidFill>
                      <a:srgbClr val="000000"/>
                    </a:solidFill>
                    <a:ea typeface="微软雅黑" panose="020B0503020204020204" charset="-122"/>
                  </a:endParaRPr>
                </a:p>
              </p:txBody>
            </p:sp>
          </p:grpSp>
        </p:grpSp>
        <p:cxnSp>
          <p:nvCxnSpPr>
            <p:cNvPr id="6" name="直接连接符 5" descr="2d2652bd-5d1c-4792-b5d4-64aeadc76da8"/>
            <p:cNvCxnSpPr/>
            <p:nvPr/>
          </p:nvCxnSpPr>
          <p:spPr>
            <a:xfrm>
              <a:off x="930400" y="2097741"/>
              <a:ext cx="0" cy="4760259"/>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descr="a1bc54ac-187f-49da-b00b-9750fe1a36bf"/>
            <p:cNvCxnSpPr/>
            <p:nvPr/>
          </p:nvCxnSpPr>
          <p:spPr>
            <a:xfrm>
              <a:off x="6536216" y="2097741"/>
              <a:ext cx="0" cy="4760259"/>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4" name="椭圆 13" descr="30ed5262-dca9-4fb7-bdb5-4b88359a3f04"/>
            <p:cNvSpPr/>
            <p:nvPr/>
          </p:nvSpPr>
          <p:spPr>
            <a:xfrm>
              <a:off x="887301" y="2048933"/>
              <a:ext cx="86198" cy="8619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sp>
          <p:nvSpPr>
            <p:cNvPr id="15" name="椭圆 14" descr="30323abe-f4e2-434e-a1de-4850d799af3a"/>
            <p:cNvSpPr/>
            <p:nvPr/>
          </p:nvSpPr>
          <p:spPr>
            <a:xfrm>
              <a:off x="6491537" y="2048933"/>
              <a:ext cx="86198" cy="8619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grpSp>
      <p:sp>
        <p:nvSpPr>
          <p:cNvPr id="5" name="标题 4" descr="e8c23d9a-d493-4fd1-a109-f0200b8656d8"/>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创新点</a:t>
            </a:r>
            <a:endParaRPr lang="en-US" sz="2800" b="1" i="0" u="none">
              <a:solidFill>
                <a:srgbClr val="000000"/>
              </a:solidFill>
              <a:ea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40864de3-5981-45a9-b9d2-3ff8b3d4e3eb.source.3.zh-Hans.pptx" descr="cbe99dc9-e672-4a83-a46b-57a184df96d1"/>
          <p:cNvGrpSpPr/>
          <p:nvPr/>
        </p:nvGrpSpPr>
        <p:grpSpPr>
          <a:xfrm>
            <a:off x="660399" y="1607284"/>
            <a:ext cx="10858500" cy="4526816"/>
            <a:chOff x="660399" y="1607284"/>
            <a:chExt cx="10858500" cy="4526816"/>
          </a:xfrm>
        </p:grpSpPr>
        <p:sp>
          <p:nvSpPr>
            <p:cNvPr id="26" name="Title" descr="d02dae12-06cd-4a61-9599-2626055fc798"/>
            <p:cNvSpPr>
              <a:spLocks noChangeAspect="1"/>
            </p:cNvSpPr>
            <p:nvPr/>
          </p:nvSpPr>
          <p:spPr>
            <a:xfrm>
              <a:off x="4395617" y="1607285"/>
              <a:ext cx="3401221" cy="814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lnSpcReduction="10000"/>
            </a:bodyPr>
            <a:lstStyle/>
            <a:p>
              <a:pPr algn="ctr"/>
              <a:r>
                <a:rPr lang="en-US" sz="2400" b="1" i="0" u="none">
                  <a:solidFill>
                    <a:srgbClr val="000000"/>
                  </a:solidFill>
                  <a:ea typeface="微软雅黑" panose="020B0503020204020204" charset="-122"/>
                </a:rPr>
                <a:t>介绍项目未来可能增加的实用功能</a:t>
              </a:r>
              <a:endParaRPr lang="en-US" sz="2400" b="1" i="0" u="none">
                <a:solidFill>
                  <a:srgbClr val="000000"/>
                </a:solidFill>
                <a:ea typeface="微软雅黑" panose="020B0503020204020204" charset="-122"/>
              </a:endParaRPr>
            </a:p>
          </p:txBody>
        </p:sp>
        <p:sp>
          <p:nvSpPr>
            <p:cNvPr id="40" name="矩形: 圆角 4" descr="b4604e08-d836-4cbf-b035-9a6086056cdf"/>
            <p:cNvSpPr/>
            <p:nvPr/>
          </p:nvSpPr>
          <p:spPr>
            <a:xfrm>
              <a:off x="660399" y="2422058"/>
              <a:ext cx="1029293" cy="51933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grpSp>
          <p:nvGrpSpPr>
            <p:cNvPr id="2" name="组合 1" descr="fa827bff-b7fe-422c-84a7-a5c20070f33d"/>
            <p:cNvGrpSpPr/>
            <p:nvPr/>
          </p:nvGrpSpPr>
          <p:grpSpPr>
            <a:xfrm>
              <a:off x="660399" y="1607284"/>
              <a:ext cx="3401220" cy="4526816"/>
              <a:chOff x="660399" y="1607284"/>
              <a:chExt cx="3401220" cy="4526816"/>
            </a:xfrm>
          </p:grpSpPr>
          <p:sp>
            <p:nvSpPr>
              <p:cNvPr id="46" name="ComponentBackground1" descr="329d4f23-9964-42db-8ebe-476112a98dd9"/>
              <p:cNvSpPr/>
              <p:nvPr/>
            </p:nvSpPr>
            <p:spPr>
              <a:xfrm>
                <a:off x="908640" y="1607284"/>
                <a:ext cx="3152979" cy="4526816"/>
              </a:xfrm>
              <a:prstGeom prst="roundRect">
                <a:avLst>
                  <a:gd name="adj" fmla="val 10672"/>
                </a:avLst>
              </a:prstGeom>
              <a:gradFill flip="none" rotWithShape="1">
                <a:gsLst>
                  <a:gs pos="0">
                    <a:schemeClr val="bg1"/>
                  </a:gs>
                  <a:gs pos="97000">
                    <a:schemeClr val="accent1">
                      <a:lumMod val="20000"/>
                      <a:lumOff val="80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l"/>
              </a:p>
            </p:txBody>
          </p:sp>
          <p:sp>
            <p:nvSpPr>
              <p:cNvPr id="48" name="Bullet1" descr="9fc982f5-cc58-4211-a47e-bdeb979bfe40"/>
              <p:cNvSpPr txBox="1"/>
              <p:nvPr/>
            </p:nvSpPr>
            <p:spPr>
              <a:xfrm>
                <a:off x="1040873" y="2595754"/>
                <a:ext cx="2849008" cy="600191"/>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健康数据分析</a:t>
                </a:r>
                <a:endParaRPr lang="en-US" sz="1800" b="1" i="0" u="none" strike="noStrike">
                  <a:solidFill>
                    <a:srgbClr val="000000"/>
                  </a:solidFill>
                  <a:ea typeface="微软雅黑" panose="020B0503020204020204" charset="-122"/>
                </a:endParaRPr>
              </a:p>
            </p:txBody>
          </p:sp>
          <p:sp>
            <p:nvSpPr>
              <p:cNvPr id="50" name="Text1" descr="84e55f7b-7dfe-4911-8ba4-d970d995fd19"/>
              <p:cNvSpPr txBox="1"/>
              <p:nvPr/>
            </p:nvSpPr>
            <p:spPr>
              <a:xfrm>
                <a:off x="1040873" y="3274317"/>
                <a:ext cx="2849008" cy="1229292"/>
              </a:xfrm>
              <a:prstGeom prst="rect">
                <a:avLst/>
              </a:prstGeom>
              <a:noFill/>
              <a:ln>
                <a:noFill/>
              </a:ln>
            </p:spPr>
            <p:txBody>
              <a:bodyPr wrap="square" lIns="91440" tIns="45720" rIns="91440" bIns="45720" anchor="t" anchorCtr="0">
                <a:noAutofit/>
              </a:bodyPr>
              <a:lstStyle/>
              <a:p>
                <a:pPr algn="l">
                  <a:lnSpc>
                    <a:spcPct val="120000"/>
                  </a:lnSpc>
                  <a:spcBef>
                    <a:spcPct val="0"/>
                  </a:spcBef>
                  <a:spcAft>
                    <a:spcPct val="0"/>
                  </a:spcAft>
                </a:pPr>
                <a:r>
                  <a:rPr lang="en-US" b="0" i="0" u="none" strike="noStrike">
                    <a:solidFill>
                      <a:srgbClr val="000000"/>
                    </a:solidFill>
                    <a:ea typeface="微软雅黑" panose="020B0503020204020204" charset="-122"/>
                  </a:rPr>
                  <a:t>通过监测婴儿的呼吸、心跳等数据，为家长提供更全面的健康信息，实现智能交互。</a:t>
                </a:r>
                <a:endParaRPr lang="en-US" b="0" i="0" u="none" strike="noStrike">
                  <a:solidFill>
                    <a:srgbClr val="000000"/>
                  </a:solidFill>
                  <a:ea typeface="微软雅黑" panose="020B0503020204020204" charset="-122"/>
                </a:endParaRPr>
              </a:p>
            </p:txBody>
          </p:sp>
          <p:sp>
            <p:nvSpPr>
              <p:cNvPr id="44" name="IconBackground1" descr="9e48262b-c068-46c4-a710-b52158a987d2"/>
              <p:cNvSpPr txBox="1">
                <a:spLocks noChangeAspect="1"/>
              </p:cNvSpPr>
              <p:nvPr/>
            </p:nvSpPr>
            <p:spPr>
              <a:xfrm>
                <a:off x="2155391" y="5230346"/>
                <a:ext cx="659496" cy="666823"/>
              </a:xfrm>
              <a:prstGeom prst="roundRect">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p>
            </p:txBody>
          </p:sp>
          <p:sp>
            <p:nvSpPr>
              <p:cNvPr id="45" name="Icon1" descr="f8bf41a0-b99d-49f7-b35f-ed0fe088b983"/>
              <p:cNvSpPr/>
              <p:nvPr/>
            </p:nvSpPr>
            <p:spPr>
              <a:xfrm>
                <a:off x="2313612" y="5373660"/>
                <a:ext cx="343030" cy="380189"/>
              </a:xfrm>
              <a:custGeom>
                <a:avLst/>
                <a:gdLst>
                  <a:gd name="connsiteX0" fmla="*/ 248770 w 495300"/>
                  <a:gd name="connsiteY0" fmla="*/ 621 h 542925"/>
                  <a:gd name="connsiteX1" fmla="*/ 496420 w 495300"/>
                  <a:gd name="connsiteY1" fmla="*/ 248271 h 542925"/>
                  <a:gd name="connsiteX2" fmla="*/ 324017 w 495300"/>
                  <a:gd name="connsiteY2" fmla="*/ 484491 h 542925"/>
                  <a:gd name="connsiteX3" fmla="*/ 346877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663 w 495300"/>
                  <a:gd name="connsiteY8" fmla="*/ 524496 h 542925"/>
                  <a:gd name="connsiteX9" fmla="*/ 173523 w 495300"/>
                  <a:gd name="connsiteY9" fmla="*/ 484491 h 542925"/>
                  <a:gd name="connsiteX10" fmla="*/ 1120 w 495300"/>
                  <a:gd name="connsiteY10" fmla="*/ 248271 h 542925"/>
                  <a:gd name="connsiteX11" fmla="*/ 248770 w 495300"/>
                  <a:gd name="connsiteY11" fmla="*/ 621 h 542925"/>
                  <a:gd name="connsiteX12" fmla="*/ 192573 w 495300"/>
                  <a:gd name="connsiteY12" fmla="*/ 489254 h 542925"/>
                  <a:gd name="connsiteX13" fmla="*/ 172570 w 495300"/>
                  <a:gd name="connsiteY13" fmla="*/ 524496 h 542925"/>
                  <a:gd name="connsiteX14" fmla="*/ 324970 w 495300"/>
                  <a:gd name="connsiteY14" fmla="*/ 524496 h 542925"/>
                  <a:gd name="connsiteX15" fmla="*/ 304967 w 495300"/>
                  <a:gd name="connsiteY15" fmla="*/ 489254 h 542925"/>
                  <a:gd name="connsiteX16" fmla="*/ 248770 w 495300"/>
                  <a:gd name="connsiteY16" fmla="*/ 495921 h 542925"/>
                  <a:gd name="connsiteX17" fmla="*/ 192573 w 495300"/>
                  <a:gd name="connsiteY17" fmla="*/ 489254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930" y="621"/>
                      <a:pt x="496420" y="111111"/>
                      <a:pt x="496420" y="248271"/>
                    </a:cubicBezTo>
                    <a:cubicBezTo>
                      <a:pt x="496420" y="358761"/>
                      <a:pt x="424030" y="452106"/>
                      <a:pt x="324017" y="484491"/>
                    </a:cubicBezTo>
                    <a:lnTo>
                      <a:pt x="346877" y="524496"/>
                    </a:lnTo>
                    <a:lnTo>
                      <a:pt x="420220" y="524496"/>
                    </a:lnTo>
                    <a:lnTo>
                      <a:pt x="420220" y="543546"/>
                    </a:lnTo>
                    <a:lnTo>
                      <a:pt x="77320" y="543546"/>
                    </a:lnTo>
                    <a:lnTo>
                      <a:pt x="77320" y="524496"/>
                    </a:lnTo>
                    <a:lnTo>
                      <a:pt x="150663" y="524496"/>
                    </a:lnTo>
                    <a:lnTo>
                      <a:pt x="173523" y="484491"/>
                    </a:lnTo>
                    <a:cubicBezTo>
                      <a:pt x="73510" y="453059"/>
                      <a:pt x="1120" y="358761"/>
                      <a:pt x="1120" y="248271"/>
                    </a:cubicBezTo>
                    <a:cubicBezTo>
                      <a:pt x="1120" y="111111"/>
                      <a:pt x="111610" y="621"/>
                      <a:pt x="248770" y="621"/>
                    </a:cubicBezTo>
                    <a:close/>
                    <a:moveTo>
                      <a:pt x="192573" y="489254"/>
                    </a:moveTo>
                    <a:lnTo>
                      <a:pt x="172570" y="524496"/>
                    </a:lnTo>
                    <a:lnTo>
                      <a:pt x="324970" y="524496"/>
                    </a:lnTo>
                    <a:lnTo>
                      <a:pt x="304967" y="489254"/>
                    </a:lnTo>
                    <a:cubicBezTo>
                      <a:pt x="286870" y="493064"/>
                      <a:pt x="267820" y="495921"/>
                      <a:pt x="248770" y="495921"/>
                    </a:cubicBezTo>
                    <a:cubicBezTo>
                      <a:pt x="229720" y="495921"/>
                      <a:pt x="210670" y="493064"/>
                      <a:pt x="192573" y="489254"/>
                    </a:cubicBezTo>
                    <a:close/>
                    <a:moveTo>
                      <a:pt x="248770" y="143496"/>
                    </a:moveTo>
                    <a:cubicBezTo>
                      <a:pt x="190667" y="143496"/>
                      <a:pt x="143995" y="190169"/>
                      <a:pt x="143995" y="248271"/>
                    </a:cubicBezTo>
                    <a:cubicBezTo>
                      <a:pt x="143995" y="306374"/>
                      <a:pt x="190667" y="353046"/>
                      <a:pt x="248770" y="353046"/>
                    </a:cubicBezTo>
                    <a:cubicBezTo>
                      <a:pt x="306873" y="353046"/>
                      <a:pt x="353545" y="306374"/>
                      <a:pt x="353545" y="248271"/>
                    </a:cubicBezTo>
                    <a:cubicBezTo>
                      <a:pt x="353545" y="190169"/>
                      <a:pt x="306873" y="143496"/>
                      <a:pt x="248770" y="143496"/>
                    </a:cubicBezTo>
                    <a:close/>
                    <a:moveTo>
                      <a:pt x="367833" y="114921"/>
                    </a:moveTo>
                    <a:cubicBezTo>
                      <a:pt x="360213" y="114921"/>
                      <a:pt x="353545" y="121589"/>
                      <a:pt x="353545" y="129209"/>
                    </a:cubicBezTo>
                    <a:cubicBezTo>
                      <a:pt x="353545" y="136829"/>
                      <a:pt x="360213" y="143496"/>
                      <a:pt x="367833" y="143496"/>
                    </a:cubicBezTo>
                    <a:cubicBezTo>
                      <a:pt x="375452" y="143496"/>
                      <a:pt x="382120" y="136829"/>
                      <a:pt x="382120" y="129209"/>
                    </a:cubicBezTo>
                    <a:cubicBezTo>
                      <a:pt x="382120" y="121589"/>
                      <a:pt x="375452" y="114921"/>
                      <a:pt x="367833" y="114921"/>
                    </a:cubicBezTo>
                    <a:close/>
                  </a:path>
                </a:pathLst>
              </a:custGeom>
              <a:solidFill>
                <a:srgbClr val="FFFFFF"/>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43" name="Number1" descr="1e6e80e6-949e-47a4-9d6f-f8f7e4e973d3"/>
              <p:cNvSpPr/>
              <p:nvPr/>
            </p:nvSpPr>
            <p:spPr>
              <a:xfrm>
                <a:off x="660399" y="1800829"/>
                <a:ext cx="1402286" cy="933200"/>
              </a:xfrm>
              <a:custGeom>
                <a:avLst/>
                <a:gdLst>
                  <a:gd name="connsiteX0" fmla="*/ 256525 w 1085693"/>
                  <a:gd name="connsiteY0" fmla="*/ 0 h 714569"/>
                  <a:gd name="connsiteX1" fmla="*/ 829168 w 1085693"/>
                  <a:gd name="connsiteY1" fmla="*/ 0 h 714569"/>
                  <a:gd name="connsiteX2" fmla="*/ 1085693 w 1085693"/>
                  <a:gd name="connsiteY2" fmla="*/ 256525 h 714569"/>
                  <a:gd name="connsiteX3" fmla="*/ 1085692 w 1085693"/>
                  <a:gd name="connsiteY3" fmla="*/ 256525 h 714569"/>
                  <a:gd name="connsiteX4" fmla="*/ 829167 w 1085693"/>
                  <a:gd name="connsiteY4" fmla="*/ 513050 h 714569"/>
                  <a:gd name="connsiteX5" fmla="*/ 256525 w 1085693"/>
                  <a:gd name="connsiteY5" fmla="*/ 513049 h 714569"/>
                  <a:gd name="connsiteX6" fmla="*/ 250287 w 1085693"/>
                  <a:gd name="connsiteY6" fmla="*/ 513049 h 714569"/>
                  <a:gd name="connsiteX7" fmla="*/ 13921 w 1085693"/>
                  <a:gd name="connsiteY7" fmla="*/ 669723 h 714569"/>
                  <a:gd name="connsiteX8" fmla="*/ 0 w 1085693"/>
                  <a:gd name="connsiteY8" fmla="*/ 714569 h 714569"/>
                  <a:gd name="connsiteX9" fmla="*/ 0 w 1085693"/>
                  <a:gd name="connsiteY9" fmla="*/ 256525 h 714569"/>
                  <a:gd name="connsiteX10" fmla="*/ 0 w 1085693"/>
                  <a:gd name="connsiteY10" fmla="*/ 256524 h 714569"/>
                  <a:gd name="connsiteX11" fmla="*/ 0 w 1085693"/>
                  <a:gd name="connsiteY11" fmla="*/ 256524 h 714569"/>
                  <a:gd name="connsiteX12" fmla="*/ 20159 w 1085693"/>
                  <a:gd name="connsiteY12" fmla="*/ 156674 h 714569"/>
                  <a:gd name="connsiteX13" fmla="*/ 256525 w 1085693"/>
                  <a:gd name="connsiteY13" fmla="*/ 0 h 714569"/>
                  <a:gd name="connsiteX0-1" fmla="*/ 256525 w 1085693"/>
                  <a:gd name="connsiteY0-2" fmla="*/ 0 h 714569"/>
                  <a:gd name="connsiteX1-3" fmla="*/ 829168 w 1085693"/>
                  <a:gd name="connsiteY1-4" fmla="*/ 0 h 714569"/>
                  <a:gd name="connsiteX2-5" fmla="*/ 1085693 w 1085693"/>
                  <a:gd name="connsiteY2-6" fmla="*/ 256525 h 714569"/>
                  <a:gd name="connsiteX3-7" fmla="*/ 1085692 w 1085693"/>
                  <a:gd name="connsiteY3-8" fmla="*/ 256525 h 714569"/>
                  <a:gd name="connsiteX4-9" fmla="*/ 829167 w 1085693"/>
                  <a:gd name="connsiteY4-10" fmla="*/ 513050 h 714569"/>
                  <a:gd name="connsiteX5-11" fmla="*/ 256525 w 1085693"/>
                  <a:gd name="connsiteY5-12" fmla="*/ 513049 h 714569"/>
                  <a:gd name="connsiteX6-13" fmla="*/ 250287 w 1085693"/>
                  <a:gd name="connsiteY6-14" fmla="*/ 513049 h 714569"/>
                  <a:gd name="connsiteX7-15" fmla="*/ 13921 w 1085693"/>
                  <a:gd name="connsiteY7-16" fmla="*/ 669723 h 714569"/>
                  <a:gd name="connsiteX8-17" fmla="*/ 0 w 1085693"/>
                  <a:gd name="connsiteY8-18" fmla="*/ 714569 h 714569"/>
                  <a:gd name="connsiteX9-19" fmla="*/ 0 w 1085693"/>
                  <a:gd name="connsiteY9-20" fmla="*/ 256525 h 714569"/>
                  <a:gd name="connsiteX10-21" fmla="*/ 0 w 1085693"/>
                  <a:gd name="connsiteY10-22" fmla="*/ 256524 h 714569"/>
                  <a:gd name="connsiteX11-23" fmla="*/ 20159 w 1085693"/>
                  <a:gd name="connsiteY11-24" fmla="*/ 156674 h 714569"/>
                  <a:gd name="connsiteX12-25" fmla="*/ 256525 w 1085693"/>
                  <a:gd name="connsiteY12-26" fmla="*/ 0 h 714569"/>
                  <a:gd name="connsiteX0-27" fmla="*/ 256525 w 1085693"/>
                  <a:gd name="connsiteY0-28" fmla="*/ 0 h 714569"/>
                  <a:gd name="connsiteX1-29" fmla="*/ 829168 w 1085693"/>
                  <a:gd name="connsiteY1-30" fmla="*/ 0 h 714569"/>
                  <a:gd name="connsiteX2-31" fmla="*/ 1085693 w 1085693"/>
                  <a:gd name="connsiteY2-32" fmla="*/ 256525 h 714569"/>
                  <a:gd name="connsiteX3-33" fmla="*/ 1085692 w 1085693"/>
                  <a:gd name="connsiteY3-34" fmla="*/ 256525 h 714569"/>
                  <a:gd name="connsiteX4-35" fmla="*/ 829167 w 1085693"/>
                  <a:gd name="connsiteY4-36" fmla="*/ 513050 h 714569"/>
                  <a:gd name="connsiteX5-37" fmla="*/ 256525 w 1085693"/>
                  <a:gd name="connsiteY5-38" fmla="*/ 513049 h 714569"/>
                  <a:gd name="connsiteX6-39" fmla="*/ 250287 w 1085693"/>
                  <a:gd name="connsiteY6-40" fmla="*/ 513049 h 714569"/>
                  <a:gd name="connsiteX7-41" fmla="*/ 13921 w 1085693"/>
                  <a:gd name="connsiteY7-42" fmla="*/ 669723 h 714569"/>
                  <a:gd name="connsiteX8-43" fmla="*/ 0 w 1085693"/>
                  <a:gd name="connsiteY8-44" fmla="*/ 714569 h 714569"/>
                  <a:gd name="connsiteX9-45" fmla="*/ 0 w 1085693"/>
                  <a:gd name="connsiteY9-46" fmla="*/ 256525 h 714569"/>
                  <a:gd name="connsiteX10-47" fmla="*/ 20159 w 1085693"/>
                  <a:gd name="connsiteY10-48" fmla="*/ 156674 h 714569"/>
                  <a:gd name="connsiteX11-49" fmla="*/ 256525 w 1085693"/>
                  <a:gd name="connsiteY11-50" fmla="*/ 0 h 714569"/>
                  <a:gd name="connsiteX0-51" fmla="*/ 256525 w 1085693"/>
                  <a:gd name="connsiteY0-52" fmla="*/ 0 h 714569"/>
                  <a:gd name="connsiteX1-53" fmla="*/ 829168 w 1085693"/>
                  <a:gd name="connsiteY1-54" fmla="*/ 0 h 714569"/>
                  <a:gd name="connsiteX2-55" fmla="*/ 1085693 w 1085693"/>
                  <a:gd name="connsiteY2-56" fmla="*/ 256525 h 714569"/>
                  <a:gd name="connsiteX3-57" fmla="*/ 1085692 w 1085693"/>
                  <a:gd name="connsiteY3-58" fmla="*/ 256525 h 714569"/>
                  <a:gd name="connsiteX4-59" fmla="*/ 829167 w 1085693"/>
                  <a:gd name="connsiteY4-60" fmla="*/ 513050 h 714569"/>
                  <a:gd name="connsiteX5-61" fmla="*/ 256525 w 1085693"/>
                  <a:gd name="connsiteY5-62" fmla="*/ 513049 h 714569"/>
                  <a:gd name="connsiteX6-63" fmla="*/ 250287 w 1085693"/>
                  <a:gd name="connsiteY6-64" fmla="*/ 513049 h 714569"/>
                  <a:gd name="connsiteX7-65" fmla="*/ 13921 w 1085693"/>
                  <a:gd name="connsiteY7-66" fmla="*/ 669723 h 714569"/>
                  <a:gd name="connsiteX8-67" fmla="*/ 0 w 1085693"/>
                  <a:gd name="connsiteY8-68" fmla="*/ 714569 h 714569"/>
                  <a:gd name="connsiteX9-69" fmla="*/ 0 w 1085693"/>
                  <a:gd name="connsiteY9-70" fmla="*/ 256525 h 714569"/>
                  <a:gd name="connsiteX10-71" fmla="*/ 20159 w 1085693"/>
                  <a:gd name="connsiteY10-72" fmla="*/ 156674 h 714569"/>
                  <a:gd name="connsiteX11-73" fmla="*/ 256525 w 1085693"/>
                  <a:gd name="connsiteY11-74" fmla="*/ 0 h 714569"/>
                  <a:gd name="connsiteX0-75" fmla="*/ 256525 w 1085693"/>
                  <a:gd name="connsiteY0-76" fmla="*/ 0 h 714569"/>
                  <a:gd name="connsiteX1-77" fmla="*/ 829168 w 1085693"/>
                  <a:gd name="connsiteY1-78" fmla="*/ 0 h 714569"/>
                  <a:gd name="connsiteX2-79" fmla="*/ 1085693 w 1085693"/>
                  <a:gd name="connsiteY2-80" fmla="*/ 256525 h 714569"/>
                  <a:gd name="connsiteX3-81" fmla="*/ 1085692 w 1085693"/>
                  <a:gd name="connsiteY3-82" fmla="*/ 256525 h 714569"/>
                  <a:gd name="connsiteX4-83" fmla="*/ 829167 w 1085693"/>
                  <a:gd name="connsiteY4-84" fmla="*/ 513050 h 714569"/>
                  <a:gd name="connsiteX5-85" fmla="*/ 256525 w 1085693"/>
                  <a:gd name="connsiteY5-86" fmla="*/ 513049 h 714569"/>
                  <a:gd name="connsiteX6-87" fmla="*/ 250287 w 1085693"/>
                  <a:gd name="connsiteY6-88" fmla="*/ 513049 h 714569"/>
                  <a:gd name="connsiteX7-89" fmla="*/ 13921 w 1085693"/>
                  <a:gd name="connsiteY7-90" fmla="*/ 669723 h 714569"/>
                  <a:gd name="connsiteX8-91" fmla="*/ 0 w 1085693"/>
                  <a:gd name="connsiteY8-92" fmla="*/ 714569 h 714569"/>
                  <a:gd name="connsiteX9-93" fmla="*/ 4762 w 1085693"/>
                  <a:gd name="connsiteY9-94" fmla="*/ 282719 h 714569"/>
                  <a:gd name="connsiteX10-95" fmla="*/ 20159 w 1085693"/>
                  <a:gd name="connsiteY10-96" fmla="*/ 156674 h 714569"/>
                  <a:gd name="connsiteX11-97" fmla="*/ 256525 w 1085693"/>
                  <a:gd name="connsiteY11-98" fmla="*/ 0 h 7145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1085693" h="714569">
                    <a:moveTo>
                      <a:pt x="256525" y="0"/>
                    </a:moveTo>
                    <a:lnTo>
                      <a:pt x="829168" y="0"/>
                    </a:lnTo>
                    <a:cubicBezTo>
                      <a:pt x="970843" y="0"/>
                      <a:pt x="1085693" y="114850"/>
                      <a:pt x="1085693" y="256525"/>
                    </a:cubicBezTo>
                    <a:lnTo>
                      <a:pt x="1085692" y="256525"/>
                    </a:lnTo>
                    <a:cubicBezTo>
                      <a:pt x="1085692" y="398200"/>
                      <a:pt x="970842" y="513050"/>
                      <a:pt x="829167" y="513050"/>
                    </a:cubicBezTo>
                    <a:lnTo>
                      <a:pt x="256525" y="513049"/>
                    </a:lnTo>
                    <a:lnTo>
                      <a:pt x="250287" y="513049"/>
                    </a:lnTo>
                    <a:cubicBezTo>
                      <a:pt x="144031" y="513049"/>
                      <a:pt x="52864" y="577652"/>
                      <a:pt x="13921" y="669723"/>
                    </a:cubicBezTo>
                    <a:lnTo>
                      <a:pt x="0" y="714569"/>
                    </a:lnTo>
                    <a:cubicBezTo>
                      <a:pt x="1587" y="570619"/>
                      <a:pt x="3175" y="426669"/>
                      <a:pt x="4762" y="282719"/>
                    </a:cubicBezTo>
                    <a:cubicBezTo>
                      <a:pt x="11482" y="249435"/>
                      <a:pt x="-3230" y="218533"/>
                      <a:pt x="20159" y="156674"/>
                    </a:cubicBezTo>
                    <a:cubicBezTo>
                      <a:pt x="59102" y="64603"/>
                      <a:pt x="150269" y="0"/>
                      <a:pt x="256525" y="0"/>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288000" rtlCol="0" anchor="ctr" anchorCtr="0">
                <a:normAutofit/>
              </a:bodyPr>
              <a:lstStyle/>
              <a:p>
                <a:pPr algn="ctr"/>
                <a:r>
                  <a:rPr lang="en-US" sz="2800" b="1" i="0" u="none">
                    <a:solidFill>
                      <a:srgbClr val="FFFFFF"/>
                    </a:solidFill>
                    <a:latin typeface="Arial" panose="020B0604020202020204"/>
                  </a:rPr>
                  <a:t>01</a:t>
                </a:r>
                <a:endParaRPr lang="en-US" sz="2800" b="1" i="0" u="none">
                  <a:solidFill>
                    <a:srgbClr val="FFFFFF"/>
                  </a:solidFill>
                  <a:latin typeface="Arial" panose="020B0604020202020204"/>
                </a:endParaRPr>
              </a:p>
            </p:txBody>
          </p:sp>
        </p:grpSp>
        <p:sp>
          <p:nvSpPr>
            <p:cNvPr id="30" name="矩形: 圆角 4" descr="3a6d16b4-9f6d-471d-8246-b206e3c7e33c"/>
            <p:cNvSpPr/>
            <p:nvPr/>
          </p:nvSpPr>
          <p:spPr>
            <a:xfrm>
              <a:off x="4389039" y="3482544"/>
              <a:ext cx="1029293" cy="519339"/>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grpSp>
          <p:nvGrpSpPr>
            <p:cNvPr id="3" name="组合 2" descr="7e275ea4-5a7c-4cf0-b166-d5b2ea50b3ea"/>
            <p:cNvGrpSpPr/>
            <p:nvPr/>
          </p:nvGrpSpPr>
          <p:grpSpPr>
            <a:xfrm>
              <a:off x="4389039" y="2667771"/>
              <a:ext cx="3401220" cy="3466329"/>
              <a:chOff x="4389039" y="2667771"/>
              <a:chExt cx="3401220" cy="3466329"/>
            </a:xfrm>
          </p:grpSpPr>
          <p:sp>
            <p:nvSpPr>
              <p:cNvPr id="36" name="ComponentBackground2" descr="aed2268a-1b15-405a-95e2-dbb6e463aa72"/>
              <p:cNvSpPr/>
              <p:nvPr/>
            </p:nvSpPr>
            <p:spPr>
              <a:xfrm>
                <a:off x="4637280" y="2667771"/>
                <a:ext cx="3152979" cy="3466329"/>
              </a:xfrm>
              <a:prstGeom prst="roundRect">
                <a:avLst>
                  <a:gd name="adj" fmla="val 10672"/>
                </a:avLst>
              </a:prstGeom>
              <a:gradFill flip="none" rotWithShape="1">
                <a:gsLst>
                  <a:gs pos="0">
                    <a:schemeClr val="bg1"/>
                  </a:gs>
                  <a:gs pos="97000">
                    <a:schemeClr val="accent2">
                      <a:lumMod val="20000"/>
                      <a:lumOff val="80000"/>
                    </a:schemeClr>
                  </a:gs>
                </a:gsLst>
                <a:path path="circle">
                  <a:fillToRect l="50000" t="50000" r="50000" b="50000"/>
                </a:path>
                <a:tileRect/>
              </a:gradFill>
              <a:ln w="9525">
                <a:solidFill>
                  <a:schemeClr val="accent2">
                    <a:alpha val="50000"/>
                  </a:schemeClr>
                </a:solidFill>
              </a:ln>
              <a:effectLst>
                <a:outerShdw blurRad="203200" dist="152400" dir="19260000" algn="ctr"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l"/>
              </a:p>
            </p:txBody>
          </p:sp>
          <p:sp>
            <p:nvSpPr>
              <p:cNvPr id="38" name="Bullet2" descr="21e72038-85a7-4b2b-aeca-d8a9aa780474"/>
              <p:cNvSpPr txBox="1"/>
              <p:nvPr/>
            </p:nvSpPr>
            <p:spPr>
              <a:xfrm>
                <a:off x="4769513" y="3656241"/>
                <a:ext cx="2849008" cy="600191"/>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实时视频监控</a:t>
                </a:r>
                <a:endParaRPr lang="en-US" sz="1800" b="1" i="0" u="none" strike="noStrike">
                  <a:solidFill>
                    <a:srgbClr val="000000"/>
                  </a:solidFill>
                  <a:ea typeface="微软雅黑" panose="020B0503020204020204" charset="-122"/>
                </a:endParaRPr>
              </a:p>
            </p:txBody>
          </p:sp>
          <p:sp>
            <p:nvSpPr>
              <p:cNvPr id="39" name="Text2" descr="4ecc8cbb-6e0a-4143-8c11-a0d08dbac8e2"/>
              <p:cNvSpPr txBox="1"/>
              <p:nvPr/>
            </p:nvSpPr>
            <p:spPr>
              <a:xfrm>
                <a:off x="4769513" y="4334804"/>
                <a:ext cx="2849008" cy="732584"/>
              </a:xfrm>
              <a:prstGeom prst="rect">
                <a:avLst/>
              </a:prstGeom>
              <a:noFill/>
              <a:ln>
                <a:noFill/>
              </a:ln>
            </p:spPr>
            <p:txBody>
              <a:bodyPr wrap="square" lIns="91440" tIns="45720" rIns="91440" bIns="45720" anchor="t" anchorCtr="0">
                <a:noAutofit/>
              </a:bodyPr>
              <a:lstStyle/>
              <a:p>
                <a:pPr algn="l">
                  <a:lnSpc>
                    <a:spcPct val="120000"/>
                  </a:lnSpc>
                  <a:spcBef>
                    <a:spcPct val="0"/>
                  </a:spcBef>
                  <a:spcAft>
                    <a:spcPct val="0"/>
                  </a:spcAft>
                </a:pPr>
                <a:r>
                  <a:rPr lang="en-US" sz="1600" b="0" i="0" u="none" strike="noStrike">
                    <a:solidFill>
                      <a:srgbClr val="000000"/>
                    </a:solidFill>
                    <a:ea typeface="微软雅黑" panose="020B0503020204020204" charset="-122"/>
                  </a:rPr>
                  <a:t>配备摄像头，父母可以通过手机应用程序实时查看婴儿的状态，甚至记录成长点滴。</a:t>
                </a:r>
                <a:endParaRPr lang="en-US" sz="1600" b="0" i="0" u="none" strike="noStrike">
                  <a:solidFill>
                    <a:srgbClr val="000000"/>
                  </a:solidFill>
                  <a:ea typeface="微软雅黑" panose="020B0503020204020204" charset="-122"/>
                </a:endParaRPr>
              </a:p>
            </p:txBody>
          </p:sp>
          <p:sp>
            <p:nvSpPr>
              <p:cNvPr id="34" name="IconBackground2" descr="bfd558ec-ae1f-4701-9801-1c3f3c22adcc"/>
              <p:cNvSpPr txBox="1">
                <a:spLocks noChangeAspect="1"/>
              </p:cNvSpPr>
              <p:nvPr/>
            </p:nvSpPr>
            <p:spPr>
              <a:xfrm>
                <a:off x="5884031" y="5235771"/>
                <a:ext cx="659496" cy="666822"/>
              </a:xfrm>
              <a:prstGeom prst="roundRect">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p>
            </p:txBody>
          </p:sp>
          <p:sp>
            <p:nvSpPr>
              <p:cNvPr id="35" name="Icon2" descr="551f2d83-b405-4ec9-9743-d503c6fa58ff"/>
              <p:cNvSpPr/>
              <p:nvPr/>
            </p:nvSpPr>
            <p:spPr>
              <a:xfrm>
                <a:off x="6042250" y="5383145"/>
                <a:ext cx="343034" cy="372062"/>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3" name="Number2" descr="aa5f7826-26d2-4922-a3ba-83ade05f3645"/>
              <p:cNvSpPr/>
              <p:nvPr/>
            </p:nvSpPr>
            <p:spPr>
              <a:xfrm>
                <a:off x="4389039" y="2861316"/>
                <a:ext cx="1402286" cy="933199"/>
              </a:xfrm>
              <a:custGeom>
                <a:avLst/>
                <a:gdLst>
                  <a:gd name="connsiteX0" fmla="*/ 256525 w 1085693"/>
                  <a:gd name="connsiteY0" fmla="*/ 0 h 714569"/>
                  <a:gd name="connsiteX1" fmla="*/ 829168 w 1085693"/>
                  <a:gd name="connsiteY1" fmla="*/ 0 h 714569"/>
                  <a:gd name="connsiteX2" fmla="*/ 1085693 w 1085693"/>
                  <a:gd name="connsiteY2" fmla="*/ 256525 h 714569"/>
                  <a:gd name="connsiteX3" fmla="*/ 1085692 w 1085693"/>
                  <a:gd name="connsiteY3" fmla="*/ 256525 h 714569"/>
                  <a:gd name="connsiteX4" fmla="*/ 829167 w 1085693"/>
                  <a:gd name="connsiteY4" fmla="*/ 513050 h 714569"/>
                  <a:gd name="connsiteX5" fmla="*/ 256525 w 1085693"/>
                  <a:gd name="connsiteY5" fmla="*/ 513049 h 714569"/>
                  <a:gd name="connsiteX6" fmla="*/ 250287 w 1085693"/>
                  <a:gd name="connsiteY6" fmla="*/ 513049 h 714569"/>
                  <a:gd name="connsiteX7" fmla="*/ 13921 w 1085693"/>
                  <a:gd name="connsiteY7" fmla="*/ 669723 h 714569"/>
                  <a:gd name="connsiteX8" fmla="*/ 0 w 1085693"/>
                  <a:gd name="connsiteY8" fmla="*/ 714569 h 714569"/>
                  <a:gd name="connsiteX9" fmla="*/ 0 w 1085693"/>
                  <a:gd name="connsiteY9" fmla="*/ 256525 h 714569"/>
                  <a:gd name="connsiteX10" fmla="*/ 0 w 1085693"/>
                  <a:gd name="connsiteY10" fmla="*/ 256524 h 714569"/>
                  <a:gd name="connsiteX11" fmla="*/ 0 w 1085693"/>
                  <a:gd name="connsiteY11" fmla="*/ 256524 h 714569"/>
                  <a:gd name="connsiteX12" fmla="*/ 20159 w 1085693"/>
                  <a:gd name="connsiteY12" fmla="*/ 156674 h 714569"/>
                  <a:gd name="connsiteX13" fmla="*/ 256525 w 1085693"/>
                  <a:gd name="connsiteY13" fmla="*/ 0 h 714569"/>
                  <a:gd name="connsiteX0-1" fmla="*/ 256525 w 1085693"/>
                  <a:gd name="connsiteY0-2" fmla="*/ 0 h 714569"/>
                  <a:gd name="connsiteX1-3" fmla="*/ 829168 w 1085693"/>
                  <a:gd name="connsiteY1-4" fmla="*/ 0 h 714569"/>
                  <a:gd name="connsiteX2-5" fmla="*/ 1085693 w 1085693"/>
                  <a:gd name="connsiteY2-6" fmla="*/ 256525 h 714569"/>
                  <a:gd name="connsiteX3-7" fmla="*/ 1085692 w 1085693"/>
                  <a:gd name="connsiteY3-8" fmla="*/ 256525 h 714569"/>
                  <a:gd name="connsiteX4-9" fmla="*/ 829167 w 1085693"/>
                  <a:gd name="connsiteY4-10" fmla="*/ 513050 h 714569"/>
                  <a:gd name="connsiteX5-11" fmla="*/ 256525 w 1085693"/>
                  <a:gd name="connsiteY5-12" fmla="*/ 513049 h 714569"/>
                  <a:gd name="connsiteX6-13" fmla="*/ 250287 w 1085693"/>
                  <a:gd name="connsiteY6-14" fmla="*/ 513049 h 714569"/>
                  <a:gd name="connsiteX7-15" fmla="*/ 13921 w 1085693"/>
                  <a:gd name="connsiteY7-16" fmla="*/ 669723 h 714569"/>
                  <a:gd name="connsiteX8-17" fmla="*/ 0 w 1085693"/>
                  <a:gd name="connsiteY8-18" fmla="*/ 714569 h 714569"/>
                  <a:gd name="connsiteX9-19" fmla="*/ 0 w 1085693"/>
                  <a:gd name="connsiteY9-20" fmla="*/ 256525 h 714569"/>
                  <a:gd name="connsiteX10-21" fmla="*/ 0 w 1085693"/>
                  <a:gd name="connsiteY10-22" fmla="*/ 256524 h 714569"/>
                  <a:gd name="connsiteX11-23" fmla="*/ 20159 w 1085693"/>
                  <a:gd name="connsiteY11-24" fmla="*/ 156674 h 714569"/>
                  <a:gd name="connsiteX12-25" fmla="*/ 256525 w 1085693"/>
                  <a:gd name="connsiteY12-26" fmla="*/ 0 h 714569"/>
                  <a:gd name="connsiteX0-27" fmla="*/ 256525 w 1085693"/>
                  <a:gd name="connsiteY0-28" fmla="*/ 0 h 714569"/>
                  <a:gd name="connsiteX1-29" fmla="*/ 829168 w 1085693"/>
                  <a:gd name="connsiteY1-30" fmla="*/ 0 h 714569"/>
                  <a:gd name="connsiteX2-31" fmla="*/ 1085693 w 1085693"/>
                  <a:gd name="connsiteY2-32" fmla="*/ 256525 h 714569"/>
                  <a:gd name="connsiteX3-33" fmla="*/ 1085692 w 1085693"/>
                  <a:gd name="connsiteY3-34" fmla="*/ 256525 h 714569"/>
                  <a:gd name="connsiteX4-35" fmla="*/ 829167 w 1085693"/>
                  <a:gd name="connsiteY4-36" fmla="*/ 513050 h 714569"/>
                  <a:gd name="connsiteX5-37" fmla="*/ 256525 w 1085693"/>
                  <a:gd name="connsiteY5-38" fmla="*/ 513049 h 714569"/>
                  <a:gd name="connsiteX6-39" fmla="*/ 250287 w 1085693"/>
                  <a:gd name="connsiteY6-40" fmla="*/ 513049 h 714569"/>
                  <a:gd name="connsiteX7-41" fmla="*/ 13921 w 1085693"/>
                  <a:gd name="connsiteY7-42" fmla="*/ 669723 h 714569"/>
                  <a:gd name="connsiteX8-43" fmla="*/ 0 w 1085693"/>
                  <a:gd name="connsiteY8-44" fmla="*/ 714569 h 714569"/>
                  <a:gd name="connsiteX9-45" fmla="*/ 0 w 1085693"/>
                  <a:gd name="connsiteY9-46" fmla="*/ 256525 h 714569"/>
                  <a:gd name="connsiteX10-47" fmla="*/ 20159 w 1085693"/>
                  <a:gd name="connsiteY10-48" fmla="*/ 156674 h 714569"/>
                  <a:gd name="connsiteX11-49" fmla="*/ 256525 w 1085693"/>
                  <a:gd name="connsiteY11-50" fmla="*/ 0 h 714569"/>
                  <a:gd name="connsiteX0-51" fmla="*/ 256525 w 1085693"/>
                  <a:gd name="connsiteY0-52" fmla="*/ 0 h 714569"/>
                  <a:gd name="connsiteX1-53" fmla="*/ 829168 w 1085693"/>
                  <a:gd name="connsiteY1-54" fmla="*/ 0 h 714569"/>
                  <a:gd name="connsiteX2-55" fmla="*/ 1085693 w 1085693"/>
                  <a:gd name="connsiteY2-56" fmla="*/ 256525 h 714569"/>
                  <a:gd name="connsiteX3-57" fmla="*/ 1085692 w 1085693"/>
                  <a:gd name="connsiteY3-58" fmla="*/ 256525 h 714569"/>
                  <a:gd name="connsiteX4-59" fmla="*/ 829167 w 1085693"/>
                  <a:gd name="connsiteY4-60" fmla="*/ 513050 h 714569"/>
                  <a:gd name="connsiteX5-61" fmla="*/ 256525 w 1085693"/>
                  <a:gd name="connsiteY5-62" fmla="*/ 513049 h 714569"/>
                  <a:gd name="connsiteX6-63" fmla="*/ 250287 w 1085693"/>
                  <a:gd name="connsiteY6-64" fmla="*/ 513049 h 714569"/>
                  <a:gd name="connsiteX7-65" fmla="*/ 13921 w 1085693"/>
                  <a:gd name="connsiteY7-66" fmla="*/ 669723 h 714569"/>
                  <a:gd name="connsiteX8-67" fmla="*/ 0 w 1085693"/>
                  <a:gd name="connsiteY8-68" fmla="*/ 714569 h 714569"/>
                  <a:gd name="connsiteX9-69" fmla="*/ 0 w 1085693"/>
                  <a:gd name="connsiteY9-70" fmla="*/ 256525 h 714569"/>
                  <a:gd name="connsiteX10-71" fmla="*/ 20159 w 1085693"/>
                  <a:gd name="connsiteY10-72" fmla="*/ 156674 h 714569"/>
                  <a:gd name="connsiteX11-73" fmla="*/ 256525 w 1085693"/>
                  <a:gd name="connsiteY11-74" fmla="*/ 0 h 714569"/>
                  <a:gd name="connsiteX0-75" fmla="*/ 256525 w 1085693"/>
                  <a:gd name="connsiteY0-76" fmla="*/ 0 h 714569"/>
                  <a:gd name="connsiteX1-77" fmla="*/ 829168 w 1085693"/>
                  <a:gd name="connsiteY1-78" fmla="*/ 0 h 714569"/>
                  <a:gd name="connsiteX2-79" fmla="*/ 1085693 w 1085693"/>
                  <a:gd name="connsiteY2-80" fmla="*/ 256525 h 714569"/>
                  <a:gd name="connsiteX3-81" fmla="*/ 1085692 w 1085693"/>
                  <a:gd name="connsiteY3-82" fmla="*/ 256525 h 714569"/>
                  <a:gd name="connsiteX4-83" fmla="*/ 829167 w 1085693"/>
                  <a:gd name="connsiteY4-84" fmla="*/ 513050 h 714569"/>
                  <a:gd name="connsiteX5-85" fmla="*/ 256525 w 1085693"/>
                  <a:gd name="connsiteY5-86" fmla="*/ 513049 h 714569"/>
                  <a:gd name="connsiteX6-87" fmla="*/ 250287 w 1085693"/>
                  <a:gd name="connsiteY6-88" fmla="*/ 513049 h 714569"/>
                  <a:gd name="connsiteX7-89" fmla="*/ 13921 w 1085693"/>
                  <a:gd name="connsiteY7-90" fmla="*/ 669723 h 714569"/>
                  <a:gd name="connsiteX8-91" fmla="*/ 0 w 1085693"/>
                  <a:gd name="connsiteY8-92" fmla="*/ 714569 h 714569"/>
                  <a:gd name="connsiteX9-93" fmla="*/ 4762 w 1085693"/>
                  <a:gd name="connsiteY9-94" fmla="*/ 282719 h 714569"/>
                  <a:gd name="connsiteX10-95" fmla="*/ 20159 w 1085693"/>
                  <a:gd name="connsiteY10-96" fmla="*/ 156674 h 714569"/>
                  <a:gd name="connsiteX11-97" fmla="*/ 256525 w 1085693"/>
                  <a:gd name="connsiteY11-98" fmla="*/ 0 h 7145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1085693" h="714569">
                    <a:moveTo>
                      <a:pt x="256525" y="0"/>
                    </a:moveTo>
                    <a:lnTo>
                      <a:pt x="829168" y="0"/>
                    </a:lnTo>
                    <a:cubicBezTo>
                      <a:pt x="970843" y="0"/>
                      <a:pt x="1085693" y="114850"/>
                      <a:pt x="1085693" y="256525"/>
                    </a:cubicBezTo>
                    <a:lnTo>
                      <a:pt x="1085692" y="256525"/>
                    </a:lnTo>
                    <a:cubicBezTo>
                      <a:pt x="1085692" y="398200"/>
                      <a:pt x="970842" y="513050"/>
                      <a:pt x="829167" y="513050"/>
                    </a:cubicBezTo>
                    <a:lnTo>
                      <a:pt x="256525" y="513049"/>
                    </a:lnTo>
                    <a:lnTo>
                      <a:pt x="250287" y="513049"/>
                    </a:lnTo>
                    <a:cubicBezTo>
                      <a:pt x="144031" y="513049"/>
                      <a:pt x="52864" y="577652"/>
                      <a:pt x="13921" y="669723"/>
                    </a:cubicBezTo>
                    <a:lnTo>
                      <a:pt x="0" y="714569"/>
                    </a:lnTo>
                    <a:cubicBezTo>
                      <a:pt x="1587" y="570619"/>
                      <a:pt x="3175" y="426669"/>
                      <a:pt x="4762" y="282719"/>
                    </a:cubicBezTo>
                    <a:cubicBezTo>
                      <a:pt x="11482" y="249435"/>
                      <a:pt x="-3230" y="218533"/>
                      <a:pt x="20159" y="156674"/>
                    </a:cubicBezTo>
                    <a:cubicBezTo>
                      <a:pt x="59102" y="64603"/>
                      <a:pt x="150269" y="0"/>
                      <a:pt x="256525" y="0"/>
                    </a:cubicBezTo>
                    <a:close/>
                  </a:path>
                </a:pathLst>
              </a:cu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288000" rtlCol="0" anchor="ctr" anchorCtr="0">
                <a:normAutofit/>
              </a:bodyPr>
              <a:lstStyle/>
              <a:p>
                <a:pPr algn="ctr"/>
                <a:r>
                  <a:rPr lang="en-US" sz="2800" b="1" i="0" u="none">
                    <a:solidFill>
                      <a:srgbClr val="FFFFFF"/>
                    </a:solidFill>
                    <a:latin typeface="Arial" panose="020B0604020202020204"/>
                  </a:rPr>
                  <a:t>02</a:t>
                </a:r>
                <a:endParaRPr lang="en-US" sz="2800" b="1" i="0" u="none">
                  <a:solidFill>
                    <a:srgbClr val="FFFFFF"/>
                  </a:solidFill>
                  <a:latin typeface="Arial" panose="020B0604020202020204"/>
                </a:endParaRPr>
              </a:p>
            </p:txBody>
          </p:sp>
        </p:grpSp>
        <p:sp>
          <p:nvSpPr>
            <p:cNvPr id="52" name="矩形: 圆角 4" descr="a23709c3-1ce9-4b9b-9c1e-a85269e85083"/>
            <p:cNvSpPr/>
            <p:nvPr/>
          </p:nvSpPr>
          <p:spPr>
            <a:xfrm>
              <a:off x="8117679" y="2481419"/>
              <a:ext cx="1029293" cy="55717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p>
          </p:txBody>
        </p:sp>
        <p:grpSp>
          <p:nvGrpSpPr>
            <p:cNvPr id="4" name="组合 3" descr="40a7dc2a-53ea-4cda-9cf0-a70239ac673b"/>
            <p:cNvGrpSpPr/>
            <p:nvPr/>
          </p:nvGrpSpPr>
          <p:grpSpPr>
            <a:xfrm>
              <a:off x="8117679" y="1607284"/>
              <a:ext cx="3401220" cy="4526816"/>
              <a:chOff x="8117679" y="1607284"/>
              <a:chExt cx="3401220" cy="4526816"/>
            </a:xfrm>
          </p:grpSpPr>
          <p:sp>
            <p:nvSpPr>
              <p:cNvPr id="58" name="ComponentBackground3" descr="9c716592-bf51-43e2-ab68-4e12edc04529"/>
              <p:cNvSpPr/>
              <p:nvPr/>
            </p:nvSpPr>
            <p:spPr>
              <a:xfrm>
                <a:off x="8365920" y="1607284"/>
                <a:ext cx="3152979" cy="4526816"/>
              </a:xfrm>
              <a:prstGeom prst="roundRect">
                <a:avLst>
                  <a:gd name="adj" fmla="val 10672"/>
                </a:avLst>
              </a:prstGeom>
              <a:gradFill flip="none" rotWithShape="1">
                <a:gsLst>
                  <a:gs pos="0">
                    <a:schemeClr val="bg1"/>
                  </a:gs>
                  <a:gs pos="97000">
                    <a:schemeClr val="accent3">
                      <a:lumMod val="20000"/>
                      <a:lumOff val="80000"/>
                    </a:schemeClr>
                  </a:gs>
                </a:gsLst>
                <a:path path="circle">
                  <a:fillToRect l="50000" t="50000" r="50000" b="50000"/>
                </a:path>
                <a:tileRect/>
              </a:gradFill>
              <a:ln w="9525">
                <a:solidFill>
                  <a:schemeClr val="accent3">
                    <a:alpha val="50000"/>
                  </a:schemeClr>
                </a:solidFill>
              </a:ln>
              <a:effectLst>
                <a:outerShdw blurRad="203200" dist="152400" dir="19260000" algn="ctr"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l"/>
              </a:p>
            </p:txBody>
          </p:sp>
          <p:sp>
            <p:nvSpPr>
              <p:cNvPr id="60" name="Bullet3" descr="51eeadeb-d0f1-49cc-863a-dcb47fc8ba5a"/>
              <p:cNvSpPr txBox="1"/>
              <p:nvPr/>
            </p:nvSpPr>
            <p:spPr>
              <a:xfrm>
                <a:off x="8498153" y="2667771"/>
                <a:ext cx="2849008" cy="643919"/>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语音交互</a:t>
                </a:r>
                <a:endParaRPr lang="en-US" sz="1800" b="1" i="0" u="none" strike="noStrike">
                  <a:solidFill>
                    <a:srgbClr val="000000"/>
                  </a:solidFill>
                  <a:ea typeface="微软雅黑" panose="020B0503020204020204" charset="-122"/>
                </a:endParaRPr>
              </a:p>
            </p:txBody>
          </p:sp>
          <p:sp>
            <p:nvSpPr>
              <p:cNvPr id="61" name="Text3" descr="b3d6d71a-a221-40a3-ace5-20a869c14ef2"/>
              <p:cNvSpPr txBox="1"/>
              <p:nvPr/>
            </p:nvSpPr>
            <p:spPr>
              <a:xfrm>
                <a:off x="8498153" y="3395772"/>
                <a:ext cx="2849008" cy="1318854"/>
              </a:xfrm>
              <a:prstGeom prst="rect">
                <a:avLst/>
              </a:prstGeom>
              <a:noFill/>
              <a:ln>
                <a:noFill/>
              </a:ln>
            </p:spPr>
            <p:txBody>
              <a:bodyPr wrap="square" lIns="91440" tIns="45720" rIns="91440" bIns="45720" anchor="t" anchorCtr="0">
                <a:noAutofit/>
              </a:bodyPr>
              <a:lstStyle/>
              <a:p>
                <a:pPr algn="l">
                  <a:lnSpc>
                    <a:spcPct val="120000"/>
                  </a:lnSpc>
                  <a:spcBef>
                    <a:spcPct val="0"/>
                  </a:spcBef>
                  <a:spcAft>
                    <a:spcPct val="0"/>
                  </a:spcAft>
                </a:pPr>
                <a:r>
                  <a:rPr lang="en-US" b="0" i="0" u="none" strike="noStrike">
                    <a:solidFill>
                      <a:srgbClr val="000000"/>
                    </a:solidFill>
                    <a:ea typeface="微软雅黑" panose="020B0503020204020204" charset="-122"/>
                  </a:rPr>
                  <a:t>婴儿</a:t>
                </a:r>
                <a:r>
                  <a:rPr lang="zh-CN" altLang="en-US" b="0" i="0" u="none" strike="noStrike">
                    <a:solidFill>
                      <a:srgbClr val="000000"/>
                    </a:solidFill>
                    <a:ea typeface="微软雅黑" panose="020B0503020204020204" charset="-122"/>
                  </a:rPr>
                  <a:t>车</a:t>
                </a:r>
                <a:r>
                  <a:rPr lang="en-US" b="0" i="0" u="none" strike="noStrike">
                    <a:solidFill>
                      <a:srgbClr val="000000"/>
                    </a:solidFill>
                    <a:ea typeface="微软雅黑" panose="020B0503020204020204" charset="-122"/>
                  </a:rPr>
                  <a:t>支持语音助手功能，家长可以通过语音指令获取信息或操作设备。</a:t>
                </a:r>
                <a:endParaRPr lang="en-US" b="0" i="0" u="none" strike="noStrike">
                  <a:solidFill>
                    <a:srgbClr val="000000"/>
                  </a:solidFill>
                  <a:ea typeface="微软雅黑" panose="020B0503020204020204" charset="-122"/>
                </a:endParaRPr>
              </a:p>
            </p:txBody>
          </p:sp>
          <p:sp>
            <p:nvSpPr>
              <p:cNvPr id="56" name="IconBackground3" descr="40988f6b-a9c4-447b-aff4-0af056347555"/>
              <p:cNvSpPr txBox="1">
                <a:spLocks noChangeAspect="1"/>
              </p:cNvSpPr>
              <p:nvPr/>
            </p:nvSpPr>
            <p:spPr>
              <a:xfrm>
                <a:off x="9612671" y="5229873"/>
                <a:ext cx="659496" cy="664042"/>
              </a:xfrm>
              <a:prstGeom prst="roundRect">
                <a:avLst/>
              </a:prstGeom>
              <a:gradFill flip="none" rotWithShape="1">
                <a:gsLst>
                  <a:gs pos="0">
                    <a:schemeClr val="accent3">
                      <a:lumMod val="60000"/>
                      <a:lumOff val="40000"/>
                    </a:schemeClr>
                  </a:gs>
                  <a:gs pos="75000">
                    <a:schemeClr val="accent3"/>
                  </a:gs>
                </a:gsLst>
                <a:lin ang="2700000" scaled="1"/>
                <a:tileRect/>
              </a:gradFill>
              <a:ln w="12700">
                <a:no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p>
            </p:txBody>
          </p:sp>
          <p:sp>
            <p:nvSpPr>
              <p:cNvPr id="57" name="Icon3" descr="e85c9e5a-5a3e-4a9e-b94d-d313da9cfb37"/>
              <p:cNvSpPr/>
              <p:nvPr/>
            </p:nvSpPr>
            <p:spPr>
              <a:xfrm>
                <a:off x="9770890" y="5372718"/>
                <a:ext cx="343034" cy="309791"/>
              </a:xfrm>
              <a:custGeom>
                <a:avLst/>
                <a:gdLst>
                  <a:gd name="connsiteX0" fmla="*/ 483573 w 526297"/>
                  <a:gd name="connsiteY0" fmla="*/ 133971 h 438150"/>
                  <a:gd name="connsiteX1" fmla="*/ 527674 w 526297"/>
                  <a:gd name="connsiteY1" fmla="*/ 178072 h 438150"/>
                  <a:gd name="connsiteX2" fmla="*/ 527579 w 526297"/>
                  <a:gd name="connsiteY2" fmla="*/ 181501 h 438150"/>
                  <a:gd name="connsiteX3" fmla="*/ 514244 w 526297"/>
                  <a:gd name="connsiteY3" fmla="*/ 355237 h 438150"/>
                  <a:gd name="connsiteX4" fmla="*/ 485764 w 526297"/>
                  <a:gd name="connsiteY4" fmla="*/ 381621 h 438150"/>
                  <a:gd name="connsiteX5" fmla="*/ 454998 w 526297"/>
                  <a:gd name="connsiteY5" fmla="*/ 381621 h 438150"/>
                  <a:gd name="connsiteX6" fmla="*/ 454998 w 526297"/>
                  <a:gd name="connsiteY6" fmla="*/ 438771 h 438150"/>
                  <a:gd name="connsiteX7" fmla="*/ 435948 w 526297"/>
                  <a:gd name="connsiteY7" fmla="*/ 438771 h 438150"/>
                  <a:gd name="connsiteX8" fmla="*/ 435948 w 526297"/>
                  <a:gd name="connsiteY8" fmla="*/ 381621 h 438150"/>
                  <a:gd name="connsiteX9" fmla="*/ 93048 w 526297"/>
                  <a:gd name="connsiteY9" fmla="*/ 381621 h 438150"/>
                  <a:gd name="connsiteX10" fmla="*/ 93048 w 526297"/>
                  <a:gd name="connsiteY10" fmla="*/ 438771 h 438150"/>
                  <a:gd name="connsiteX11" fmla="*/ 73998 w 526297"/>
                  <a:gd name="connsiteY11" fmla="*/ 438771 h 438150"/>
                  <a:gd name="connsiteX12" fmla="*/ 73998 w 526297"/>
                  <a:gd name="connsiteY12" fmla="*/ 381621 h 438150"/>
                  <a:gd name="connsiteX13" fmla="*/ 43328 w 526297"/>
                  <a:gd name="connsiteY13" fmla="*/ 381621 h 438150"/>
                  <a:gd name="connsiteX14" fmla="*/ 14848 w 526297"/>
                  <a:gd name="connsiteY14" fmla="*/ 355237 h 438150"/>
                  <a:gd name="connsiteX15" fmla="*/ 1513 w 526297"/>
                  <a:gd name="connsiteY15" fmla="*/ 181501 h 438150"/>
                  <a:gd name="connsiteX16" fmla="*/ 42089 w 526297"/>
                  <a:gd name="connsiteY16" fmla="*/ 134162 h 438150"/>
                  <a:gd name="connsiteX17" fmla="*/ 45518 w 526297"/>
                  <a:gd name="connsiteY17" fmla="*/ 134066 h 438150"/>
                  <a:gd name="connsiteX18" fmla="*/ 101906 w 526297"/>
                  <a:gd name="connsiteY18" fmla="*/ 180834 h 438150"/>
                  <a:gd name="connsiteX19" fmla="*/ 121623 w 526297"/>
                  <a:gd name="connsiteY19" fmla="*/ 286371 h 438150"/>
                  <a:gd name="connsiteX20" fmla="*/ 407373 w 526297"/>
                  <a:gd name="connsiteY20" fmla="*/ 286371 h 438150"/>
                  <a:gd name="connsiteX21" fmla="*/ 427185 w 526297"/>
                  <a:gd name="connsiteY21" fmla="*/ 180739 h 438150"/>
                  <a:gd name="connsiteX22" fmla="*/ 483573 w 526297"/>
                  <a:gd name="connsiteY22" fmla="*/ 133971 h 438150"/>
                  <a:gd name="connsiteX23" fmla="*/ 416898 w 526297"/>
                  <a:gd name="connsiteY23" fmla="*/ 621 h 438150"/>
                  <a:gd name="connsiteX24" fmla="*/ 483573 w 526297"/>
                  <a:gd name="connsiteY24" fmla="*/ 67296 h 438150"/>
                  <a:gd name="connsiteX25" fmla="*/ 483573 w 526297"/>
                  <a:gd name="connsiteY25" fmla="*/ 115397 h 438150"/>
                  <a:gd name="connsiteX26" fmla="*/ 476429 w 526297"/>
                  <a:gd name="connsiteY26" fmla="*/ 114921 h 438150"/>
                  <a:gd name="connsiteX27" fmla="*/ 412040 w 526297"/>
                  <a:gd name="connsiteY27" fmla="*/ 166451 h 438150"/>
                  <a:gd name="connsiteX28" fmla="*/ 411564 w 526297"/>
                  <a:gd name="connsiteY28" fmla="*/ 168737 h 438150"/>
                  <a:gd name="connsiteX29" fmla="*/ 393086 w 526297"/>
                  <a:gd name="connsiteY29" fmla="*/ 267321 h 438150"/>
                  <a:gd name="connsiteX30" fmla="*/ 135911 w 526297"/>
                  <a:gd name="connsiteY30" fmla="*/ 267321 h 438150"/>
                  <a:gd name="connsiteX31" fmla="*/ 117432 w 526297"/>
                  <a:gd name="connsiteY31" fmla="*/ 168737 h 438150"/>
                  <a:gd name="connsiteX32" fmla="*/ 52567 w 526297"/>
                  <a:gd name="connsiteY32" fmla="*/ 114921 h 438150"/>
                  <a:gd name="connsiteX33" fmla="*/ 54948 w 526297"/>
                  <a:gd name="connsiteY33" fmla="*/ 67296 h 438150"/>
                  <a:gd name="connsiteX34" fmla="*/ 121623 w 526297"/>
                  <a:gd name="connsiteY34" fmla="*/ 621 h 438150"/>
                  <a:gd name="connsiteX35" fmla="*/ 416898 w 526297"/>
                  <a:gd name="connsiteY35" fmla="*/ 621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6297" h="438150">
                    <a:moveTo>
                      <a:pt x="483573" y="133971"/>
                    </a:moveTo>
                    <a:cubicBezTo>
                      <a:pt x="507957" y="133971"/>
                      <a:pt x="527674" y="153688"/>
                      <a:pt x="527674" y="178072"/>
                    </a:cubicBezTo>
                    <a:cubicBezTo>
                      <a:pt x="527674" y="179215"/>
                      <a:pt x="527674" y="180358"/>
                      <a:pt x="527579" y="181501"/>
                    </a:cubicBezTo>
                    <a:lnTo>
                      <a:pt x="514244" y="355237"/>
                    </a:lnTo>
                    <a:cubicBezTo>
                      <a:pt x="513101" y="370096"/>
                      <a:pt x="500718" y="381621"/>
                      <a:pt x="485764" y="381621"/>
                    </a:cubicBezTo>
                    <a:lnTo>
                      <a:pt x="454998" y="381621"/>
                    </a:lnTo>
                    <a:lnTo>
                      <a:pt x="454998" y="438771"/>
                    </a:lnTo>
                    <a:lnTo>
                      <a:pt x="435948" y="438771"/>
                    </a:lnTo>
                    <a:lnTo>
                      <a:pt x="435948" y="381621"/>
                    </a:lnTo>
                    <a:lnTo>
                      <a:pt x="93048" y="381621"/>
                    </a:lnTo>
                    <a:lnTo>
                      <a:pt x="93048" y="438771"/>
                    </a:lnTo>
                    <a:lnTo>
                      <a:pt x="73998" y="438771"/>
                    </a:lnTo>
                    <a:lnTo>
                      <a:pt x="73998" y="381621"/>
                    </a:lnTo>
                    <a:lnTo>
                      <a:pt x="43328" y="381621"/>
                    </a:lnTo>
                    <a:cubicBezTo>
                      <a:pt x="28373" y="381621"/>
                      <a:pt x="15991" y="370096"/>
                      <a:pt x="14848" y="355237"/>
                    </a:cubicBezTo>
                    <a:lnTo>
                      <a:pt x="1513" y="181501"/>
                    </a:lnTo>
                    <a:cubicBezTo>
                      <a:pt x="-392" y="157212"/>
                      <a:pt x="17801" y="135971"/>
                      <a:pt x="42089" y="134162"/>
                    </a:cubicBezTo>
                    <a:cubicBezTo>
                      <a:pt x="43232" y="134066"/>
                      <a:pt x="44375" y="134066"/>
                      <a:pt x="45518" y="134066"/>
                    </a:cubicBezTo>
                    <a:cubicBezTo>
                      <a:pt x="73141" y="134066"/>
                      <a:pt x="96858" y="153688"/>
                      <a:pt x="101906" y="180834"/>
                    </a:cubicBezTo>
                    <a:lnTo>
                      <a:pt x="121623" y="286371"/>
                    </a:lnTo>
                    <a:lnTo>
                      <a:pt x="407373" y="286371"/>
                    </a:lnTo>
                    <a:lnTo>
                      <a:pt x="427185" y="180739"/>
                    </a:lnTo>
                    <a:cubicBezTo>
                      <a:pt x="432233" y="153592"/>
                      <a:pt x="455951" y="133971"/>
                      <a:pt x="483573" y="133971"/>
                    </a:cubicBezTo>
                    <a:close/>
                    <a:moveTo>
                      <a:pt x="416898" y="621"/>
                    </a:moveTo>
                    <a:cubicBezTo>
                      <a:pt x="453760" y="621"/>
                      <a:pt x="483573" y="30434"/>
                      <a:pt x="483573" y="67296"/>
                    </a:cubicBezTo>
                    <a:lnTo>
                      <a:pt x="483573" y="115397"/>
                    </a:lnTo>
                    <a:cubicBezTo>
                      <a:pt x="481192" y="115112"/>
                      <a:pt x="478811" y="114921"/>
                      <a:pt x="476429" y="114921"/>
                    </a:cubicBezTo>
                    <a:cubicBezTo>
                      <a:pt x="445473" y="114921"/>
                      <a:pt x="418803" y="136448"/>
                      <a:pt x="412040" y="166451"/>
                    </a:cubicBezTo>
                    <a:lnTo>
                      <a:pt x="411564" y="168737"/>
                    </a:lnTo>
                    <a:lnTo>
                      <a:pt x="393086" y="267321"/>
                    </a:lnTo>
                    <a:lnTo>
                      <a:pt x="135911" y="267321"/>
                    </a:lnTo>
                    <a:lnTo>
                      <a:pt x="117432" y="168737"/>
                    </a:lnTo>
                    <a:cubicBezTo>
                      <a:pt x="111622" y="137495"/>
                      <a:pt x="84285" y="114921"/>
                      <a:pt x="52567" y="114921"/>
                    </a:cubicBezTo>
                    <a:lnTo>
                      <a:pt x="54948" y="67296"/>
                    </a:lnTo>
                    <a:cubicBezTo>
                      <a:pt x="54948" y="30434"/>
                      <a:pt x="84761" y="621"/>
                      <a:pt x="121623" y="621"/>
                    </a:cubicBezTo>
                    <a:lnTo>
                      <a:pt x="416898" y="621"/>
                    </a:lnTo>
                    <a:close/>
                  </a:path>
                </a:pathLst>
              </a:custGeom>
              <a:solidFill>
                <a:srgbClr val="FFFFFF"/>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fontScale="9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55" name="Number3" descr="85016234-a4e1-4203-8fa7-c83d5f75ad7f"/>
              <p:cNvSpPr/>
              <p:nvPr/>
            </p:nvSpPr>
            <p:spPr>
              <a:xfrm>
                <a:off x="8117679" y="1814930"/>
                <a:ext cx="1402286" cy="1001189"/>
              </a:xfrm>
              <a:custGeom>
                <a:avLst/>
                <a:gdLst>
                  <a:gd name="connsiteX0" fmla="*/ 256525 w 1085693"/>
                  <a:gd name="connsiteY0" fmla="*/ 0 h 714569"/>
                  <a:gd name="connsiteX1" fmla="*/ 829168 w 1085693"/>
                  <a:gd name="connsiteY1" fmla="*/ 0 h 714569"/>
                  <a:gd name="connsiteX2" fmla="*/ 1085693 w 1085693"/>
                  <a:gd name="connsiteY2" fmla="*/ 256525 h 714569"/>
                  <a:gd name="connsiteX3" fmla="*/ 1085692 w 1085693"/>
                  <a:gd name="connsiteY3" fmla="*/ 256525 h 714569"/>
                  <a:gd name="connsiteX4" fmla="*/ 829167 w 1085693"/>
                  <a:gd name="connsiteY4" fmla="*/ 513050 h 714569"/>
                  <a:gd name="connsiteX5" fmla="*/ 256525 w 1085693"/>
                  <a:gd name="connsiteY5" fmla="*/ 513049 h 714569"/>
                  <a:gd name="connsiteX6" fmla="*/ 250287 w 1085693"/>
                  <a:gd name="connsiteY6" fmla="*/ 513049 h 714569"/>
                  <a:gd name="connsiteX7" fmla="*/ 13921 w 1085693"/>
                  <a:gd name="connsiteY7" fmla="*/ 669723 h 714569"/>
                  <a:gd name="connsiteX8" fmla="*/ 0 w 1085693"/>
                  <a:gd name="connsiteY8" fmla="*/ 714569 h 714569"/>
                  <a:gd name="connsiteX9" fmla="*/ 0 w 1085693"/>
                  <a:gd name="connsiteY9" fmla="*/ 256525 h 714569"/>
                  <a:gd name="connsiteX10" fmla="*/ 0 w 1085693"/>
                  <a:gd name="connsiteY10" fmla="*/ 256524 h 714569"/>
                  <a:gd name="connsiteX11" fmla="*/ 0 w 1085693"/>
                  <a:gd name="connsiteY11" fmla="*/ 256524 h 714569"/>
                  <a:gd name="connsiteX12" fmla="*/ 20159 w 1085693"/>
                  <a:gd name="connsiteY12" fmla="*/ 156674 h 714569"/>
                  <a:gd name="connsiteX13" fmla="*/ 256525 w 1085693"/>
                  <a:gd name="connsiteY13" fmla="*/ 0 h 714569"/>
                  <a:gd name="connsiteX0-1" fmla="*/ 256525 w 1085693"/>
                  <a:gd name="connsiteY0-2" fmla="*/ 0 h 714569"/>
                  <a:gd name="connsiteX1-3" fmla="*/ 829168 w 1085693"/>
                  <a:gd name="connsiteY1-4" fmla="*/ 0 h 714569"/>
                  <a:gd name="connsiteX2-5" fmla="*/ 1085693 w 1085693"/>
                  <a:gd name="connsiteY2-6" fmla="*/ 256525 h 714569"/>
                  <a:gd name="connsiteX3-7" fmla="*/ 1085692 w 1085693"/>
                  <a:gd name="connsiteY3-8" fmla="*/ 256525 h 714569"/>
                  <a:gd name="connsiteX4-9" fmla="*/ 829167 w 1085693"/>
                  <a:gd name="connsiteY4-10" fmla="*/ 513050 h 714569"/>
                  <a:gd name="connsiteX5-11" fmla="*/ 256525 w 1085693"/>
                  <a:gd name="connsiteY5-12" fmla="*/ 513049 h 714569"/>
                  <a:gd name="connsiteX6-13" fmla="*/ 250287 w 1085693"/>
                  <a:gd name="connsiteY6-14" fmla="*/ 513049 h 714569"/>
                  <a:gd name="connsiteX7-15" fmla="*/ 13921 w 1085693"/>
                  <a:gd name="connsiteY7-16" fmla="*/ 669723 h 714569"/>
                  <a:gd name="connsiteX8-17" fmla="*/ 0 w 1085693"/>
                  <a:gd name="connsiteY8-18" fmla="*/ 714569 h 714569"/>
                  <a:gd name="connsiteX9-19" fmla="*/ 0 w 1085693"/>
                  <a:gd name="connsiteY9-20" fmla="*/ 256525 h 714569"/>
                  <a:gd name="connsiteX10-21" fmla="*/ 0 w 1085693"/>
                  <a:gd name="connsiteY10-22" fmla="*/ 256524 h 714569"/>
                  <a:gd name="connsiteX11-23" fmla="*/ 20159 w 1085693"/>
                  <a:gd name="connsiteY11-24" fmla="*/ 156674 h 714569"/>
                  <a:gd name="connsiteX12-25" fmla="*/ 256525 w 1085693"/>
                  <a:gd name="connsiteY12-26" fmla="*/ 0 h 714569"/>
                  <a:gd name="connsiteX0-27" fmla="*/ 256525 w 1085693"/>
                  <a:gd name="connsiteY0-28" fmla="*/ 0 h 714569"/>
                  <a:gd name="connsiteX1-29" fmla="*/ 829168 w 1085693"/>
                  <a:gd name="connsiteY1-30" fmla="*/ 0 h 714569"/>
                  <a:gd name="connsiteX2-31" fmla="*/ 1085693 w 1085693"/>
                  <a:gd name="connsiteY2-32" fmla="*/ 256525 h 714569"/>
                  <a:gd name="connsiteX3-33" fmla="*/ 1085692 w 1085693"/>
                  <a:gd name="connsiteY3-34" fmla="*/ 256525 h 714569"/>
                  <a:gd name="connsiteX4-35" fmla="*/ 829167 w 1085693"/>
                  <a:gd name="connsiteY4-36" fmla="*/ 513050 h 714569"/>
                  <a:gd name="connsiteX5-37" fmla="*/ 256525 w 1085693"/>
                  <a:gd name="connsiteY5-38" fmla="*/ 513049 h 714569"/>
                  <a:gd name="connsiteX6-39" fmla="*/ 250287 w 1085693"/>
                  <a:gd name="connsiteY6-40" fmla="*/ 513049 h 714569"/>
                  <a:gd name="connsiteX7-41" fmla="*/ 13921 w 1085693"/>
                  <a:gd name="connsiteY7-42" fmla="*/ 669723 h 714569"/>
                  <a:gd name="connsiteX8-43" fmla="*/ 0 w 1085693"/>
                  <a:gd name="connsiteY8-44" fmla="*/ 714569 h 714569"/>
                  <a:gd name="connsiteX9-45" fmla="*/ 0 w 1085693"/>
                  <a:gd name="connsiteY9-46" fmla="*/ 256525 h 714569"/>
                  <a:gd name="connsiteX10-47" fmla="*/ 20159 w 1085693"/>
                  <a:gd name="connsiteY10-48" fmla="*/ 156674 h 714569"/>
                  <a:gd name="connsiteX11-49" fmla="*/ 256525 w 1085693"/>
                  <a:gd name="connsiteY11-50" fmla="*/ 0 h 714569"/>
                  <a:gd name="connsiteX0-51" fmla="*/ 256525 w 1085693"/>
                  <a:gd name="connsiteY0-52" fmla="*/ 0 h 714569"/>
                  <a:gd name="connsiteX1-53" fmla="*/ 829168 w 1085693"/>
                  <a:gd name="connsiteY1-54" fmla="*/ 0 h 714569"/>
                  <a:gd name="connsiteX2-55" fmla="*/ 1085693 w 1085693"/>
                  <a:gd name="connsiteY2-56" fmla="*/ 256525 h 714569"/>
                  <a:gd name="connsiteX3-57" fmla="*/ 1085692 w 1085693"/>
                  <a:gd name="connsiteY3-58" fmla="*/ 256525 h 714569"/>
                  <a:gd name="connsiteX4-59" fmla="*/ 829167 w 1085693"/>
                  <a:gd name="connsiteY4-60" fmla="*/ 513050 h 714569"/>
                  <a:gd name="connsiteX5-61" fmla="*/ 256525 w 1085693"/>
                  <a:gd name="connsiteY5-62" fmla="*/ 513049 h 714569"/>
                  <a:gd name="connsiteX6-63" fmla="*/ 250287 w 1085693"/>
                  <a:gd name="connsiteY6-64" fmla="*/ 513049 h 714569"/>
                  <a:gd name="connsiteX7-65" fmla="*/ 13921 w 1085693"/>
                  <a:gd name="connsiteY7-66" fmla="*/ 669723 h 714569"/>
                  <a:gd name="connsiteX8-67" fmla="*/ 0 w 1085693"/>
                  <a:gd name="connsiteY8-68" fmla="*/ 714569 h 714569"/>
                  <a:gd name="connsiteX9-69" fmla="*/ 0 w 1085693"/>
                  <a:gd name="connsiteY9-70" fmla="*/ 256525 h 714569"/>
                  <a:gd name="connsiteX10-71" fmla="*/ 20159 w 1085693"/>
                  <a:gd name="connsiteY10-72" fmla="*/ 156674 h 714569"/>
                  <a:gd name="connsiteX11-73" fmla="*/ 256525 w 1085693"/>
                  <a:gd name="connsiteY11-74" fmla="*/ 0 h 714569"/>
                  <a:gd name="connsiteX0-75" fmla="*/ 256525 w 1085693"/>
                  <a:gd name="connsiteY0-76" fmla="*/ 0 h 714569"/>
                  <a:gd name="connsiteX1-77" fmla="*/ 829168 w 1085693"/>
                  <a:gd name="connsiteY1-78" fmla="*/ 0 h 714569"/>
                  <a:gd name="connsiteX2-79" fmla="*/ 1085693 w 1085693"/>
                  <a:gd name="connsiteY2-80" fmla="*/ 256525 h 714569"/>
                  <a:gd name="connsiteX3-81" fmla="*/ 1085692 w 1085693"/>
                  <a:gd name="connsiteY3-82" fmla="*/ 256525 h 714569"/>
                  <a:gd name="connsiteX4-83" fmla="*/ 829167 w 1085693"/>
                  <a:gd name="connsiteY4-84" fmla="*/ 513050 h 714569"/>
                  <a:gd name="connsiteX5-85" fmla="*/ 256525 w 1085693"/>
                  <a:gd name="connsiteY5-86" fmla="*/ 513049 h 714569"/>
                  <a:gd name="connsiteX6-87" fmla="*/ 250287 w 1085693"/>
                  <a:gd name="connsiteY6-88" fmla="*/ 513049 h 714569"/>
                  <a:gd name="connsiteX7-89" fmla="*/ 13921 w 1085693"/>
                  <a:gd name="connsiteY7-90" fmla="*/ 669723 h 714569"/>
                  <a:gd name="connsiteX8-91" fmla="*/ 0 w 1085693"/>
                  <a:gd name="connsiteY8-92" fmla="*/ 714569 h 714569"/>
                  <a:gd name="connsiteX9-93" fmla="*/ 4762 w 1085693"/>
                  <a:gd name="connsiteY9-94" fmla="*/ 282719 h 714569"/>
                  <a:gd name="connsiteX10-95" fmla="*/ 20159 w 1085693"/>
                  <a:gd name="connsiteY10-96" fmla="*/ 156674 h 714569"/>
                  <a:gd name="connsiteX11-97" fmla="*/ 256525 w 1085693"/>
                  <a:gd name="connsiteY11-98" fmla="*/ 0 h 71456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1085693" h="714569">
                    <a:moveTo>
                      <a:pt x="256525" y="0"/>
                    </a:moveTo>
                    <a:lnTo>
                      <a:pt x="829168" y="0"/>
                    </a:lnTo>
                    <a:cubicBezTo>
                      <a:pt x="970843" y="0"/>
                      <a:pt x="1085693" y="114850"/>
                      <a:pt x="1085693" y="256525"/>
                    </a:cubicBezTo>
                    <a:lnTo>
                      <a:pt x="1085692" y="256525"/>
                    </a:lnTo>
                    <a:cubicBezTo>
                      <a:pt x="1085692" y="398200"/>
                      <a:pt x="970842" y="513050"/>
                      <a:pt x="829167" y="513050"/>
                    </a:cubicBezTo>
                    <a:lnTo>
                      <a:pt x="256525" y="513049"/>
                    </a:lnTo>
                    <a:lnTo>
                      <a:pt x="250287" y="513049"/>
                    </a:lnTo>
                    <a:cubicBezTo>
                      <a:pt x="144031" y="513049"/>
                      <a:pt x="52864" y="577652"/>
                      <a:pt x="13921" y="669723"/>
                    </a:cubicBezTo>
                    <a:lnTo>
                      <a:pt x="0" y="714569"/>
                    </a:lnTo>
                    <a:cubicBezTo>
                      <a:pt x="1587" y="570619"/>
                      <a:pt x="3175" y="426669"/>
                      <a:pt x="4762" y="282719"/>
                    </a:cubicBezTo>
                    <a:cubicBezTo>
                      <a:pt x="11482" y="249435"/>
                      <a:pt x="-3230" y="218533"/>
                      <a:pt x="20159" y="156674"/>
                    </a:cubicBezTo>
                    <a:cubicBezTo>
                      <a:pt x="59102" y="64603"/>
                      <a:pt x="150269" y="0"/>
                      <a:pt x="256525" y="0"/>
                    </a:cubicBezTo>
                    <a:close/>
                  </a:path>
                </a:pathLst>
              </a:custGeom>
              <a:gradFill flip="none" rotWithShape="1">
                <a:gsLst>
                  <a:gs pos="0">
                    <a:schemeClr val="accent3">
                      <a:lumMod val="60000"/>
                      <a:lumOff val="40000"/>
                    </a:schemeClr>
                  </a:gs>
                  <a:gs pos="75000">
                    <a:schemeClr val="accent3"/>
                  </a:gs>
                </a:gsLst>
                <a:lin ang="2700000" scaled="1"/>
                <a:tileRect/>
              </a:gradFill>
              <a:ln w="12700">
                <a:no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216000" rtlCol="0" anchor="ctr" anchorCtr="0">
                <a:normAutofit/>
              </a:bodyPr>
              <a:lstStyle/>
              <a:p>
                <a:pPr algn="ctr"/>
                <a:r>
                  <a:rPr lang="en-US" sz="2800" b="1" i="0" u="none">
                    <a:solidFill>
                      <a:srgbClr val="FFFFFF"/>
                    </a:solidFill>
                    <a:latin typeface="Arial" panose="020B0604020202020204"/>
                  </a:rPr>
                  <a:t>03</a:t>
                </a:r>
                <a:endParaRPr lang="en-US" sz="2800" b="1" i="0" u="none">
                  <a:solidFill>
                    <a:srgbClr val="FFFFFF"/>
                  </a:solidFill>
                  <a:latin typeface="Arial" panose="020B0604020202020204"/>
                </a:endParaRPr>
              </a:p>
            </p:txBody>
          </p:sp>
        </p:grpSp>
      </p:grpSp>
      <p:sp>
        <p:nvSpPr>
          <p:cNvPr id="6" name="标题 5" descr="e8c23d9a-d493-4fd1-a109-f0200b8656d8"/>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后续功能</a:t>
            </a:r>
            <a:endParaRPr lang="en-US" sz="2800" b="1" i="0" u="none">
              <a:solidFill>
                <a:srgbClr val="000000"/>
              </a:solidFill>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descr="a20e623d-215b-4f98-a74b-0dee30caa7f0"/>
          <p:cNvSpPr>
            <a:spLocks noGrp="1"/>
          </p:cNvSpPr>
          <p:nvPr>
            <p:ph type="title" hasCustomPrompt="1"/>
          </p:nvPr>
        </p:nvSpPr>
        <p:spPr/>
        <p:txBody>
          <a:bodyPr anchorCtr="0">
            <a:normAutofit fontScale="90000"/>
          </a:bodyPr>
          <a:lstStyle/>
          <a:p>
            <a:pPr algn="ctr">
              <a:lnSpc>
                <a:spcPct val="100000"/>
              </a:lnSpc>
              <a:spcBef>
                <a:spcPct val="0"/>
              </a:spcBef>
            </a:pPr>
            <a:r>
              <a:rPr lang="zh-CN" altLang="en-US" sz="6000" b="1" i="0" u="none">
                <a:solidFill>
                  <a:srgbClr val="000000"/>
                </a:solidFill>
                <a:ea typeface="微软雅黑" panose="020B0503020204020204" charset="-122"/>
              </a:rPr>
              <a:t>敬请评委老师</a:t>
            </a:r>
            <a:r>
              <a:rPr lang="zh-CN" altLang="en-US" sz="6000" b="1" i="0" u="none">
                <a:solidFill>
                  <a:srgbClr val="000000"/>
                </a:solidFill>
                <a:ea typeface="微软雅黑" panose="020B0503020204020204" charset="-122"/>
              </a:rPr>
              <a:t>评价指导</a:t>
            </a:r>
            <a:endParaRPr lang="zh-CN" altLang="en-US" sz="6000" b="1" i="0" u="none">
              <a:solidFill>
                <a:srgbClr val="000000"/>
              </a:solidFill>
              <a:ea typeface="微软雅黑" panose="020B0503020204020204" charset="-122"/>
            </a:endParaRPr>
          </a:p>
        </p:txBody>
      </p:sp>
      <p:sp>
        <p:nvSpPr>
          <p:cNvPr id="2" name="TextBox 2"/>
          <p:cNvSpPr txBox="1"/>
          <p:nvPr/>
        </p:nvSpPr>
        <p:spPr>
          <a:xfrm>
            <a:off x="12115800" y="6781800"/>
            <a:ext cx="76200" cy="76200"/>
          </a:xfrm>
          <a:prstGeom prst="roundRect">
            <a:avLst/>
          </a:prstGeom>
          <a:solidFill>
            <a:srgbClr val="FFFFFF"/>
          </a:solidFill>
        </p:spPr>
        <p:txBody>
          <a:bodyPr wrap="none" rtlCol="0" anchor="ctr"/>
          <a:lstStyle/>
          <a:p>
            <a:pPr algn="ctr">
              <a:defRPr/>
            </a:pPr>
            <a:endParaRPr lang="zh-CN"/>
          </a:p>
        </p:txBody>
      </p:sp>
    </p:spTree>
  </p:cSld>
  <p:clrMapOvr>
    <a:masterClrMapping/>
  </p:clrMapOvr>
</p:sld>
</file>

<file path=ppt/tags/tag1.xml><?xml version="1.0" encoding="utf-8"?>
<p:tagLst xmlns:p="http://schemas.openxmlformats.org/presentationml/2006/main">
  <p:tag name="KSO_WM_DIAGRAM_VIRTUALLY_FRAME" val="{&quot;height&quot;:393.99992125984255,&quot;left&quot;:52,&quot;top&quot;:89.00007874015748,&quot;width&quot;:859.7066929133858}"/>
</p:tagLst>
</file>

<file path=ppt/tags/tag2.xml><?xml version="1.0" encoding="utf-8"?>
<p:tagLst xmlns:p="http://schemas.openxmlformats.org/presentationml/2006/main">
  <p:tag name="KSO_WM_DIAGRAM_VIRTUALLY_FRAME" val="{&quot;height&quot;:393.99992125984255,&quot;left&quot;:52,&quot;top&quot;:89.00007874015748,&quot;width&quot;:859.7066929133858}"/>
</p:tagLst>
</file>

<file path=ppt/tags/tag3.xml><?xml version="1.0" encoding="utf-8"?>
<p:tagLst xmlns:p="http://schemas.openxmlformats.org/presentationml/2006/main">
  <p:tag name="KSO_WM_DIAGRAM_VIRTUALLY_FRAME" val="{&quot;height&quot;:393.99992125984255,&quot;left&quot;:52,&quot;top&quot;:89.00007874015748,&quot;width&quot;:859.7066929133858}"/>
</p:tagLst>
</file>

<file path=ppt/tags/tag4.xml><?xml version="1.0" encoding="utf-8"?>
<p:tagLst xmlns:p="http://schemas.openxmlformats.org/presentationml/2006/main">
  <p:tag name="KSO_WM_DIAGRAM_VIRTUALLY_FRAME" val="{&quot;height&quot;:393.99992125984255,&quot;left&quot;:52,&quot;top&quot;:89.00007874015748,&quot;width&quot;:859.7066929133858}"/>
</p:tagLst>
</file>

<file path=ppt/tags/tag5.xml><?xml version="1.0" encoding="utf-8"?>
<p:tagLst xmlns:p="http://schemas.openxmlformats.org/presentationml/2006/main">
  <p:tag name="KSO_WM_DIAGRAM_VIRTUALLY_FRAME" val="{&quot;height&quot;:393.99992125984255,&quot;left&quot;:52,&quot;top&quot;:89.00007874015748,&quot;width&quot;:859.7066929133858}"/>
</p:tagLst>
</file>

<file path=ppt/tags/tag6.xml><?xml version="1.0" encoding="utf-8"?>
<p:tagLst xmlns:p="http://schemas.openxmlformats.org/presentationml/2006/main">
  <p:tag name="KSO_WM_DIAGRAM_VIRTUALLY_FRAME" val="{&quot;height&quot;:393.99992125984255,&quot;left&quot;:52,&quot;top&quot;:89.00007874015748,&quot;width&quot;:859.7066929133858}"/>
</p:tagLst>
</file>

<file path=ppt/tags/tag7.xml><?xml version="1.0" encoding="utf-8"?>
<p:tagLst xmlns:p="http://schemas.openxmlformats.org/presentationml/2006/main">
  <p:tag name="KSO_WM_DIAGRAM_VIRTUALLY_FRAME" val="{&quot;height&quot;:393.99992125984255,&quot;left&quot;:52,&quot;top&quot;:89.00007874015748,&quot;width&quot;:859.7066929133858}"/>
</p:tagLst>
</file>

<file path=ppt/tags/tag8.xml><?xml version="1.0" encoding="utf-8"?>
<p:tagLst xmlns:p="http://schemas.openxmlformats.org/presentationml/2006/main">
  <p:tag name="KSO_WM_DIAGRAM_VIRTUALLY_FRAME" val="{&quot;height&quot;:393.99992125984255,&quot;left&quot;:52,&quot;top&quot;:89.00007874015748,&quot;width&quot;:859.7066929133858}"/>
</p:tagLst>
</file>

<file path=ppt/tags/tag9.xml><?xml version="1.0" encoding="utf-8"?>
<p:tagLst xmlns:p="http://schemas.openxmlformats.org/presentationml/2006/main">
  <p:tag name="KSO_WM_DIAGRAM_VIRTUALLY_FRAME" val="{&quot;height&quot;:393.99992125984255,&quot;left&quot;:52,&quot;top&quot;:89.00007874015748,&quot;width&quot;:859.7066929133858}"/>
</p:tagLst>
</file>

<file path=ppt/tags/tag10.xml><?xml version="1.0" encoding="utf-8"?>
<p:tagLst xmlns:p="http://schemas.openxmlformats.org/presentationml/2006/main">
  <p:tag name="KSO_WM_DIAGRAM_VIRTUALLY_FRAME" val="{&quot;height&quot;:393.99992125984255,&quot;left&quot;:52,&quot;top&quot;:89.00007874015748,&quot;width&quot;:859.7066929133858}"/>
</p:tagLst>
</file>

<file path=ppt/tags/tag11.xml><?xml version="1.0" encoding="utf-8"?>
<p:tagLst xmlns:p="http://schemas.openxmlformats.org/presentationml/2006/main">
  <p:tag name="KSO_WM_DIAGRAM_VIRTUALLY_FRAME" val="{&quot;height&quot;:393.99992125984255,&quot;left&quot;:52,&quot;top&quot;:89.00007874015748,&quot;width&quot;:859.7066929133858}"/>
</p:tagLst>
</file>

<file path=ppt/tags/tag12.xml><?xml version="1.0" encoding="utf-8"?>
<p:tagLst xmlns:p="http://schemas.openxmlformats.org/presentationml/2006/main">
  <p:tag name="KSO_WM_DIAGRAM_VIRTUALLY_FRAME" val="{&quot;height&quot;:393.99992125984255,&quot;left&quot;:52,&quot;top&quot;:89.00007874015748,&quot;width&quot;:859.7066929133858}"/>
</p:tagLst>
</file>

<file path=ppt/tags/tag13.xml><?xml version="1.0" encoding="utf-8"?>
<p:tagLst xmlns:p="http://schemas.openxmlformats.org/presentationml/2006/main">
  <p:tag name="KSO_WM_DIAGRAM_VIRTUALLY_FRAME" val="{&quot;height&quot;:393.99992125984255,&quot;left&quot;:52,&quot;top&quot;:89.00007874015748,&quot;width&quot;:859.7066929133858}"/>
</p:tagLst>
</file>

<file path=ppt/tags/tag14.xml><?xml version="1.0" encoding="utf-8"?>
<p:tagLst xmlns:p="http://schemas.openxmlformats.org/presentationml/2006/main">
  <p:tag name="KSO_WM_DIAGRAM_VIRTUALLY_FRAME" val="{&quot;height&quot;:393.99992125984255,&quot;left&quot;:52,&quot;top&quot;:89.00007874015748,&quot;width&quot;:859.7066929133858}"/>
</p:tagLst>
</file>

<file path=ppt/tags/tag15.xml><?xml version="1.0" encoding="utf-8"?>
<p:tagLst xmlns:p="http://schemas.openxmlformats.org/presentationml/2006/main">
  <p:tag name="KSO_WM_DIAGRAM_VIRTUALLY_FRAME" val="{&quot;height&quot;:393.99992125984255,&quot;left&quot;:52,&quot;top&quot;:89.00007874015748,&quot;width&quot;:859.7066929133858}"/>
</p:tagLst>
</file>

<file path=ppt/tags/tag16.xml><?xml version="1.0" encoding="utf-8"?>
<p:tagLst xmlns:p="http://schemas.openxmlformats.org/presentationml/2006/main">
  <p:tag name="KSO_WM_DIAGRAM_VIRTUALLY_FRAME" val="{&quot;height&quot;:394,&quot;left&quot;:51.999921259842516,&quot;top&quot;:89,&quot;width&quot;:855.0000787401575}"/>
</p:tagLst>
</file>

<file path=ppt/tags/tag17.xml><?xml version="1.0" encoding="utf-8"?>
<p:tagLst xmlns:p="http://schemas.openxmlformats.org/presentationml/2006/main">
  <p:tag name="KSO_WM_DIAGRAM_VIRTUALLY_FRAME" val="{&quot;height&quot;:394,&quot;left&quot;:51.999921259842516,&quot;top&quot;:89,&quot;width&quot;:855.0000787401575}"/>
</p:tagLst>
</file>

<file path=ppt/tags/tag18.xml><?xml version="1.0" encoding="utf-8"?>
<p:tagLst xmlns:p="http://schemas.openxmlformats.org/presentationml/2006/main">
  <p:tag name="KSO_WM_DIAGRAM_VIRTUALLY_FRAME" val="{&quot;height&quot;:394,&quot;left&quot;:51.999921259842516,&quot;top&quot;:89,&quot;width&quot;:855.0000787401575}"/>
</p:tagLst>
</file>

<file path=ppt/tags/tag19.xml><?xml version="1.0" encoding="utf-8"?>
<p:tagLst xmlns:p="http://schemas.openxmlformats.org/presentationml/2006/main">
  <p:tag name="KSO_WM_DIAGRAM_VIRTUALLY_FRAME" val="{&quot;height&quot;:394,&quot;left&quot;:51.999921259842516,&quot;top&quot;:89,&quot;width&quot;:855.0000787401575}"/>
</p:tagLst>
</file>

<file path=ppt/tags/tag20.xml><?xml version="1.0" encoding="utf-8"?>
<p:tagLst xmlns:p="http://schemas.openxmlformats.org/presentationml/2006/main">
  <p:tag name="KSO_WM_DIAGRAM_VIRTUALLY_FRAME" val="{&quot;height&quot;:394,&quot;left&quot;:51.999921259842516,&quot;top&quot;:89,&quot;width&quot;:855.0000787401575}"/>
</p:tagLst>
</file>

<file path=ppt/tags/tag21.xml><?xml version="1.0" encoding="utf-8"?>
<p:tagLst xmlns:p="http://schemas.openxmlformats.org/presentationml/2006/main">
  <p:tag name="KSO_WM_DIAGRAM_VIRTUALLY_FRAME" val="{&quot;height&quot;:394,&quot;left&quot;:51.999921259842516,&quot;top&quot;:89,&quot;width&quot;:855.0000787401575}"/>
</p:tagLst>
</file>

<file path=ppt/tags/tag22.xml><?xml version="1.0" encoding="utf-8"?>
<p:tagLst xmlns:p="http://schemas.openxmlformats.org/presentationml/2006/main">
  <p:tag name="KSO_WM_DIAGRAM_VIRTUALLY_FRAME" val="{&quot;height&quot;:394,&quot;left&quot;:51.999921259842516,&quot;top&quot;:89,&quot;width&quot;:855.0000787401575}"/>
</p:tagLst>
</file>

<file path=ppt/tags/tag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custom20231183_1*h_f*1_1"/>
  <p:tag name="KSO_WM_TEMPLATE_CATEGORY" val="custom"/>
  <p:tag name="KSO_WM_TEMPLATE_INDEX" val="20231183"/>
  <p:tag name="KSO_WM_UNIT_LAYERLEVEL" val="1_1"/>
  <p:tag name="KSO_WM_TAG_VERSION" val="3.0"/>
  <p:tag name="KSO_WM_BEAUTIFY_FLAG" val="#wm#"/>
  <p:tag name="KSO_WM_UNIT_TEXT_FILL_FORE_SCHEMECOLOR_INDEX_BRIGHTNESS" val="0.35"/>
  <p:tag name="KSO_WM_UNIT_TEXT_FILL_FORE_SCHEMECOLOR_INDEX" val="13"/>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4.xml><?xml version="1.0" encoding="utf-8"?>
<p:tagLst xmlns:p="http://schemas.openxmlformats.org/presentationml/2006/main">
  <p:tag name="KSO_WM_DIAGRAM_VIRTUALLY_FRAME" val="{&quot;height&quot;:423.32645669291344,&quot;left&quot;:51.95,&quot;top&quot;:116.27354330708661,&quot;width&quot;:878.35}"/>
</p:tagLst>
</file>

<file path=ppt/tags/tag25.xml><?xml version="1.0" encoding="utf-8"?>
<p:tagLst xmlns:p="http://schemas.openxmlformats.org/presentationml/2006/main">
  <p:tag name="KSO_WM_DIAGRAM_VIRTUALLY_FRAME" val="{&quot;height&quot;:423.32645669291344,&quot;left&quot;:51.95,&quot;top&quot;:116.27354330708661,&quot;width&quot;:878.35}"/>
</p:tagLst>
</file>

<file path=ppt/tags/tag26.xml><?xml version="1.0" encoding="utf-8"?>
<p:tagLst xmlns:p="http://schemas.openxmlformats.org/presentationml/2006/main">
  <p:tag name="KSO_WM_DIAGRAM_VIRTUALLY_FRAME" val="{&quot;height&quot;:423.32645669291344,&quot;left&quot;:51.95,&quot;top&quot;:116.27354330708661,&quot;width&quot;:878.35}"/>
</p:tagLst>
</file>

<file path=ppt/tags/tag27.xml><?xml version="1.0" encoding="utf-8"?>
<p:tagLst xmlns:p="http://schemas.openxmlformats.org/presentationml/2006/main">
  <p:tag name="KSO_WM_DIAGRAM_VIRTUALLY_FRAME" val="{&quot;height&quot;:423.32645669291344,&quot;left&quot;:51.95,&quot;top&quot;:116.27354330708661,&quot;width&quot;:878.35}"/>
</p:tagLst>
</file>

<file path=ppt/tags/tag28.xml><?xml version="1.0" encoding="utf-8"?>
<p:tagLst xmlns:p="http://schemas.openxmlformats.org/presentationml/2006/main">
  <p:tag name="KSO_WM_DIAGRAM_VIRTUALLY_FRAME" val="{&quot;height&quot;:423.32645669291344,&quot;left&quot;:51.95,&quot;top&quot;:116.27354330708661,&quot;width&quot;:878.35}"/>
</p:tagLst>
</file>

<file path=ppt/tags/tag29.xml><?xml version="1.0" encoding="utf-8"?>
<p:tagLst xmlns:p="http://schemas.openxmlformats.org/presentationml/2006/main">
  <p:tag name="KSO_WM_DIAGRAM_VIRTUALLY_FRAME" val="{&quot;height&quot;:423.32645669291344,&quot;left&quot;:51.95,&quot;top&quot;:116.27354330708661,&quot;width&quot;:878.35}"/>
</p:tagLst>
</file>

<file path=ppt/tags/tag30.xml><?xml version="1.0" encoding="utf-8"?>
<p:tagLst xmlns:p="http://schemas.openxmlformats.org/presentationml/2006/main">
  <p:tag name="KSO_WM_DIAGRAM_VIRTUALLY_FRAME" val="{&quot;height&quot;:423.32645669291344,&quot;left&quot;:51.95,&quot;top&quot;:116.27354330708661,&quot;width&quot;:878.35}"/>
</p:tagLst>
</file>

<file path=ppt/tags/tag31.xml><?xml version="1.0" encoding="utf-8"?>
<p:tagLst xmlns:p="http://schemas.openxmlformats.org/presentationml/2006/main">
  <p:tag name="KSO_WM_DIAGRAM_VIRTUALLY_FRAME" val="{&quot;height&quot;:423.32645669291344,&quot;left&quot;:51.95,&quot;top&quot;:116.27354330708661,&quot;width&quot;:878.35}"/>
</p:tagLst>
</file>

<file path=ppt/tags/tag32.xml><?xml version="1.0" encoding="utf-8"?>
<p:tagLst xmlns:p="http://schemas.openxmlformats.org/presentationml/2006/main">
  <p:tag name="KSO_WM_DIAGRAM_VIRTUALLY_FRAME" val="{&quot;height&quot;:423.32645669291344,&quot;left&quot;:51.95,&quot;top&quot;:116.27354330708661,&quot;width&quot;:878.35}"/>
</p:tagLst>
</file>

<file path=ppt/tags/tag33.xml><?xml version="1.0" encoding="utf-8"?>
<p:tagLst xmlns:p="http://schemas.openxmlformats.org/presentationml/2006/main">
  <p:tag name="KSO_WM_DIAGRAM_VIRTUALLY_FRAME" val="{&quot;height&quot;:423.32645669291344,&quot;left&quot;:51.95,&quot;top&quot;:116.27354330708661,&quot;width&quot;:878.35}"/>
</p:tagLst>
</file>

<file path=ppt/tags/tag34.xml><?xml version="1.0" encoding="utf-8"?>
<p:tagLst xmlns:p="http://schemas.openxmlformats.org/presentationml/2006/main">
  <p:tag name="KSO_WM_DIAGRAM_VIRTUALLY_FRAME" val="{&quot;height&quot;:423.32645669291344,&quot;left&quot;:51.95,&quot;top&quot;:116.27354330708661,&quot;width&quot;:878.35}"/>
</p:tagLst>
</file>

<file path=ppt/tags/tag35.xml><?xml version="1.0" encoding="utf-8"?>
<p:tagLst xmlns:p="http://schemas.openxmlformats.org/presentationml/2006/main">
  <p:tag name="KSO_WM_DIAGRAM_VIRTUALLY_FRAME" val="{&quot;height&quot;:423.32645669291344,&quot;left&quot;:51.95,&quot;top&quot;:116.27354330708661,&quot;width&quot;:878.35}"/>
</p:tagLst>
</file>

<file path=ppt/tags/tag36.xml><?xml version="1.0" encoding="utf-8"?>
<p:tagLst xmlns:p="http://schemas.openxmlformats.org/presentationml/2006/main">
  <p:tag name="KSO_WM_DIAGRAM_VIRTUALLY_FRAME" val="{&quot;height&quot;:423.32645669291344,&quot;left&quot;:51.95,&quot;top&quot;:116.27354330708661,&quot;width&quot;:878.35}"/>
</p:tagLst>
</file>

<file path=ppt/tags/tag37.xml><?xml version="1.0" encoding="utf-8"?>
<p:tagLst xmlns:p="http://schemas.openxmlformats.org/presentationml/2006/main">
  <p:tag name="KSO_WM_DIAGRAM_VIRTUALLY_FRAME" val="{&quot;height&quot;:423.32645669291344,&quot;left&quot;:51.95,&quot;top&quot;:116.27354330708661,&quot;width&quot;:878.35}"/>
</p:tagLst>
</file>

<file path=ppt/tags/tag38.xml><?xml version="1.0" encoding="utf-8"?>
<p:tagLst xmlns:p="http://schemas.openxmlformats.org/presentationml/2006/main">
  <p:tag name="KSO_WM_DIAGRAM_VIRTUALLY_FRAME" val="{&quot;height&quot;:596.7253543307087,&quot;left&quot;:352.4776377952756,&quot;top&quot;:82.36236220472438,&quot;width&quot;:599.6223622047244}"/>
</p:tagLst>
</file>

<file path=ppt/tags/tag39.xml><?xml version="1.0" encoding="utf-8"?>
<p:tagLst xmlns:p="http://schemas.openxmlformats.org/presentationml/2006/main">
  <p:tag name="KSO_WM_DIAGRAM_VIRTUALLY_FRAME" val="{&quot;height&quot;:596.7253543307087,&quot;left&quot;:352.4776377952756,&quot;top&quot;:82.36236220472438,&quot;width&quot;:599.6223622047244}"/>
</p:tagLst>
</file>

<file path=ppt/tags/tag40.xml><?xml version="1.0" encoding="utf-8"?>
<p:tagLst xmlns:p="http://schemas.openxmlformats.org/presentationml/2006/main">
  <p:tag name="KSO_WM_DIAGRAM_VIRTUALLY_FRAME" val="{&quot;height&quot;:393.1261417322834,&quot;left&quot;:52,&quot;top&quot;:89.87377952755905,&quot;width&quot;:855}"/>
</p:tagLst>
</file>

<file path=ppt/tags/tag41.xml><?xml version="1.0" encoding="utf-8"?>
<p:tagLst xmlns:p="http://schemas.openxmlformats.org/presentationml/2006/main">
  <p:tag name="KSO_WM_DIAGRAM_VIRTUALLY_FRAME" val="{&quot;height&quot;:393.1261417322834,&quot;left&quot;:52,&quot;top&quot;:89.87377952755905,&quot;width&quot;:855}"/>
</p:tagLst>
</file>

<file path=ppt/tags/tag42.xml><?xml version="1.0" encoding="utf-8"?>
<p:tagLst xmlns:p="http://schemas.openxmlformats.org/presentationml/2006/main">
  <p:tag name="KSO_WM_DIAGRAM_VIRTUALLY_FRAME" val="{&quot;height&quot;:393.1261417322834,&quot;left&quot;:52,&quot;top&quot;:89.87377952755905,&quot;width&quot;:855}"/>
</p:tagLst>
</file>

<file path=ppt/tags/tag43.xml><?xml version="1.0" encoding="utf-8"?>
<p:tagLst xmlns:p="http://schemas.openxmlformats.org/presentationml/2006/main">
  <p:tag name="KSO_WM_DIAGRAM_VIRTUALLY_FRAME" val="{&quot;height&quot;:393.1261417322834,&quot;left&quot;:52,&quot;top&quot;:89.87377952755905,&quot;width&quot;:855}"/>
</p:tagLst>
</file>

<file path=ppt/tags/tag44.xml><?xml version="1.0" encoding="utf-8"?>
<p:tagLst xmlns:p="http://schemas.openxmlformats.org/presentationml/2006/main">
  <p:tag name="KSO_WM_DIAGRAM_VIRTUALLY_FRAME" val="{&quot;height&quot;:393.1261417322834,&quot;left&quot;:52,&quot;top&quot;:89.87377952755905,&quot;width&quot;:855}"/>
</p:tagLst>
</file>

<file path=ppt/tags/tag45.xml><?xml version="1.0" encoding="utf-8"?>
<p:tagLst xmlns:p="http://schemas.openxmlformats.org/presentationml/2006/main">
  <p:tag name="KSO_WM_DIAGRAM_VIRTUALLY_FRAME" val="{&quot;height&quot;:393.1261417322834,&quot;left&quot;:52,&quot;top&quot;:89.87377952755905,&quot;width&quot;:855}"/>
</p:tagLst>
</file>

<file path=ppt/tags/tag46.xml><?xml version="1.0" encoding="utf-8"?>
<p:tagLst xmlns:p="http://schemas.openxmlformats.org/presentationml/2006/main">
  <p:tag name="KSO_WM_DIAGRAM_VIRTUALLY_FRAME" val="{&quot;height&quot;:393.1261417322834,&quot;left&quot;:52,&quot;top&quot;:89.87377952755905,&quot;width&quot;:855}"/>
</p:tagLst>
</file>

<file path=ppt/tags/tag47.xml><?xml version="1.0" encoding="utf-8"?>
<p:tagLst xmlns:p="http://schemas.openxmlformats.org/presentationml/2006/main">
  <p:tag name="KSO_WM_DIAGRAM_VIRTUALLY_FRAME" val="{&quot;height&quot;:393.1261417322834,&quot;left&quot;:52,&quot;top&quot;:89.87377952755905,&quot;width&quot;:855}"/>
</p:tagLst>
</file>

<file path=ppt/tags/tag48.xml><?xml version="1.0" encoding="utf-8"?>
<p:tagLst xmlns:p="http://schemas.openxmlformats.org/presentationml/2006/main">
  <p:tag name="KSO_WM_DIAGRAM_VIRTUALLY_FRAME" val="{&quot;height&quot;:393.1261417322834,&quot;left&quot;:52,&quot;top&quot;:89.87377952755905,&quot;width&quot;:855}"/>
</p:tagLst>
</file>

<file path=ppt/tags/tag49.xml><?xml version="1.0" encoding="utf-8"?>
<p:tagLst xmlns:p="http://schemas.openxmlformats.org/presentationml/2006/main">
  <p:tag name="KSO_WM_DIAGRAM_VIRTUALLY_FRAME" val="{&quot;height&quot;:393.1261417322834,&quot;left&quot;:52,&quot;top&quot;:89.87377952755905,&quot;width&quot;:855}"/>
</p:tagLst>
</file>

<file path=ppt/tags/tag50.xml><?xml version="1.0" encoding="utf-8"?>
<p:tagLst xmlns:p="http://schemas.openxmlformats.org/presentationml/2006/main">
  <p:tag name="KSO_WM_DIAGRAM_VIRTUALLY_FRAME" val="{&quot;height&quot;:515.9121259842519,&quot;left&quot;:100.12086614173226,&quot;top&quot;:20.505905511811033,&quot;width&quot;:859.8791338582678}"/>
</p:tagLst>
</file>

<file path=ppt/tags/tag51.xml><?xml version="1.0" encoding="utf-8"?>
<p:tagLst xmlns:p="http://schemas.openxmlformats.org/presentationml/2006/main">
  <p:tag name="KSO_WM_DIAGRAM_VIRTUALLY_FRAME" val="{&quot;height&quot;:515.9121259842519,&quot;left&quot;:100.12086614173226,&quot;top&quot;:20.505905511811033,&quot;width&quot;:859.8791338582678}"/>
</p:tagLst>
</file>

<file path=ppt/tags/tag52.xml><?xml version="1.0" encoding="utf-8"?>
<p:tagLst xmlns:p="http://schemas.openxmlformats.org/presentationml/2006/main">
  <p:tag name="KSO_WM_DIAGRAM_VIRTUALLY_FRAME" val="{&quot;height&quot;:515.9121259842519,&quot;left&quot;:100.12086614173226,&quot;top&quot;:20.505905511811033,&quot;width&quot;:859.8791338582678}"/>
</p:tagLst>
</file>

<file path=ppt/theme/theme1.xml><?xml version="1.0" encoding="utf-8"?>
<a:theme xmlns:a="http://schemas.openxmlformats.org/drawingml/2006/main" name="Designed by iSlide">
  <a:themeElements>
    <a:clrScheme name="iSlide">
      <a:dk1>
        <a:srgbClr val="000000"/>
      </a:dk1>
      <a:lt1>
        <a:srgbClr val="FFFFFF"/>
      </a:lt1>
      <a:dk2>
        <a:srgbClr val="778495"/>
      </a:dk2>
      <a:lt2>
        <a:srgbClr val="F0F0F0"/>
      </a:lt2>
      <a:accent1>
        <a:srgbClr val="BF5CBF"/>
      </a:accent1>
      <a:accent2>
        <a:srgbClr val="2773FC"/>
      </a:accent2>
      <a:accent3>
        <a:srgbClr val="0053E7"/>
      </a:accent3>
      <a:accent4>
        <a:srgbClr val="5085FD"/>
      </a:accent4>
      <a:accent5>
        <a:srgbClr val="0053C7"/>
      </a:accent5>
      <a:accent6>
        <a:srgbClr val="6EADFF"/>
      </a:accent6>
      <a:hlink>
        <a:srgbClr val="4472C4"/>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 Presentation Template</Template>
  <TotalTime>0</TotalTime>
  <Words>2891</Words>
  <Application>WPS 演示</Application>
  <PresentationFormat>宽屏</PresentationFormat>
  <Paragraphs>236</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宋体</vt:lpstr>
      <vt:lpstr>Wingdings</vt:lpstr>
      <vt:lpstr>微软雅黑</vt:lpstr>
      <vt:lpstr>Arial</vt:lpstr>
      <vt:lpstr>华文中宋</vt:lpstr>
      <vt:lpstr>华文仿宋</vt:lpstr>
      <vt:lpstr>Source Han Sans CN Bold</vt:lpstr>
      <vt:lpstr>Source Han Sans</vt:lpstr>
      <vt:lpstr>Arial Unicode MS</vt:lpstr>
      <vt:lpstr>Calibri</vt:lpstr>
      <vt:lpstr>Designed by iSlide</vt:lpstr>
      <vt:lpstr>护花使者 — 基于 STM32 智能婴儿车</vt:lpstr>
      <vt:lpstr>目录</vt:lpstr>
      <vt:lpstr>项目背景及意义</vt:lpstr>
      <vt:lpstr>项目背景与设计初衷</vt:lpstr>
      <vt:lpstr>项目意义与价值</vt:lpstr>
      <vt:lpstr>项目目标与应用市场</vt:lpstr>
      <vt:lpstr>方案总体设计</vt:lpstr>
      <vt:lpstr>系统总体设计</vt:lpstr>
      <vt:lpstr>STM32F103C8T6单片机</vt:lpstr>
      <vt:lpstr>硬件模块</vt:lpstr>
      <vt:lpstr>STM32F103C8T6单片机</vt:lpstr>
      <vt:lpstr>系统工作流程概述</vt:lpstr>
      <vt:lpstr>各模块的连接与通信</vt:lpstr>
      <vt:lpstr>软件模块</vt:lpstr>
      <vt:lpstr>PowerPoint 演示文稿</vt:lpstr>
      <vt:lpstr>创新点与未来改进方向</vt:lpstr>
      <vt:lpstr>创新点</vt:lpstr>
      <vt:lpstr>后续功能</vt:lpstr>
      <vt:lpstr>敬请评委老师评价指导</vt:lpstr>
    </vt:vector>
  </TitlesOfParts>
  <Company>iSlide</Company>
  <LinksUpToDate>false</LinksUpToDate>
  <SharedDoc>false</SharedDoc>
  <HyperlinksChanged>false</HyperlinksChanged>
  <AppVersion>14.0000</AppVersion>
  <Manager>iSlide</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iSlide</dc:creator>
  <cp:lastModifiedBy>似流年</cp:lastModifiedBy>
  <cp:revision>12</cp:revision>
  <cp:lastPrinted>2025-06-19T16:00:00Z</cp:lastPrinted>
  <dcterms:created xsi:type="dcterms:W3CDTF">2025-06-19T16:00:00Z</dcterms:created>
  <dcterms:modified xsi:type="dcterms:W3CDTF">2025-12-04T12:46:58Z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3ee63b67-c5b8-4888-b23f-35212b2ad4f1</vt:lpwstr>
  </property>
  <property fmtid="{D5CDD505-2E9C-101B-9397-08002B2CF9AE}" pid="3" name="ICV">
    <vt:lpwstr>9B80A3957AB94E948A0992F89DC7F2BF_13</vt:lpwstr>
  </property>
  <property fmtid="{D5CDD505-2E9C-101B-9397-08002B2CF9AE}" pid="4" name="KSOProductBuildVer">
    <vt:lpwstr>2052-11.1.0.10009</vt:lpwstr>
  </property>
</Properties>
</file>